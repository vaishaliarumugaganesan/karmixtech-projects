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Calibri"/>
              </a:rPr>
              <a:t>Monthly fraud rate (% of transactions)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(%)</c:v>
                </c:pt>
              </c:strCache>
            </c:strRef>
          </c:tx>
          <c:spPr>
            <a:solidFill>
              <a:srgbClr val="D7263D"/>
            </a:solidFill>
            <a:ln w="38100" cap="flat">
              <a:solidFill>
                <a:srgbClr val="D7263D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7263D"/>
              </a:solidFill>
              <a:ln w="9525" cap="flat">
                <a:solidFill>
                  <a:srgbClr val="D726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1.2</c:v>
                </c:pt>
                <c:pt idx="1">
                  <c:v>1.3</c:v>
                </c:pt>
                <c:pt idx="2">
                  <c:v>1.4</c:v>
                </c:pt>
                <c:pt idx="3">
                  <c:v>1.3</c:v>
                </c:pt>
                <c:pt idx="4">
                  <c:v>1.6</c:v>
                </c:pt>
                <c:pt idx="5">
                  <c:v>1.7</c:v>
                </c:pt>
                <c:pt idx="6">
                  <c:v>1.9</c:v>
                </c:pt>
                <c:pt idx="7">
                  <c:v>2</c:v>
                </c:pt>
                <c:pt idx="8">
                  <c:v>2.2</c:v>
                </c:pt>
                <c:pt idx="9">
                  <c:v>2.3</c:v>
                </c:pt>
                <c:pt idx="10">
                  <c:v>2.6</c:v>
                </c:pt>
                <c:pt idx="11">
                  <c:v>2.4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Calibri"/>
              </a:rPr>
              <a:t>Fraud rate by time of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</c:v>
                </c:pt>
              </c:strCache>
            </c:strRef>
          </c:tx>
          <c:spPr>
            <a:solidFill>
              <a:srgbClr val="D726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726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00–04h</c:v>
                  </c:pt>
                  <c:pt idx="1">
                    <c:v>04–08h</c:v>
                  </c:pt>
                  <c:pt idx="2">
                    <c:v>08–12h</c:v>
                  </c:pt>
                  <c:pt idx="3">
                    <c:v>12–16h</c:v>
                  </c:pt>
                  <c:pt idx="4">
                    <c:v>16–20h</c:v>
                  </c:pt>
                  <c:pt idx="5">
                    <c:v>20–24h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4.8</c:v>
                </c:pt>
                <c:pt idx="1">
                  <c:v>2.9</c:v>
                </c:pt>
                <c:pt idx="2">
                  <c:v>1.1</c:v>
                </c:pt>
                <c:pt idx="3">
                  <c:v>1</c:v>
                </c:pt>
                <c:pt idx="4">
                  <c:v>1.4</c:v>
                </c:pt>
                <c:pt idx="5">
                  <c:v>2.6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Calibri"/>
              </a:rPr>
              <a:t>Fraud rate by channel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</c:v>
                </c:pt>
              </c:strCache>
            </c:strRef>
          </c:tx>
          <c:spPr>
            <a:solidFill>
              <a:srgbClr val="D726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726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Online</c:v>
                  </c:pt>
                  <c:pt idx="1">
                    <c:v>Mobile app</c:v>
                  </c:pt>
                  <c:pt idx="2">
                    <c:v>ATM</c:v>
                  </c:pt>
                  <c:pt idx="3">
                    <c:v>POS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3.1</c:v>
                </c:pt>
                <c:pt idx="1">
                  <c:v>1.9</c:v>
                </c:pt>
                <c:pt idx="2">
                  <c:v>1.2</c:v>
                </c:pt>
                <c:pt idx="3">
                  <c:v>0.8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transactions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8A7C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D7263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Low risk</c:v>
                </c:pt>
                <c:pt idx="1">
                  <c:v>Medium risk</c:v>
                </c:pt>
                <c:pt idx="2">
                  <c:v>High risk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78</c:v>
                </c:pt>
                <c:pt idx="1">
                  <c:v>16</c:v>
                </c:pt>
                <c:pt idx="2">
                  <c:v>6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and introduce the project. Say that this dashboard helps management see fraud exposure, understand its drivers and decide what to do. NOTE: all figures in this deck are illustrative sample values. Replace them with the numbers from your own dashboard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in business terms: loss, late detection, and trust/compliance. Then read the business question aloud. Everything that follows answers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objectives, the dataset you used (name it and the source link) and the tools. Adjust the tool list to match what you actually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steps briefly. Stress that the dashboard is built to follow a story, not just show 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structure of your Power BI page: KPI cards on top, trends and comparisons in the middle, detailed table at the bottom and filters on the side. Matches the dashboard development guidelines.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KPI and how it is calculated (DAX measure). They cover volume, risk, loss, value and efficiency. Swap in your real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a full-page screenshot of your finished dashboard on this slide, then delete the dashed frame. The checklist on the right is the order to follow in your LinkedIn walkthrough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'what happened' step. Point to the upward trend and the peak month. Then move to why it is happening.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'why' step. The risk concentrates in late-night hours and in online and mobile channels. Use the slicers in the live dashboard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risk score bands. The high-risk band is small but captures most fraud, so it is where reviewers should focus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bottom section of the dashboard. It lets an analyst drill from insight to individual transactions. Mention the drill-through and the filters.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Management cares about impact. State the assumption behind the estimate clearly so nobody thinks the number is a guarantee. Recalculate using your own fraud loss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'what action should be taken' step. Each recommendation links to an insight shown earlier. Prioritise: the first two are quick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repeating the three-part story: what happened, why, what to do. Then mention the deliverables: GitHub repo, walkthrough video and LinkedIn post.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594360"/>
            <a:ext cx="3840480" cy="3840480"/>
          </a:xfrm>
          <a:prstGeom prst="ellipse">
            <a:avLst/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1097280"/>
            <a:ext cx="2834640" cy="2834640"/>
          </a:xfrm>
          <a:prstGeom prst="ellipse">
            <a:avLst/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1600200"/>
            <a:ext cx="1828800" cy="1828800"/>
          </a:xfrm>
          <a:prstGeom prst="ellipse">
            <a:avLst/>
          </a:prstGeom>
          <a:solidFill>
            <a:srgbClr val="0F172A">
              <a:alpha val="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965960"/>
            <a:ext cx="1097280" cy="1097280"/>
          </a:xfrm>
          <a:prstGeom prst="ellipse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240280"/>
            <a:ext cx="548640" cy="54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60197" y="1238083"/>
            <a:ext cx="548640" cy="5486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213" y="1366099"/>
            <a:ext cx="292608" cy="29260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85435" y="2948940"/>
            <a:ext cx="548640" cy="5486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3451" y="3076956"/>
            <a:ext cx="292608" cy="29260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630565" y="2948940"/>
            <a:ext cx="548640" cy="5486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8581" y="3076956"/>
            <a:ext cx="292608" cy="29260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855803" y="1238083"/>
            <a:ext cx="548640" cy="54864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3819" y="1366099"/>
            <a:ext cx="292608" cy="29260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48640" y="868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 |  DASHBOARD DEVELOPMENT</a:t>
            </a:r>
            <a:endParaRPr lang="en-US" sz="1100" dirty="0"/>
          </a:p>
        </p:txBody>
      </p:sp>
      <p:sp>
        <p:nvSpPr>
          <p:cNvPr id="16" name="Text 9"/>
          <p:cNvSpPr txBox="1"/>
          <p:nvPr/>
        </p:nvSpPr>
        <p:spPr>
          <a:xfrm>
            <a:off x="548640" y="12344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 &amp; Risk Analytics Dashboard</a:t>
            </a:r>
            <a:endParaRPr lang="en-US" sz="3600" dirty="0"/>
          </a:p>
        </p:txBody>
      </p:sp>
      <p:sp>
        <p:nvSpPr>
          <p:cNvPr id="17" name="Text 10"/>
          <p:cNvSpPr txBox="1"/>
          <p:nvPr/>
        </p:nvSpPr>
        <p:spPr>
          <a:xfrm>
            <a:off x="548640" y="31089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transaction data into decisions: what happened, why it happened, and what action to take.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4206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Vaishali A  |  B.Tech, Artificial Intelligence &amp;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is a costly, fast-moving risk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417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financial loss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4650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fraudulent transaction that goes through becomes lost revenue, chargebacks and write-offs.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560320"/>
            <a:ext cx="548640" cy="548640"/>
          </a:xfrm>
          <a:prstGeom prst="ellipse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974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5146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detection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284378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checks find fraud after the money has already moved, so recovery is rare.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947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36118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trust and compliance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3941064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fraud erodes customer confidence and raises regulatory and audit exposure.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0" y="137160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5760720" y="1600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QUESTION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5760720" y="1965960"/>
            <a:ext cx="2743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fraud happening, why is it rising, and what should we do about it, without blocking genuine customers?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76072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answers: what happened, why it happened, and what action to take.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scope, data and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77440"/>
            <a:ext cx="2240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fraud rate, loss and risk exposure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when, where and why fraud happens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actions that cut loss and false alarms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600200"/>
            <a:ext cx="548640" cy="548640"/>
          </a:xfrm>
          <a:prstGeom prst="ellipse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7373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6052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377440"/>
            <a:ext cx="2240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transaction dataset (Kaggle or similar)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date and time, amount, channel, category, location, fraud flag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with a 0–100 risk score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600200"/>
            <a:ext cx="548640" cy="548640"/>
          </a:xfrm>
          <a:prstGeom prst="ellipse">
            <a:avLst/>
          </a:prstGeom>
          <a:solidFill>
            <a:srgbClr val="0B8A7C"/>
          </a:solidFill>
          <a:ln w="6350">
            <a:solidFill>
              <a:srgbClr val="0B8A7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4944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2377440"/>
            <a:ext cx="2240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dashboard, DAX measures, slicers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cleaning and feature engineering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Excel: aggregation and validation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approach: from raw data to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99616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603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reliable transaction dataset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139696" y="1371600"/>
            <a:ext cx="1499616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22576" y="1554480"/>
            <a:ext cx="457200" cy="457200"/>
          </a:xfrm>
          <a:prstGeom prst="ellipse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2257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322576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322576" y="25603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nulls, duplicates and data types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822192" y="1371600"/>
            <a:ext cx="1499616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05072" y="1554480"/>
            <a:ext cx="457200" cy="457200"/>
          </a:xfrm>
          <a:prstGeom prst="ellipse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050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005072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005072" y="25603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hour, amount bands and a risk score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504688" y="1371600"/>
            <a:ext cx="1499616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87568" y="1554480"/>
            <a:ext cx="457200" cy="457200"/>
          </a:xfrm>
          <a:prstGeom prst="ellipse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8756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687568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687568" y="25603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KPI cards, trends, tables and slicers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187184" y="1371600"/>
            <a:ext cx="1499616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70064" y="1554480"/>
            <a:ext cx="457200" cy="457200"/>
          </a:xfrm>
          <a:prstGeom prst="ellipse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7006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370064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370064" y="25603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insights into clear actions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flow: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 &gt;  Why it happened  &gt;  What action to take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layout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914400" cy="2926080"/>
          </a:xfrm>
          <a:prstGeom prst="rect">
            <a:avLst/>
          </a:prstGeom>
          <a:solidFill>
            <a:srgbClr val="E8ECF3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691640"/>
            <a:ext cx="69494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103120"/>
            <a:ext cx="69494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514600"/>
            <a:ext cx="69494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926080"/>
            <a:ext cx="69494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1508760"/>
            <a:ext cx="859536" cy="594360"/>
          </a:xfrm>
          <a:prstGeom prst="roundRect">
            <a:avLst>
              <a:gd name="adj" fmla="val 7692"/>
            </a:avLst>
          </a:prstGeom>
          <a:solidFill>
            <a:srgbClr val="FDECEE"/>
          </a:solidFill>
          <a:ln w="9525">
            <a:solidFill>
              <a:srgbClr val="F4B6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1508760"/>
            <a:ext cx="859536" cy="594360"/>
          </a:xfrm>
          <a:prstGeom prst="roundRect">
            <a:avLst>
              <a:gd name="adj" fmla="val 7692"/>
            </a:avLst>
          </a:prstGeom>
          <a:solidFill>
            <a:srgbClr val="FDECEE"/>
          </a:solidFill>
          <a:ln w="9525">
            <a:solidFill>
              <a:srgbClr val="F4B6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9856" y="1508760"/>
            <a:ext cx="859536" cy="594360"/>
          </a:xfrm>
          <a:prstGeom prst="roundRect">
            <a:avLst>
              <a:gd name="adj" fmla="val 7692"/>
            </a:avLst>
          </a:prstGeom>
          <a:solidFill>
            <a:srgbClr val="FDECEE"/>
          </a:solidFill>
          <a:ln w="9525">
            <a:solidFill>
              <a:srgbClr val="F4B6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52544" y="1508760"/>
            <a:ext cx="859536" cy="594360"/>
          </a:xfrm>
          <a:prstGeom prst="roundRect">
            <a:avLst>
              <a:gd name="adj" fmla="val 7692"/>
            </a:avLst>
          </a:prstGeom>
          <a:solidFill>
            <a:srgbClr val="FDECEE"/>
          </a:solidFill>
          <a:ln w="9525">
            <a:solidFill>
              <a:srgbClr val="F4B6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2194560"/>
            <a:ext cx="1792224" cy="11430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83080" y="2926080"/>
            <a:ext cx="219456" cy="320040"/>
          </a:xfrm>
          <a:prstGeom prst="rect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48840" y="2697480"/>
            <a:ext cx="219456" cy="548640"/>
          </a:xfrm>
          <a:prstGeom prst="rect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2834640"/>
            <a:ext cx="219456" cy="411480"/>
          </a:xfrm>
          <a:prstGeom prst="rect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2468880"/>
            <a:ext cx="219456" cy="777240"/>
          </a:xfrm>
          <a:prstGeom prst="rect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19856" y="2194560"/>
            <a:ext cx="1792224" cy="11430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48456" y="2926080"/>
            <a:ext cx="219456" cy="320040"/>
          </a:xfrm>
          <a:prstGeom prst="rect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14216" y="2697480"/>
            <a:ext cx="219456" cy="548640"/>
          </a:xfrm>
          <a:prstGeom prst="rect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9976" y="2834640"/>
            <a:ext cx="219456" cy="411480"/>
          </a:xfrm>
          <a:prstGeom prst="rect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45736" y="2468880"/>
            <a:ext cx="219456" cy="777240"/>
          </a:xfrm>
          <a:prstGeom prst="rect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54480" y="3429000"/>
            <a:ext cx="36576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3520440"/>
            <a:ext cx="3474720" cy="164592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0" y="3749040"/>
            <a:ext cx="3474720" cy="164592"/>
          </a:xfrm>
          <a:prstGeom prst="rect">
            <a:avLst/>
          </a:prstGeom>
          <a:solidFill>
            <a:srgbClr val="E8ECF3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0" y="3977640"/>
            <a:ext cx="3474720" cy="164592"/>
          </a:xfrm>
          <a:prstGeom prst="rect">
            <a:avLst/>
          </a:prstGeom>
          <a:solidFill>
            <a:srgbClr val="E8ECF3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4206240"/>
            <a:ext cx="3474720" cy="164592"/>
          </a:xfrm>
          <a:prstGeom prst="rect">
            <a:avLst/>
          </a:prstGeom>
          <a:solidFill>
            <a:srgbClr val="E8ECF3"/>
          </a:solidFill>
          <a:ln w="6350">
            <a:solidFill>
              <a:srgbClr val="E8EC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1371600"/>
            <a:ext cx="274320" cy="274320"/>
          </a:xfrm>
          <a:prstGeom prst="ellipse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37160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371600" y="2103120"/>
            <a:ext cx="274320" cy="274320"/>
          </a:xfrm>
          <a:prstGeom prst="ellipse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37160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371600" y="3310128"/>
            <a:ext cx="274320" cy="274320"/>
          </a:xfrm>
          <a:prstGeom prst="ellipse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37160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1371600"/>
            <a:ext cx="274320" cy="274320"/>
          </a:xfrm>
          <a:prstGeom prst="ellipse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928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23560" y="1444752"/>
            <a:ext cx="310896" cy="310896"/>
          </a:xfrm>
          <a:prstGeom prst="ellipse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23560" y="144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080760" y="1417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Top: KPI cards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080760" y="17099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rate, loss and high-risk share give a health check at a glance.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23560" y="2231136"/>
            <a:ext cx="310896" cy="310896"/>
          </a:xfrm>
          <a:prstGeom prst="ellipse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23560" y="2231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080760" y="22037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Middle: trends and comparisons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080760" y="24963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trend, hour of day and channel show where and when.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623560" y="3017520"/>
            <a:ext cx="310896" cy="310896"/>
          </a:xfrm>
          <a:prstGeom prst="ellipse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62356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080760" y="29900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Bottom: detailed analysis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6080760" y="32826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of top flagged transactions for investigators.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623560" y="3803904"/>
            <a:ext cx="310896" cy="310896"/>
          </a:xfrm>
          <a:prstGeom prst="ellipse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623560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080760" y="37764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Side: filters and slicers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6080760" y="4069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channel, category, region and risk band.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SECTION: KPI CARDS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KPIs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55905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47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250,000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3682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5694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activity monitored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13258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9000" y="1463040"/>
            <a:ext cx="384048" cy="384048"/>
          </a:xfrm>
          <a:prstGeom prst="ellipse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012" y="1559052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1772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1947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1.8%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3429000" y="23682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429000" y="25694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txns / total txns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35040" y="13258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463040"/>
            <a:ext cx="384048" cy="384048"/>
          </a:xfrm>
          <a:prstGeom prst="ellipse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1559052"/>
            <a:ext cx="192024" cy="19202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40664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1947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$1.87M</a:t>
            </a:r>
            <a:endParaRPr lang="en-US" sz="2800" dirty="0"/>
          </a:p>
        </p:txBody>
      </p:sp>
      <p:sp>
        <p:nvSpPr>
          <p:cNvPr id="23" name="Text 18"/>
          <p:cNvSpPr txBox="1"/>
          <p:nvPr/>
        </p:nvSpPr>
        <p:spPr>
          <a:xfrm>
            <a:off x="6217920" y="23682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loss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217920" y="25694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confirmed fraud value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57200" y="3017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B45309"/>
          </a:solidFill>
          <a:ln w="6350">
            <a:solidFill>
              <a:srgbClr val="B45309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250692"/>
            <a:ext cx="192024" cy="19202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82880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50" dirty="0"/>
          </a:p>
        </p:txBody>
      </p:sp>
      <p:sp>
        <p:nvSpPr>
          <p:cNvPr id="29" name="Text 23"/>
          <p:cNvSpPr txBox="1"/>
          <p:nvPr/>
        </p:nvSpPr>
        <p:spPr>
          <a:xfrm>
            <a:off x="640080" y="36393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$416</a:t>
            </a:r>
            <a:endParaRPr lang="en-US" sz="2800" dirty="0"/>
          </a:p>
        </p:txBody>
      </p:sp>
      <p:sp>
        <p:nvSpPr>
          <p:cNvPr id="30" name="Text 24"/>
          <p:cNvSpPr txBox="1"/>
          <p:nvPr/>
        </p:nvSpPr>
        <p:spPr>
          <a:xfrm>
            <a:off x="640080" y="40599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fraud ticket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640080" y="4261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loss / fraud txns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3246120" y="3017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429000" y="3154680"/>
            <a:ext cx="384048" cy="384048"/>
          </a:xfrm>
          <a:prstGeom prst="ellipse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5012" y="3250692"/>
            <a:ext cx="192024" cy="19202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461772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</p:txBody>
      </p:sp>
      <p:sp>
        <p:nvSpPr>
          <p:cNvPr id="36" name="Text 29"/>
          <p:cNvSpPr txBox="1"/>
          <p:nvPr/>
        </p:nvSpPr>
        <p:spPr>
          <a:xfrm>
            <a:off x="3429000" y="36393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6%</a:t>
            </a:r>
            <a:endParaRPr lang="en-US" sz="2800" dirty="0"/>
          </a:p>
        </p:txBody>
      </p:sp>
      <p:sp>
        <p:nvSpPr>
          <p:cNvPr id="37" name="Text 30"/>
          <p:cNvSpPr txBox="1"/>
          <p:nvPr/>
        </p:nvSpPr>
        <p:spPr>
          <a:xfrm>
            <a:off x="3429000" y="40599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share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3429000" y="4261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Txns with risk score 80+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6035040" y="30175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217920" y="3154680"/>
            <a:ext cx="384048" cy="384048"/>
          </a:xfrm>
          <a:prstGeom prst="ellipse">
            <a:avLst/>
          </a:prstGeom>
          <a:solidFill>
            <a:srgbClr val="0B8A7C"/>
          </a:solidFill>
          <a:ln w="6350">
            <a:solidFill>
              <a:srgbClr val="0B8A7C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3932" y="3250692"/>
            <a:ext cx="192024" cy="192024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40664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950" dirty="0"/>
          </a:p>
        </p:txBody>
      </p:sp>
      <p:sp>
        <p:nvSpPr>
          <p:cNvPr id="43" name="Text 35"/>
          <p:cNvSpPr txBox="1"/>
          <p:nvPr/>
        </p:nvSpPr>
        <p:spPr>
          <a:xfrm>
            <a:off x="6217920" y="36393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2800" dirty="0"/>
          </a:p>
        </p:txBody>
      </p:sp>
      <p:sp>
        <p:nvSpPr>
          <p:cNvPr id="44" name="Text 36"/>
          <p:cNvSpPr txBox="1"/>
          <p:nvPr/>
        </p:nvSpPr>
        <p:spPr>
          <a:xfrm>
            <a:off x="6217920" y="40599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6217920" y="4261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caught / total fraud</a:t>
            </a:r>
            <a:endParaRPr lang="en-US" sz="1050" dirty="0"/>
          </a:p>
        </p:txBody>
      </p:sp>
      <p:sp>
        <p:nvSpPr>
          <p:cNvPr id="47" name="Text 38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sample data. Replace with values from your dashboard.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862072" y="2331720"/>
            <a:ext cx="585216" cy="585216"/>
          </a:xfrm>
          <a:prstGeom prst="ellipse">
            <a:avLst/>
          </a:prstGeom>
          <a:solidFill>
            <a:srgbClr val="E8ECF3"/>
          </a:solidFill>
          <a:ln w="6350">
            <a:solidFill>
              <a:srgbClr val="E8ECF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76" y="2478024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063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dashboard screenshot here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015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page view, 16:9, with all four sections visible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13716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Walkthrough checklist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310896" cy="310896"/>
          </a:xfrm>
          <a:prstGeom prst="ellipse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187452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72200" y="2423160"/>
            <a:ext cx="310896" cy="310896"/>
          </a:xfrm>
          <a:prstGeom prst="ellipse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629400" y="24231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on top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72200" y="2971800"/>
            <a:ext cx="310896" cy="310896"/>
          </a:xfrm>
          <a:prstGeom prst="ellipse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7220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629400" y="29718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and comparisons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172200" y="3520440"/>
            <a:ext cx="310896" cy="310896"/>
          </a:xfrm>
          <a:prstGeom prst="ellipse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7220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629400" y="35204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slicers demo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172200" y="4069080"/>
            <a:ext cx="310896" cy="310896"/>
          </a:xfrm>
          <a:prstGeom prst="ellipse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7220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629400" y="406908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and recommendations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rate has doubled in 12 months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80760" y="13716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30936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2240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rose from 1.2% in January to 2.4% in December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0760" y="3063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309360" y="3246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monthly fraud rate, reached in November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sample data. Replace with values from your dashboard.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HAPPENED?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Night-time and online drive the risk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0" y="137160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754880" y="146304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at 00–04h is about 4x the daytime rate, and online fraud is about 4x the in-store (POS) rate.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sample data. Replace with values from your dashboard.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6% of transactions hold 71% of fraud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5661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3383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transactions by risk band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51960" y="1371600"/>
            <a:ext cx="4434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480560" y="1737360"/>
            <a:ext cx="274320" cy="274320"/>
          </a:xfrm>
          <a:prstGeom prst="ellipse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14996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risk (score 80+)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810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of transactions. Action: auto-hold and alert.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150876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2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251960" y="2468880"/>
            <a:ext cx="4434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2834640"/>
            <a:ext cx="274320" cy="27432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37760" y="2596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risk (50–79)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29077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of transactions. Action: step-up authentication.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0" y="26060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2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4251960" y="3566160"/>
            <a:ext cx="4434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480560" y="3931920"/>
            <a:ext cx="274320" cy="274320"/>
          </a:xfrm>
          <a:prstGeom prst="ellipse">
            <a:avLst/>
          </a:prstGeom>
          <a:solidFill>
            <a:srgbClr val="0B8A7C"/>
          </a:solidFill>
          <a:ln w="6350">
            <a:solidFill>
              <a:srgbClr val="0B8A7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37760" y="3694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risk (below 50)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937760" y="4005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transactions. Action: approve and monitor.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0" y="37033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7%</a:t>
            </a:r>
            <a:endParaRPr lang="en-US" sz="2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</a:t>
            </a:r>
            <a:endParaRPr lang="en-US" sz="2400" dirty="0"/>
          </a:p>
        </p:txBody>
      </p:sp>
      <p:sp>
        <p:nvSpPr>
          <p:cNvPr id="23" name="Text 19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sample data. Replace with values from your dashboard.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SECTION: DETAILED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flagged transactions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097280"/>
                <a:gridCol w="1097280"/>
                <a:gridCol w="128016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T-100482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02:14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T-100517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03:41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T-100633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01:05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T-100702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23:52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T-100921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T-100815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22:37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8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251960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68680" y="422452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follows the side filters (date, channel, category, region, risk band) and is sorted by risk score.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sample data. Replace with values from your dashboard.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8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−28%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reduction in fraud loss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7472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8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$0.52M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loss avoided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6364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 sits in the high-risk band, so focused review pays off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3F5F2"/>
          </a:solidFill>
          <a:ln w="6350">
            <a:solidFill>
              <a:srgbClr val="E3F5F2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8872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is estimated: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recommended controls stop about 28% of current fraud loss, then $1.87M x 28% is roughly $0.52M a year.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sample data. Replace with values from your dashboard.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ACTION SHOULD BE TAKEN?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4447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step-up authentication for online transactions at night (00–04h)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77393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night-time fraud rate is about 4x daytime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29400" y="160020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16002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1600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377440"/>
            <a:ext cx="365760" cy="365760"/>
          </a:xfrm>
          <a:prstGeom prst="ellipse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2677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Auto-hold and alert when the risk score is 80 or higher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59689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the high-risk band holds 71% of fraud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242316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2423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24231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09067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velocity and amount limits on online and mobile channels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4198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online fraud rate 3.1% vs 0.8% at POS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29400" y="32461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29400" y="32461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3246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days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39136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dashboard weekly and tune thresholds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424281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keeps false alarms low as fraud patterns change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29400" y="406908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29400" y="4069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589520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sample data. Replace with values from your dashboard.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642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doubled from 1.2% to 2.4% in 12 months.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HAPPENED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243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Night-time online activity carries the highest risk, and 6% of transactions hold 71% of fraud.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91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5844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step-up authentication, auto-hold scores of 80+, and review thresholds weekly.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0" y="1371600"/>
            <a:ext cx="3200400" cy="2834640"/>
          </a:xfrm>
          <a:prstGeom prst="roundRect">
            <a:avLst>
              <a:gd name="adj" fmla="val 32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deliverables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60720" y="2103120"/>
            <a:ext cx="457200" cy="457200"/>
          </a:xfrm>
          <a:prstGeom prst="ellipse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5020" y="2217420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400800" y="2103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760720" y="2788920"/>
            <a:ext cx="457200" cy="457200"/>
          </a:xfrm>
          <a:prstGeom prst="ellipse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290322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40080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 video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760720" y="3474720"/>
            <a:ext cx="457200" cy="457200"/>
          </a:xfrm>
          <a:prstGeom prst="ellipse">
            <a:avLst/>
          </a:prstGeom>
          <a:solidFill>
            <a:srgbClr val="D7263D"/>
          </a:solidFill>
          <a:ln w="6350">
            <a:solidFill>
              <a:srgbClr val="D7263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358902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00800" y="3474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project post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sample data. Replace with values from your dashboard.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Detection &amp; Risk Analytics Dashboard</dc:title>
  <dc:subject>PptxGenJS Presentation</dc:subject>
  <dc:creator>Vaishu</dc:creator>
  <cp:lastModifiedBy>Vaishu</cp:lastModifiedBy>
  <cp:revision>1</cp:revision>
  <dcterms:created xsi:type="dcterms:W3CDTF">2026-09-19T07:45:47Z</dcterms:created>
  <dcterms:modified xsi:type="dcterms:W3CDTF">2026-09-19T07:45:47Z</dcterms:modified>
</cp:coreProperties>
</file>