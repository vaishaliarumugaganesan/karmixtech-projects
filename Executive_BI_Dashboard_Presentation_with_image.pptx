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6.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 ($K)</c:v>
                </c:pt>
              </c:strCache>
            </c:strRef>
          </c:tx>
          <c:spPr>
            <a:solidFill>
              <a:srgbClr val="0E7C86"/>
            </a:solidFill>
            <a:effectLst/>
          </c:spPr>
          <c:invertIfNegative val="0"/>
          <c:dLbls>
            <c:numFmt formatCode="0" sourceLinked="0"/>
            <c:txPr>
              <a:bodyPr/>
              <a:lstStyle/>
              <a:p>
                <a:pPr>
                  <a:defRPr b="0" i="0" strike="noStrike" sz="12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FY22</c:v>
                  </c:pt>
                  <c:pt idx="1">
                    <c:v>FY23</c:v>
                  </c:pt>
                  <c:pt idx="2">
                    <c:v>FY24</c:v>
                  </c:pt>
                  <c:pt idx="3">
                    <c:v>FY25</c:v>
                  </c:pt>
                </c:lvl>
              </c:multiLvlStrCache>
            </c:multiLvlStrRef>
          </c:cat>
          <c:val>
            <c:numRef>
              <c:f>Sheet1!$B$2:$B$5</c:f>
              <c:numCache>
                <c:formatCode>General</c:formatCode>
                <c:ptCount val="4"/>
                <c:pt idx="0">
                  <c:v>272.6</c:v>
                </c:pt>
                <c:pt idx="1">
                  <c:v>375.5</c:v>
                </c:pt>
                <c:pt idx="2">
                  <c:v>471.1</c:v>
                </c:pt>
                <c:pt idx="3">
                  <c:v>526.5</c:v>
                </c:pt>
              </c:numCache>
            </c:numRef>
          </c:val>
        </c:ser>
        <c:dLbls>
          <c:numFmt formatCode="0" sourceLinked="0"/>
          <c:txPr>
            <a:bodyPr/>
            <a:lstStyle/>
            <a:p>
              <a:pPr>
                <a:defRPr b="0" i="0" strike="noStrike" sz="1200" u="none">
                  <a:solidFill>
                    <a:srgbClr val="FFFFFF"/>
                  </a:solidFill>
                  <a:latin typeface="Arial"/>
                </a:defRPr>
              </a:pPr>
            </a:p>
          </c:txPr>
          <c:dLblPos val="inEnd"/>
          <c:showLegendKey val="0"/>
          <c:showVal val="1"/>
          <c:showCatName val="0"/>
          <c:showSerName val="0"/>
          <c:showPercent val="0"/>
          <c:showBubbleSize val="0"/>
          <c:showLeaderLines val="0"/>
        </c:dLbls>
        <c:gapWidth val="60"/>
        <c:overlap val="0"/>
        <c:axId val="2094734554"/>
        <c:axId val="2094734552"/>
        <c:axId val="2094734556"/>
      </c:barChart>
      <c:lineChart>
        <c:varyColors val="0"/>
        <c:ser>
          <c:idx val="1"/>
          <c:order val="1"/>
          <c:tx>
            <c:strRef>
              <c:f>Sheet1!$C$1</c:f>
              <c:strCache>
                <c:ptCount val="1"/>
                <c:pt idx="0">
                  <c:v>Profit margin %</c:v>
                </c:pt>
              </c:strCache>
            </c:strRef>
          </c:tx>
          <c:spPr>
            <a:solidFill>
              <a:srgbClr val="F59E0B"/>
            </a:solidFill>
            <a:ln w="38100" cap="flat">
              <a:solidFill>
                <a:srgbClr val="F59E0B"/>
              </a:solidFill>
              <a:prstDash val="solid"/>
              <a:round/>
            </a:ln>
            <a:effectLst/>
          </c:spPr>
          <c:invertIfNegative val="0"/>
          <c:dLbls>
            <c:numFmt formatCode="0.0" sourceLinked="0"/>
            <c:txPr>
              <a:bodyPr/>
              <a:lstStyle/>
              <a:p>
                <a:pPr>
                  <a:defRPr b="0" i="0" strike="noStrike" sz="1200" u="none">
                    <a:solidFill>
                      <a:srgbClr val="8A5A00"/>
                    </a:solidFill>
                    <a:latin typeface="Arial"/>
                  </a:defRPr>
                </a:pPr>
              </a:p>
            </c:txPr>
            <c:dLblPos val="t"/>
            <c:showLegendKey val="0"/>
            <c:showVal val="1"/>
            <c:showCatName val="0"/>
            <c:showSerName val="0"/>
            <c:showPercent val="0"/>
            <c:showBubbleSize val="0"/>
            <c:showLeaderLines val="0"/>
          </c:dLbls>
          <c:marker>
            <c:symbol val="circle"/>
            <c:size val="9"/>
            <c:spPr>
              <a:solidFill>
                <a:srgbClr val="F59E0B"/>
              </a:solidFill>
              <a:ln w="9525" cap="flat">
                <a:solidFill>
                  <a:srgbClr val="F59E0B"/>
                </a:solidFill>
                <a:prstDash val="solid"/>
                <a:round/>
              </a:ln>
              <a:effectLst/>
            </c:spPr>
          </c:marker>
          <c:cat>
            <c:multiLvlStrRef>
              <c:f>Sheet1!$A$2:$A$5</c:f>
              <c:multiLvlStrCache>
                <c:ptCount val="4"/>
                <c:lvl>
                  <c:pt idx="0">
                    <c:v>FY22</c:v>
                  </c:pt>
                  <c:pt idx="1">
                    <c:v>FY23</c:v>
                  </c:pt>
                  <c:pt idx="2">
                    <c:v>FY24</c:v>
                  </c:pt>
                  <c:pt idx="3">
                    <c:v>FY25</c:v>
                  </c:pt>
                </c:lvl>
              </c:multiLvlStrCache>
            </c:multiLvlStrRef>
          </c:cat>
          <c:val>
            <c:numRef>
              <c:f>Sheet1!$C$2:$C$5</c:f>
              <c:numCache>
                <c:formatCode>General</c:formatCode>
                <c:ptCount val="4"/>
                <c:pt idx="0">
                  <c:v>13</c:v>
                </c:pt>
                <c:pt idx="1">
                  <c:v>12.1</c:v>
                </c:pt>
                <c:pt idx="2">
                  <c:v>11.5</c:v>
                </c:pt>
                <c:pt idx="3">
                  <c:v>11.3</c:v>
                </c:pt>
              </c:numCache>
            </c:numRef>
          </c:val>
          <c:smooth val="0"/>
        </c:ser>
        <c:dLbls>
          <c:numFmt formatCode="0.0" sourceLinked="0"/>
          <c:txPr>
            <a:bodyPr/>
            <a:lstStyle/>
            <a:p>
              <a:pPr>
                <a:defRPr b="0" i="0" strike="noStrike" sz="1200" u="none">
                  <a:solidFill>
                    <a:srgbClr val="8A5A00"/>
                  </a:solidFill>
                  <a:latin typeface="Arial"/>
                </a:defRPr>
              </a:pPr>
            </a:p>
          </c:txPr>
          <c:dLblPos val="t"/>
          <c:showLegendKey val="0"/>
          <c:showVal val="1"/>
          <c:showCatName val="0"/>
          <c:showSerName val="0"/>
          <c:showPercent val="0"/>
          <c:showBubbleSize val="0"/>
          <c:showLeaderLines val="0"/>
        </c:dLbls>
        <c:marker val="1"/>
        <c:axId val="2094734555"/>
        <c:axId val="2094734553"/>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Calibri"/>
              </a:defRPr>
            </a:pPr>
            <a:endParaRPr lang="en-US"/>
          </a:p>
        </c:txPr>
        <c:crossAx val="2094734552"/>
        <c:crosses val="autoZero"/>
        <c:auto val="1"/>
        <c:lblAlgn val="ctr"/>
        <c:noMultiLvlLbl val="1"/>
      </c:catAx>
      <c:valAx>
        <c:axId val="2094734552"/>
        <c:scaling>
          <c:orientation val="minMax"/>
          <c:max val="1000"/>
          <c:min val="0"/>
        </c:scaling>
        <c:delete val="0"/>
        <c:axPos val="l"/>
        <c:majorGridlines>
          <c:spPr>
            <a:ln w="6350" cap="flat">
              <a:solidFill>
                <a:srgbClr val="E5EA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Calibri"/>
              </a:defRPr>
            </a:pPr>
            <a:endParaRPr lang="en-US"/>
          </a:p>
        </c:txPr>
        <c:crossAx val="2094734554"/>
        <c:crosses val="autoZero"/>
        <c:crossBetween val="between"/>
      </c:valAx>
      <c:valAx>
        <c:axId val="2094734553"/>
        <c:scaling>
          <c:orientation val="minMax"/>
          <c:max val="14"/>
          <c:min val="4"/>
        </c:scaling>
        <c:delete val="0"/>
        <c:axPos val="r"/>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Calibri"/>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Calibri"/>
              </a:defRPr>
            </a:pPr>
            <a:endParaRPr lang="en-US"/>
          </a:p>
        </c:txPr>
        <c:crossAx val="2094734553"/>
        <c:crosses val="autoZero"/>
        <c:auto val="1"/>
        <c:lblAlgn val="ctr"/>
        <c:noMultiLvlLbl val="1"/>
      </c:catAx>
      <c:spPr>
        <a:noFill/>
        <a:ln>
          <a:noFill/>
        </a:ln>
        <a:effectLst/>
      </c:spPr>
    </c:plotArea>
    <c:legend>
      <c:legendPos val="b"/>
      <c:overlay val="0"/>
      <c:txPr>
        <a:bodyPr/>
        <a:lstStyle/>
        <a:p>
          <a:pPr>
            <a:defRPr sz="1200">
              <a:solidFill>
                <a:srgbClr val="64748B"/>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Margin %</c:v>
                </c:pt>
              </c:strCache>
            </c:strRef>
          </c:tx>
          <c:spPr>
            <a:solidFill>
              <a:srgbClr val="16A34A"/>
            </a:solidFill>
            <a:effectLst/>
          </c:spPr>
          <c:invertIfNegative val="0"/>
          <c:dLbls>
            <c:numFmt formatCode="0.0" sourceLinked="0"/>
            <c:txPr>
              <a:bodyPr/>
              <a:lstStyle/>
              <a:p>
                <a:pPr>
                  <a:defRPr b="0" i="0" strike="noStrike" sz="1200" u="none">
                    <a:solidFill>
                      <a:srgbClr val="1F2937"/>
                    </a:solidFill>
                    <a:latin typeface="Arial"/>
                  </a:defRPr>
                </a:pPr>
              </a:p>
            </c:txPr>
            <c:showLegendKey val="0"/>
            <c:showVal val="1"/>
            <c:showCatName val="0"/>
            <c:showSerName val="0"/>
            <c:showPercent val="0"/>
            <c:showBubbleSize val="0"/>
            <c:showLeaderLines val="0"/>
          </c:dLbls>
          <c:dPt>
            <c:idx val="0"/>
            <c:invertIfNegative val="0"/>
            <c:bubble3D val="0"/>
            <c:spPr>
              <a:solidFill>
                <a:srgbClr val="16A34A"/>
              </a:solidFill>
              <a:effectLst/>
            </c:spPr>
          </c:dPt>
          <c:dPt>
            <c:idx val="1"/>
            <c:invertIfNegative val="0"/>
            <c:bubble3D val="0"/>
            <c:spPr>
              <a:solidFill>
                <a:srgbClr val="16A34A"/>
              </a:solidFill>
              <a:effectLst/>
            </c:spPr>
          </c:dPt>
          <c:dPt>
            <c:idx val="2"/>
            <c:invertIfNegative val="0"/>
            <c:bubble3D val="0"/>
            <c:spPr>
              <a:solidFill>
                <a:srgbClr val="F59E0B"/>
              </a:solidFill>
              <a:effectLst/>
            </c:spPr>
          </c:dPt>
          <c:dPt>
            <c:idx val="3"/>
            <c:invertIfNegative val="0"/>
            <c:bubble3D val="0"/>
            <c:spPr>
              <a:solidFill>
                <a:srgbClr val="DC2626"/>
              </a:solidFill>
              <a:effectLst/>
            </c:spPr>
          </c:dPt>
          <c:dPt>
            <c:idx val="4"/>
            <c:invertIfNegative val="0"/>
            <c:bubble3D val="0"/>
            <c:spPr>
              <a:solidFill>
                <a:srgbClr val="DC2626"/>
              </a:solidFill>
              <a:effectLst/>
            </c:spPr>
          </c:dPt>
          <c:cat>
            <c:multiLvlStrRef>
              <c:f>Sheet1!$A$2:$A$6</c:f>
              <c:multiLvlStrCache>
                <c:ptCount val="5"/>
                <c:lvl>
                  <c:pt idx="0">
                    <c:v>0% off</c:v>
                  </c:pt>
                  <c:pt idx="1">
                    <c:v>10% off</c:v>
                  </c:pt>
                  <c:pt idx="2">
                    <c:v>20% off</c:v>
                  </c:pt>
                  <c:pt idx="3">
                    <c:v>30% off</c:v>
                  </c:pt>
                  <c:pt idx="4">
                    <c:v>40% off</c:v>
                  </c:pt>
                </c:lvl>
              </c:multiLvlStrCache>
            </c:multiLvlStrRef>
          </c:cat>
          <c:val>
            <c:numRef>
              <c:f>Sheet1!$B$2:$B$6</c:f>
              <c:numCache>
                <c:formatCode>General</c:formatCode>
                <c:ptCount val="5"/>
                <c:pt idx="0">
                  <c:v>19.5</c:v>
                </c:pt>
                <c:pt idx="1">
                  <c:v>11.8</c:v>
                </c:pt>
                <c:pt idx="2">
                  <c:v>4.4</c:v>
                </c:pt>
                <c:pt idx="3">
                  <c:v>-3.6</c:v>
                </c:pt>
                <c:pt idx="4">
                  <c:v>-11.6</c:v>
                </c:pt>
              </c:numCache>
            </c:numRef>
          </c:val>
        </c:ser>
        <c:dLbls>
          <c:numFmt formatCode="0.0" sourceLinked="0"/>
          <c:txPr>
            <a:bodyPr/>
            <a:lstStyle/>
            <a:p>
              <a:pPr>
                <a:defRPr b="0" i="0" strike="noStrike" sz="1200" u="none">
                  <a:solidFill>
                    <a:srgbClr val="1F2937"/>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High-discount share %</c:v>
                </c:pt>
              </c:strCache>
            </c:strRef>
          </c:tx>
          <c:spPr>
            <a:solidFill>
              <a:srgbClr val="DC2626"/>
            </a:solidFill>
            <a:ln w="44450" cap="flat">
              <a:solidFill>
                <a:srgbClr val="DC2626"/>
              </a:solidFill>
              <a:prstDash val="solid"/>
              <a:round/>
            </a:ln>
            <a:effectLst/>
          </c:spPr>
          <c:invertIfNegative val="0"/>
          <c:dLbls>
            <c:numFmt formatCode="0.0" sourceLinked="0"/>
            <c:txPr>
              <a:bodyPr/>
              <a:lstStyle/>
              <a:p>
                <a:pPr>
                  <a:defRPr b="0" i="0" strike="noStrike" sz="1200" u="none">
                    <a:solidFill>
                      <a:srgbClr val="DC2626"/>
                    </a:solidFill>
                    <a:latin typeface="Arial"/>
                  </a:defRPr>
                </a:pPr>
              </a:p>
            </c:txPr>
            <c:dLblPos val="t"/>
            <c:showLegendKey val="0"/>
            <c:showVal val="1"/>
            <c:showCatName val="0"/>
            <c:showSerName val="0"/>
            <c:showPercent val="0"/>
            <c:showBubbleSize val="0"/>
            <c:showLeaderLines val="0"/>
          </c:dLbls>
          <c:marker>
            <c:symbol val="circle"/>
            <c:size val="10"/>
            <c:spPr>
              <a:solidFill>
                <a:srgbClr val="DC2626"/>
              </a:solidFill>
              <a:ln w="9525" cap="flat">
                <a:solidFill>
                  <a:srgbClr val="DC2626"/>
                </a:solidFill>
                <a:prstDash val="solid"/>
                <a:round/>
              </a:ln>
              <a:effectLst/>
            </c:spPr>
          </c:marker>
          <c:cat>
            <c:multiLvlStrRef>
              <c:f>Sheet1!$A$2:$A$5</c:f>
              <c:multiLvlStrCache>
                <c:ptCount val="4"/>
                <c:lvl>
                  <c:pt idx="0">
                    <c:v>FY22</c:v>
                  </c:pt>
                  <c:pt idx="1">
                    <c:v>FY23</c:v>
                  </c:pt>
                  <c:pt idx="2">
                    <c:v>FY24</c:v>
                  </c:pt>
                  <c:pt idx="3">
                    <c:v>FY25</c:v>
                  </c:pt>
                </c:lvl>
              </c:multiLvlStrCache>
            </c:multiLvlStrRef>
          </c:cat>
          <c:val>
            <c:numRef>
              <c:f>Sheet1!$B$2:$B$5</c:f>
              <c:numCache>
                <c:formatCode>General</c:formatCode>
                <c:ptCount val="4"/>
                <c:pt idx="0">
                  <c:v>9.5</c:v>
                </c:pt>
                <c:pt idx="1">
                  <c:v>18.8</c:v>
                </c:pt>
                <c:pt idx="2">
                  <c:v>27.5</c:v>
                </c:pt>
                <c:pt idx="3">
                  <c:v>35.9</c:v>
                </c:pt>
              </c:numCache>
            </c:numRef>
          </c:val>
          <c:smooth val="0"/>
        </c:ser>
        <c:dLbls>
          <c:numFmt formatCode="0.0" sourceLinked="0"/>
          <c:txPr>
            <a:bodyPr/>
            <a:lstStyle/>
            <a:p>
              <a:pPr>
                <a:defRPr b="0" i="0" strike="noStrike" sz="1200" u="none">
                  <a:solidFill>
                    <a:srgbClr val="DC2626"/>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Calibri"/>
              </a:defRPr>
            </a:pPr>
            <a:endParaRPr lang="en-US"/>
          </a:p>
        </c:txPr>
        <c:crossAx val="2094734552"/>
        <c:crosses val="autoZero"/>
        <c:auto val="1"/>
        <c:lblAlgn val="ctr"/>
        <c:noMultiLvlLbl val="1"/>
      </c:catAx>
      <c:valAx>
        <c:axId val="2094734552"/>
        <c:scaling>
          <c:orientation val="minMax"/>
          <c:max val="4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On-time %</c:v>
                </c:pt>
              </c:strCache>
            </c:strRef>
          </c:tx>
          <c:spPr>
            <a:solidFill>
              <a:srgbClr val="16A34A"/>
            </a:solidFill>
            <a:effectLst/>
          </c:spPr>
          <c:invertIfNegative val="0"/>
          <c:dLbls>
            <c:numFmt formatCode="0" sourceLinked="0"/>
            <c:txPr>
              <a:bodyPr/>
              <a:lstStyle/>
              <a:p>
                <a:pPr>
                  <a:defRPr b="0" i="0" strike="noStrike" sz="1300" u="none">
                    <a:solidFill>
                      <a:srgbClr val="1F2937"/>
                    </a:solidFill>
                    <a:latin typeface="Arial"/>
                  </a:defRPr>
                </a:pPr>
              </a:p>
            </c:txPr>
            <c:showLegendKey val="0"/>
            <c:showVal val="1"/>
            <c:showCatName val="0"/>
            <c:showSerName val="0"/>
            <c:showPercent val="0"/>
            <c:showBubbleSize val="0"/>
            <c:showLeaderLines val="0"/>
          </c:dLbls>
          <c:dPt>
            <c:idx val="0"/>
            <c:invertIfNegative val="0"/>
            <c:bubble3D val="0"/>
            <c:spPr>
              <a:solidFill>
                <a:srgbClr val="16A34A"/>
              </a:solidFill>
              <a:effectLst/>
            </c:spPr>
          </c:dPt>
          <c:dPt>
            <c:idx val="1"/>
            <c:invertIfNegative val="0"/>
            <c:bubble3D val="0"/>
            <c:spPr>
              <a:solidFill>
                <a:srgbClr val="16A34A"/>
              </a:solidFill>
              <a:effectLst/>
            </c:spPr>
          </c:dPt>
          <c:dPt>
            <c:idx val="2"/>
            <c:invertIfNegative val="0"/>
            <c:bubble3D val="0"/>
            <c:spPr>
              <a:solidFill>
                <a:srgbClr val="DC2626"/>
              </a:solidFill>
              <a:effectLst/>
            </c:spPr>
          </c:dPt>
          <c:dPt>
            <c:idx val="3"/>
            <c:invertIfNegative val="0"/>
            <c:bubble3D val="0"/>
            <c:spPr>
              <a:solidFill>
                <a:srgbClr val="DC2626"/>
              </a:solidFill>
              <a:effectLst/>
            </c:spPr>
          </c:dPt>
          <c:cat>
            <c:multiLvlStrRef>
              <c:f>Sheet1!$A$2:$A$5</c:f>
              <c:multiLvlStrCache>
                <c:ptCount val="4"/>
                <c:lvl>
                  <c:pt idx="0">
                    <c:v>West</c:v>
                  </c:pt>
                  <c:pt idx="1">
                    <c:v>East</c:v>
                  </c:pt>
                  <c:pt idx="2">
                    <c:v>Central</c:v>
                  </c:pt>
                  <c:pt idx="3">
                    <c:v>South</c:v>
                  </c:pt>
                </c:lvl>
              </c:multiLvlStrCache>
            </c:multiLvlStrRef>
          </c:cat>
          <c:val>
            <c:numRef>
              <c:f>Sheet1!$B$2:$B$5</c:f>
              <c:numCache>
                <c:formatCode>General</c:formatCode>
                <c:ptCount val="4"/>
                <c:pt idx="0">
                  <c:v>90.5</c:v>
                </c:pt>
                <c:pt idx="1">
                  <c:v>85.8</c:v>
                </c:pt>
                <c:pt idx="2">
                  <c:v>52.3</c:v>
                </c:pt>
                <c:pt idx="3">
                  <c:v>60.4</c:v>
                </c:pt>
              </c:numCache>
            </c:numRef>
          </c:val>
        </c:ser>
        <c:dLbls>
          <c:numFmt formatCode="0" sourceLinked="0"/>
          <c:txPr>
            <a:bodyPr/>
            <a:lstStyle/>
            <a:p>
              <a:pPr>
                <a:defRPr b="0" i="0" strike="noStrike" sz="1300" u="none">
                  <a:solidFill>
                    <a:srgbClr val="1F2937"/>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64748B"/>
                </a:solidFill>
                <a:latin typeface="Calibri"/>
              </a:defRPr>
            </a:pPr>
            <a:endParaRPr lang="en-US"/>
          </a:p>
        </c:txPr>
        <c:crossAx val="2094734552"/>
        <c:crosses val="autoZero"/>
        <c:auto val="1"/>
        <c:lblAlgn val="ctr"/>
        <c:noMultiLvlLbl val="1"/>
      </c:catAx>
      <c:valAx>
        <c:axId val="2094734552"/>
        <c:scaling>
          <c:orientation val="minMax"/>
          <c:max val="11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Loss-making orders %</c:v>
                </c:pt>
              </c:strCache>
            </c:strRef>
          </c:tx>
          <c:spPr>
            <a:solidFill>
              <a:srgbClr val="DC2626"/>
            </a:solidFill>
            <a:ln w="44450" cap="flat">
              <a:solidFill>
                <a:srgbClr val="DC2626"/>
              </a:solidFill>
              <a:prstDash val="solid"/>
              <a:round/>
            </a:ln>
            <a:effectLst/>
          </c:spPr>
          <c:invertIfNegative val="0"/>
          <c:dLbls>
            <c:numFmt formatCode="0.0" sourceLinked="0"/>
            <c:txPr>
              <a:bodyPr/>
              <a:lstStyle/>
              <a:p>
                <a:pPr>
                  <a:defRPr b="0" i="0" strike="noStrike" sz="1300" u="none">
                    <a:solidFill>
                      <a:srgbClr val="DC2626"/>
                    </a:solidFill>
                    <a:latin typeface="Arial"/>
                  </a:defRPr>
                </a:pPr>
              </a:p>
            </c:txPr>
            <c:dLblPos val="t"/>
            <c:showLegendKey val="0"/>
            <c:showVal val="1"/>
            <c:showCatName val="0"/>
            <c:showSerName val="0"/>
            <c:showPercent val="0"/>
            <c:showBubbleSize val="0"/>
            <c:showLeaderLines val="0"/>
          </c:dLbls>
          <c:marker>
            <c:symbol val="circle"/>
            <c:size val="10"/>
            <c:spPr>
              <a:solidFill>
                <a:srgbClr val="DC2626"/>
              </a:solidFill>
              <a:ln w="9525" cap="flat">
                <a:solidFill>
                  <a:srgbClr val="DC2626"/>
                </a:solidFill>
                <a:prstDash val="solid"/>
                <a:round/>
              </a:ln>
              <a:effectLst/>
            </c:spPr>
          </c:marker>
          <c:cat>
            <c:multiLvlStrRef>
              <c:f>Sheet1!$A$2:$A$5</c:f>
              <c:multiLvlStrCache>
                <c:ptCount val="4"/>
                <c:lvl>
                  <c:pt idx="0">
                    <c:v>FY22</c:v>
                  </c:pt>
                  <c:pt idx="1">
                    <c:v>FY23</c:v>
                  </c:pt>
                  <c:pt idx="2">
                    <c:v>FY24</c:v>
                  </c:pt>
                  <c:pt idx="3">
                    <c:v>FY25</c:v>
                  </c:pt>
                </c:lvl>
              </c:multiLvlStrCache>
            </c:multiLvlStrRef>
          </c:cat>
          <c:val>
            <c:numRef>
              <c:f>Sheet1!$B$2:$B$5</c:f>
              <c:numCache>
                <c:formatCode>General</c:formatCode>
                <c:ptCount val="4"/>
                <c:pt idx="0">
                  <c:v>13.4</c:v>
                </c:pt>
                <c:pt idx="1">
                  <c:v>14.5</c:v>
                </c:pt>
                <c:pt idx="2">
                  <c:v>16.9</c:v>
                </c:pt>
                <c:pt idx="3">
                  <c:v>17.4</c:v>
                </c:pt>
              </c:numCache>
            </c:numRef>
          </c:val>
          <c:smooth val="0"/>
        </c:ser>
        <c:dLbls>
          <c:numFmt formatCode="0.0" sourceLinked="0"/>
          <c:txPr>
            <a:bodyPr/>
            <a:lstStyle/>
            <a:p>
              <a:pPr>
                <a:defRPr b="0" i="0" strike="noStrike" sz="1300" u="none">
                  <a:solidFill>
                    <a:srgbClr val="DC2626"/>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64748B"/>
                </a:solidFill>
                <a:latin typeface="Calibri"/>
              </a:defRPr>
            </a:pPr>
            <a:endParaRPr lang="en-US"/>
          </a:p>
        </c:txPr>
        <c:crossAx val="2094734552"/>
        <c:crosses val="autoZero"/>
        <c:auto val="1"/>
        <c:lblAlgn val="ctr"/>
        <c:noMultiLvlLbl val="1"/>
      </c:catAx>
      <c:valAx>
        <c:axId val="2094734552"/>
        <c:scaling>
          <c:orientation val="minMax"/>
          <c:max val="20"/>
          <c:min val="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Profit ($K)</c:v>
                </c:pt>
              </c:strCache>
            </c:strRef>
          </c:tx>
          <c:spPr>
            <a:solidFill>
              <a:srgbClr val="64748B"/>
            </a:solidFill>
            <a:effectLst/>
          </c:spPr>
          <c:invertIfNegative val="0"/>
          <c:dLbls>
            <c:numFmt formatCode="$0.0&quot;K&quot;" sourceLinked="0"/>
            <c:txPr>
              <a:bodyPr/>
              <a:lstStyle/>
              <a:p>
                <a:pPr>
                  <a:defRPr b="0" i="0" strike="noStrike" sz="1600" u="none">
                    <a:solidFill>
                      <a:srgbClr val="1F2937"/>
                    </a:solidFill>
                    <a:latin typeface="Arial"/>
                  </a:defRPr>
                </a:pPr>
              </a:p>
            </c:txPr>
            <c:showLegendKey val="0"/>
            <c:showVal val="1"/>
            <c:showCatName val="0"/>
            <c:showSerName val="0"/>
            <c:showPercent val="0"/>
            <c:showBubbleSize val="0"/>
            <c:showLeaderLines val="0"/>
          </c:dLbls>
          <c:dPt>
            <c:idx val="0"/>
            <c:invertIfNegative val="0"/>
            <c:bubble3D val="0"/>
            <c:spPr>
              <a:solidFill>
                <a:srgbClr val="64748B"/>
              </a:solidFill>
              <a:effectLst/>
            </c:spPr>
          </c:dPt>
          <c:dPt>
            <c:idx val="1"/>
            <c:invertIfNegative val="0"/>
            <c:bubble3D val="0"/>
            <c:spPr>
              <a:solidFill>
                <a:srgbClr val="0E7C86"/>
              </a:solidFill>
              <a:effectLst/>
            </c:spPr>
          </c:dPt>
          <c:cat>
            <c:multiLvlStrRef>
              <c:f>Sheet1!$A$2:$A$3</c:f>
              <c:multiLvlStrCache>
                <c:ptCount val="2"/>
                <c:lvl>
                  <c:pt idx="0">
                    <c:v>Actual FY25</c:v>
                  </c:pt>
                  <c:pt idx="1">
                    <c:v>With 20% discount cap</c:v>
                  </c:pt>
                </c:lvl>
              </c:multiLvlStrCache>
            </c:multiLvlStrRef>
          </c:cat>
          <c:val>
            <c:numRef>
              <c:f>Sheet1!$B$2:$B$3</c:f>
              <c:numCache>
                <c:formatCode>General</c:formatCode>
                <c:ptCount val="2"/>
                <c:pt idx="0">
                  <c:v>59.6</c:v>
                </c:pt>
                <c:pt idx="1">
                  <c:v>67.1</c:v>
                </c:pt>
              </c:numCache>
            </c:numRef>
          </c:val>
        </c:ser>
        <c:dLbls>
          <c:numFmt formatCode="$0.0&quot;K&quot;" sourceLinked="0"/>
          <c:txPr>
            <a:bodyPr/>
            <a:lstStyle/>
            <a:p>
              <a:pPr>
                <a:defRPr b="0" i="0" strike="noStrike" sz="1600" u="none">
                  <a:solidFill>
                    <a:srgbClr val="1F2937"/>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64748B"/>
                </a:solidFill>
                <a:latin typeface="Calibri"/>
              </a:defRPr>
            </a:pPr>
            <a:endParaRPr lang="en-US"/>
          </a:p>
        </c:txPr>
        <c:crossAx val="2094734552"/>
        <c:crosses val="autoZero"/>
        <c:auto val="1"/>
        <c:lblAlgn val="ctr"/>
        <c:noMultiLvlLbl val="1"/>
      </c:catAx>
      <c:valAx>
        <c:axId val="2094734552"/>
        <c:scaling>
          <c:orientation val="minMax"/>
          <c:max val="8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This dashboard was built for senior management: it tells them what happened to the business, why, and what to do. The three numbers on the right are the headline: about $1.65M of revenue over four years, $194K profit, and an 11.8% margin. The rest of the talk explains why that margin is under pressure.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flow: we start with the business problem, explain the data and KPIs, show the dashboard, then follow the storytelling sequence of what happened, why it happened, and what action to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business problem in one sentence: revenue almost doubled but profit grew much more slowly, so margin is shrinking. The dashboard is designed to answer three management questions: what happened, why it happened, and what action to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dataset follows the popular Superstore schema with order-level sales, discount, profit, shipping days and returns. Mention that you used Power BI for modelling and the dashboard, Excel or Power Query for cleaning, and GitHub for the submission. Replace the source line with your actual dataset name and link if you use a different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pipeline: import, clean, model, write measures, visualize. A star schema keeps the model simple and fast: one Sales fact table linked to Date, Region, Category and Segment dimensions. The DAX measures on the right power every KPI card, so definitions stay consistent across the whole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KPIs were chosen to cover the categories in the guidelines: revenue, profit, growth, risk, efficiency and compliance. Each KPI has a definition and a target so management can see instantly whether the business is on track. The colours already tell the story: growth is green, but profit margin, risk and compliance are all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recommended structure from the dashboard guidelines. KPI cards on top give the answer in five seconds, trends and comparisons in the middle explain the change, a detailed table at the bottom supports drill-down, and slicers on the side let managers filter by year, region, category and segment.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dashboard view. Walk through it top to bottom: KPI cards first, then the sales trend and margin, the category and region comparisons, then the discount band, region by category heat-map and delivery panels, and finally the key insights on the right. If you rebuild the dashboard in Power BI or Tableau, replace this picture with your own screenshot. In the walkthrough video, click the slicers live: set Year to 2025, then Region to Central, and show how the Furniture margin turns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'what happened' slide. Bars show revenue by year: it grows every year, up 93% in total. The amber line is profit margin, which falls from 13.0% to 11.3%. So growth is real, but it is becoming less profitable.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reason. In the left chart, margin falls steadily as discount increases and turns negative at 30% and above. On the right, the share of very heavy discounts in Furniture in the Central and South regions grew from 9.5% to 35.9% in four years. Discounting is buying revenue at the cost of profit.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heat-map table is the detailed analysis section of the dashboard. Red cells show the problem: Furniture in Central and South. Technology and Office Supplies earn healthy margins in every region. This tells management the fix should be targeted rather than a company-wide cost 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KPI signals. On the left, only West and East meet the 85% on-time SLA; Central and South are well below. On the right, the share of loss-making orders rose from 13.4% to 17.4%. The same regions appear in every problem, which strengthens the case for a targeted regional action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whole story in 30 seconds. What happened: growth without matching profit. Why: discounting, one weak product-region combination, and slow delivery. What to do: the three actions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recommendation has an owner, a measurable impact and a timeline, so management can act on it. The first action is the quickest win: capping discounts at 20% is a policy change that can be applied within a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business-impact slide. It is a simple what-if scenario on FY25 data, not a forecast. Even if we lose 15% of the orders that were discounted above 20%, profit rises from $59.6K to about $67.1K, and margin recovers to roughly 12.7%. Explain that you can build this as a what-if parameter in Power BI so managers can test different caps.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walkthrough with the four takeaways, then briefly mention what you learned and what you would build next if you had more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your own submission planning and can be removed before presenting to management. Complete at least three projects to be eligible for the certificate, and submit each one only through the official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1.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image" Target="../media/image-10-1.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3"/>
        </a:solidFill>
      </p:bgPr>
    </p:bg>
    <p:spTree>
      <p:nvGrpSpPr>
        <p:cNvPr id="1" name=""/>
        <p:cNvGrpSpPr/>
        <p:nvPr/>
      </p:nvGrpSpPr>
      <p:grpSpPr>
        <a:xfrm>
          <a:off x="0" y="0"/>
          <a:ext cx="0" cy="0"/>
          <a:chOff x="0" y="0"/>
          <a:chExt cx="0" cy="0"/>
        </a:xfrm>
      </p:grpSpPr>
      <p:sp>
        <p:nvSpPr>
          <p:cNvPr id="2" name="Text 0"/>
          <p:cNvSpPr txBox="1"/>
          <p:nvPr/>
        </p:nvSpPr>
        <p:spPr>
          <a:xfrm>
            <a:off x="731520" y="1097280"/>
            <a:ext cx="6400800" cy="274320"/>
          </a:xfrm>
          <a:prstGeom prst="rect">
            <a:avLst/>
          </a:prstGeom>
          <a:noFill/>
          <a:ln/>
        </p:spPr>
        <p:txBody>
          <a:bodyPr wrap="square" lIns="0" tIns="0" rIns="0" bIns="0" rtlCol="0" anchor="t"/>
          <a:lstStyle/>
          <a:p>
            <a:pPr indent="0" marL="0">
              <a:buNone/>
            </a:pPr>
            <a:r>
              <a:rPr lang="en-US" sz="1300" b="1" spc="300" kern="0" dirty="0">
                <a:solidFill>
                  <a:srgbClr val="F59E0B"/>
                </a:solidFill>
                <a:latin typeface="Calibri" pitchFamily="34" charset="0"/>
                <a:ea typeface="Calibri" pitchFamily="34" charset="-122"/>
                <a:cs typeface="Calibri" pitchFamily="34" charset="-120"/>
              </a:rPr>
              <a:t>DATA ANALYTICS INTERNSHIP PROJECT</a:t>
            </a:r>
            <a:endParaRPr lang="en-US" sz="1300" dirty="0"/>
          </a:p>
        </p:txBody>
      </p:sp>
      <p:sp>
        <p:nvSpPr>
          <p:cNvPr id="3" name="Text 1"/>
          <p:cNvSpPr txBox="1"/>
          <p:nvPr/>
        </p:nvSpPr>
        <p:spPr>
          <a:xfrm>
            <a:off x="731520" y="1554480"/>
            <a:ext cx="6309360" cy="210312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Executive Business Intelligence Dashboard</a:t>
            </a:r>
            <a:endParaRPr lang="en-US" sz="4600" dirty="0"/>
          </a:p>
        </p:txBody>
      </p:sp>
      <p:sp>
        <p:nvSpPr>
          <p:cNvPr id="4" name="Text 2"/>
          <p:cNvSpPr txBox="1"/>
          <p:nvPr/>
        </p:nvSpPr>
        <p:spPr>
          <a:xfrm>
            <a:off x="731520" y="3383280"/>
            <a:ext cx="5852160" cy="914400"/>
          </a:xfrm>
          <a:prstGeom prst="rect">
            <a:avLst/>
          </a:prstGeom>
          <a:noFill/>
          <a:ln/>
        </p:spPr>
        <p:txBody>
          <a:bodyPr wrap="square" lIns="0" tIns="0" rIns="0" bIns="0" rtlCol="0" anchor="t"/>
          <a:lstStyle/>
          <a:p>
            <a:pPr indent="0" marL="0">
              <a:buNone/>
            </a:pPr>
            <a:r>
              <a:rPr lang="en-US" sz="1800" dirty="0">
                <a:solidFill>
                  <a:srgbClr val="C9D6E2"/>
                </a:solidFill>
                <a:latin typeface="Calibri" pitchFamily="34" charset="0"/>
                <a:ea typeface="Calibri" pitchFamily="34" charset="-122"/>
                <a:cs typeface="Calibri" pitchFamily="34" charset="-120"/>
              </a:rPr>
              <a:t>Turning sales data into decisions: what happened, why it happened, and what management should do next.</a:t>
            </a:r>
            <a:endParaRPr lang="en-US" sz="1800" dirty="0"/>
          </a:p>
        </p:txBody>
      </p:sp>
      <p:sp>
        <p:nvSpPr>
          <p:cNvPr id="5" name="Text 3"/>
          <p:cNvSpPr txBox="1"/>
          <p:nvPr/>
        </p:nvSpPr>
        <p:spPr>
          <a:xfrm>
            <a:off x="731520" y="5852160"/>
            <a:ext cx="7315200" cy="274320"/>
          </a:xfrm>
          <a:prstGeom prst="rect">
            <a:avLst/>
          </a:prstGeom>
          <a:noFill/>
          <a:ln/>
        </p:spPr>
        <p:txBody>
          <a:bodyPr wrap="square" lIns="0" tIns="0" rIns="0" bIns="0" rtlCol="0" anchor="t"/>
          <a:lstStyle/>
          <a:p>
            <a:pPr indent="0" marL="0">
              <a:buNone/>
            </a:pPr>
            <a:r>
              <a:rPr lang="en-US" sz="1300" dirty="0">
                <a:solidFill>
                  <a:srgbClr val="9FB3C8"/>
                </a:solidFill>
                <a:latin typeface="Calibri" pitchFamily="34" charset="0"/>
                <a:ea typeface="Calibri" pitchFamily="34" charset="-122"/>
                <a:cs typeface="Calibri" pitchFamily="34" charset="-120"/>
              </a:rPr>
              <a:t>Prepared by: Vaishali A   |   Tool: Power BI   |   September 2026</a:t>
            </a:r>
            <a:endParaRPr lang="en-US" sz="1300" dirty="0"/>
          </a:p>
        </p:txBody>
      </p:sp>
      <p:sp>
        <p:nvSpPr>
          <p:cNvPr id="6" name="Shape 4"/>
          <p:cNvSpPr/>
          <p:nvPr/>
        </p:nvSpPr>
        <p:spPr>
          <a:xfrm>
            <a:off x="7863840" y="1188720"/>
            <a:ext cx="3657600" cy="1325880"/>
          </a:xfrm>
          <a:prstGeom prst="roundRect">
            <a:avLst>
              <a:gd name="adj" fmla="val 6897"/>
            </a:avLst>
          </a:prstGeom>
          <a:solidFill>
            <a:srgbClr val="13304B"/>
          </a:solidFill>
          <a:ln w="12700">
            <a:solidFill>
              <a:srgbClr val="24496B"/>
            </a:solidFill>
            <a:prstDash val="solid"/>
          </a:ln>
        </p:spPr>
      </p:sp>
      <p:sp>
        <p:nvSpPr>
          <p:cNvPr id="7" name="Text 5"/>
          <p:cNvSpPr txBox="1"/>
          <p:nvPr/>
        </p:nvSpPr>
        <p:spPr>
          <a:xfrm>
            <a:off x="8138160" y="1389888"/>
            <a:ext cx="3108960" cy="274320"/>
          </a:xfrm>
          <a:prstGeom prst="rect">
            <a:avLst/>
          </a:prstGeom>
          <a:noFill/>
          <a:ln/>
        </p:spPr>
        <p:txBody>
          <a:bodyPr wrap="square" lIns="0" tIns="0" rIns="0" bIns="0" rtlCol="0" anchor="t"/>
          <a:lstStyle/>
          <a:p>
            <a:pPr indent="0" marL="0">
              <a:buNone/>
            </a:pPr>
            <a:r>
              <a:rPr lang="en-US" sz="1300" dirty="0">
                <a:solidFill>
                  <a:srgbClr val="9FB3C8"/>
                </a:solidFill>
                <a:latin typeface="Calibri" pitchFamily="34" charset="0"/>
                <a:ea typeface="Calibri" pitchFamily="34" charset="-122"/>
                <a:cs typeface="Calibri" pitchFamily="34" charset="-120"/>
              </a:rPr>
              <a:t>Revenue (FY22–FY25)</a:t>
            </a:r>
            <a:endParaRPr lang="en-US" sz="1300" dirty="0"/>
          </a:p>
        </p:txBody>
      </p:sp>
      <p:sp>
        <p:nvSpPr>
          <p:cNvPr id="8" name="Text 6"/>
          <p:cNvSpPr txBox="1"/>
          <p:nvPr/>
        </p:nvSpPr>
        <p:spPr>
          <a:xfrm>
            <a:off x="8138160" y="1691640"/>
            <a:ext cx="3108960" cy="64008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$1.65M</a:t>
            </a:r>
            <a:endParaRPr lang="en-US" sz="3600" dirty="0"/>
          </a:p>
        </p:txBody>
      </p:sp>
      <p:sp>
        <p:nvSpPr>
          <p:cNvPr id="9" name="Shape 7"/>
          <p:cNvSpPr/>
          <p:nvPr/>
        </p:nvSpPr>
        <p:spPr>
          <a:xfrm>
            <a:off x="7863840" y="2743200"/>
            <a:ext cx="3657600" cy="1325880"/>
          </a:xfrm>
          <a:prstGeom prst="roundRect">
            <a:avLst>
              <a:gd name="adj" fmla="val 6897"/>
            </a:avLst>
          </a:prstGeom>
          <a:solidFill>
            <a:srgbClr val="13304B"/>
          </a:solidFill>
          <a:ln w="12700">
            <a:solidFill>
              <a:srgbClr val="24496B"/>
            </a:solidFill>
            <a:prstDash val="solid"/>
          </a:ln>
        </p:spPr>
      </p:sp>
      <p:sp>
        <p:nvSpPr>
          <p:cNvPr id="10" name="Text 8"/>
          <p:cNvSpPr txBox="1"/>
          <p:nvPr/>
        </p:nvSpPr>
        <p:spPr>
          <a:xfrm>
            <a:off x="8138160" y="2944368"/>
            <a:ext cx="3108960" cy="274320"/>
          </a:xfrm>
          <a:prstGeom prst="rect">
            <a:avLst/>
          </a:prstGeom>
          <a:noFill/>
          <a:ln/>
        </p:spPr>
        <p:txBody>
          <a:bodyPr wrap="square" lIns="0" tIns="0" rIns="0" bIns="0" rtlCol="0" anchor="t"/>
          <a:lstStyle/>
          <a:p>
            <a:pPr indent="0" marL="0">
              <a:buNone/>
            </a:pPr>
            <a:r>
              <a:rPr lang="en-US" sz="1300" dirty="0">
                <a:solidFill>
                  <a:srgbClr val="9FB3C8"/>
                </a:solidFill>
                <a:latin typeface="Calibri" pitchFamily="34" charset="0"/>
                <a:ea typeface="Calibri" pitchFamily="34" charset="-122"/>
                <a:cs typeface="Calibri" pitchFamily="34" charset="-120"/>
              </a:rPr>
              <a:t>Profit</a:t>
            </a:r>
            <a:endParaRPr lang="en-US" sz="1300" dirty="0"/>
          </a:p>
        </p:txBody>
      </p:sp>
      <p:sp>
        <p:nvSpPr>
          <p:cNvPr id="11" name="Text 9"/>
          <p:cNvSpPr txBox="1"/>
          <p:nvPr/>
        </p:nvSpPr>
        <p:spPr>
          <a:xfrm>
            <a:off x="8138160" y="3246120"/>
            <a:ext cx="3108960" cy="64008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$194.4K</a:t>
            </a:r>
            <a:endParaRPr lang="en-US" sz="3600" dirty="0"/>
          </a:p>
        </p:txBody>
      </p:sp>
      <p:sp>
        <p:nvSpPr>
          <p:cNvPr id="12" name="Shape 10"/>
          <p:cNvSpPr/>
          <p:nvPr/>
        </p:nvSpPr>
        <p:spPr>
          <a:xfrm>
            <a:off x="7863840" y="4297680"/>
            <a:ext cx="3657600" cy="1325880"/>
          </a:xfrm>
          <a:prstGeom prst="roundRect">
            <a:avLst>
              <a:gd name="adj" fmla="val 6897"/>
            </a:avLst>
          </a:prstGeom>
          <a:solidFill>
            <a:srgbClr val="13304B"/>
          </a:solidFill>
          <a:ln w="12700">
            <a:solidFill>
              <a:srgbClr val="24496B"/>
            </a:solidFill>
            <a:prstDash val="solid"/>
          </a:ln>
        </p:spPr>
      </p:sp>
      <p:sp>
        <p:nvSpPr>
          <p:cNvPr id="13" name="Text 11"/>
          <p:cNvSpPr txBox="1"/>
          <p:nvPr/>
        </p:nvSpPr>
        <p:spPr>
          <a:xfrm>
            <a:off x="8138160" y="4498848"/>
            <a:ext cx="3108960" cy="274320"/>
          </a:xfrm>
          <a:prstGeom prst="rect">
            <a:avLst/>
          </a:prstGeom>
          <a:noFill/>
          <a:ln/>
        </p:spPr>
        <p:txBody>
          <a:bodyPr wrap="square" lIns="0" tIns="0" rIns="0" bIns="0" rtlCol="0" anchor="t"/>
          <a:lstStyle/>
          <a:p>
            <a:pPr indent="0" marL="0">
              <a:buNone/>
            </a:pPr>
            <a:r>
              <a:rPr lang="en-US" sz="1300" dirty="0">
                <a:solidFill>
                  <a:srgbClr val="9FB3C8"/>
                </a:solidFill>
                <a:latin typeface="Calibri" pitchFamily="34" charset="0"/>
                <a:ea typeface="Calibri" pitchFamily="34" charset="-122"/>
                <a:cs typeface="Calibri" pitchFamily="34" charset="-120"/>
              </a:rPr>
              <a:t>Profit margin</a:t>
            </a:r>
            <a:endParaRPr lang="en-US" sz="1300" dirty="0"/>
          </a:p>
        </p:txBody>
      </p:sp>
      <p:sp>
        <p:nvSpPr>
          <p:cNvPr id="14" name="Text 12"/>
          <p:cNvSpPr txBox="1"/>
          <p:nvPr/>
        </p:nvSpPr>
        <p:spPr>
          <a:xfrm>
            <a:off x="8138160" y="4800600"/>
            <a:ext cx="3108960" cy="640080"/>
          </a:xfrm>
          <a:prstGeom prst="rect">
            <a:avLst/>
          </a:prstGeom>
          <a:noFill/>
          <a:ln/>
        </p:spPr>
        <p:txBody>
          <a:bodyPr wrap="square" lIns="0" tIns="0" rIns="0" bIns="0" rtlCol="0" anchor="t"/>
          <a:lstStyle/>
          <a:p>
            <a:pPr indent="0" marL="0">
              <a:buNone/>
            </a:pPr>
            <a:r>
              <a:rPr lang="en-US" sz="3600" b="1" dirty="0">
                <a:solidFill>
                  <a:srgbClr val="F59E0B"/>
                </a:solidFill>
                <a:latin typeface="Cambria" pitchFamily="34" charset="0"/>
                <a:ea typeface="Cambria" pitchFamily="34" charset="-122"/>
                <a:cs typeface="Cambria" pitchFamily="34" charset="-120"/>
              </a:rPr>
              <a:t>11.8%</a:t>
            </a:r>
            <a:endParaRPr lang="en-US"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6F9"/>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28600"/>
          </a:xfrm>
          <a:prstGeom prst="rect">
            <a:avLst/>
          </a:prstGeom>
          <a:noFill/>
          <a:ln/>
        </p:spPr>
        <p:txBody>
          <a:bodyPr wrap="square" lIns="0" tIns="0" rIns="0" bIns="0" rtlCol="0" anchor="t"/>
          <a:lstStyle/>
          <a:p>
            <a:pPr indent="0" marL="0">
              <a:buNone/>
            </a:pPr>
            <a:r>
              <a:rPr lang="en-US" sz="1100" b="1" spc="300" kern="0" dirty="0">
                <a:solidFill>
                  <a:srgbClr val="0E7C86"/>
                </a:solidFill>
                <a:latin typeface="Calibri" pitchFamily="34" charset="0"/>
                <a:ea typeface="Calibri" pitchFamily="34" charset="-122"/>
                <a:cs typeface="Calibri" pitchFamily="34" charset="-120"/>
              </a:rPr>
              <a:t>AGENDA</a:t>
            </a:r>
            <a:endParaRPr lang="en-US" sz="1100" dirty="0"/>
          </a:p>
        </p:txBody>
      </p:sp>
      <p:sp>
        <p:nvSpPr>
          <p:cNvPr id="3" name="Text 1"/>
          <p:cNvSpPr txBox="1"/>
          <p:nvPr/>
        </p:nvSpPr>
        <p:spPr>
          <a:xfrm>
            <a:off x="548640" y="530352"/>
            <a:ext cx="11064240" cy="54864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What this presentation covers</a:t>
            </a:r>
            <a:endParaRPr lang="en-US" sz="2800" dirty="0"/>
          </a:p>
        </p:txBody>
      </p:sp>
      <p:sp>
        <p:nvSpPr>
          <p:cNvPr id="4" name="Text 2"/>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Executive Business Intelligence Dashboard</a:t>
            </a:r>
            <a:endParaRPr lang="en-US" sz="1000" dirty="0"/>
          </a:p>
        </p:txBody>
      </p:sp>
      <p:sp>
        <p:nvSpPr>
          <p:cNvPr id="5" name="Text 3"/>
          <p:cNvSpPr txBox="1"/>
          <p:nvPr/>
        </p:nvSpPr>
        <p:spPr>
          <a:xfrm>
            <a:off x="11091672" y="6510528"/>
            <a:ext cx="548640" cy="228600"/>
          </a:xfrm>
          <a:prstGeom prst="rect">
            <a:avLst/>
          </a:prstGeom>
          <a:noFill/>
          <a:ln/>
        </p:spPr>
        <p:txBody>
          <a:bodyPr wrap="square" lIns="0" tIns="0" rIns="0" bIns="0" rtlCol="0" anchor="t"/>
          <a:lstStyle/>
          <a:p>
            <a:pPr algn="r" indent="0" marL="0">
              <a:buNone/>
            </a:pPr>
            <a:r>
              <a:rPr lang="en-US" sz="1000" dirty="0">
                <a:solidFill>
                  <a:srgbClr val="64748B"/>
                </a:solidFill>
                <a:latin typeface="Calibri" pitchFamily="34" charset="0"/>
                <a:ea typeface="Calibri" pitchFamily="34" charset="-122"/>
                <a:cs typeface="Calibri" pitchFamily="34" charset="-120"/>
              </a:rPr>
              <a:t>2</a:t>
            </a:r>
            <a:endParaRPr lang="en-US" sz="1000" dirty="0"/>
          </a:p>
        </p:txBody>
      </p:sp>
      <p:sp>
        <p:nvSpPr>
          <p:cNvPr id="6" name="Shape 4"/>
          <p:cNvSpPr/>
          <p:nvPr/>
        </p:nvSpPr>
        <p:spPr>
          <a:xfrm>
            <a:off x="548640" y="1554480"/>
            <a:ext cx="2606040" cy="2148840"/>
          </a:xfrm>
          <a:prstGeom prst="roundRect">
            <a:avLst>
              <a:gd name="adj" fmla="val 3404"/>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7" name="Shape 5"/>
          <p:cNvSpPr/>
          <p:nvPr/>
        </p:nvSpPr>
        <p:spPr>
          <a:xfrm>
            <a:off x="777240" y="1783080"/>
            <a:ext cx="594360" cy="594360"/>
          </a:xfrm>
          <a:prstGeom prst="ellipse">
            <a:avLst/>
          </a:prstGeom>
          <a:solidFill>
            <a:srgbClr val="0E7C86"/>
          </a:solidFill>
          <a:ln w="6350">
            <a:solidFill>
              <a:srgbClr val="0E7C86"/>
            </a:solidFill>
            <a:prstDash val="solid"/>
          </a:ln>
        </p:spPr>
      </p:sp>
      <p:pic>
        <p:nvPicPr>
          <p:cNvPr id="8" name="Image 0" descr="preencoded.png">    </p:cNvPr>
          <p:cNvPicPr>
            <a:picLocks noChangeAspect="1"/>
          </p:cNvPicPr>
          <p:nvPr/>
        </p:nvPicPr>
        <p:blipFill>
          <a:blip r:embed="rId1"/>
          <a:stretch>
            <a:fillRect/>
          </a:stretch>
        </p:blipFill>
        <p:spPr>
          <a:xfrm>
            <a:off x="931774" y="1937614"/>
            <a:ext cx="285293" cy="285293"/>
          </a:xfrm>
          <a:prstGeom prst="rect">
            <a:avLst/>
          </a:prstGeom>
        </p:spPr>
      </p:pic>
      <p:sp>
        <p:nvSpPr>
          <p:cNvPr id="9" name="Text 6"/>
          <p:cNvSpPr txBox="1"/>
          <p:nvPr/>
        </p:nvSpPr>
        <p:spPr>
          <a:xfrm>
            <a:off x="2377440" y="1783080"/>
            <a:ext cx="548640" cy="365760"/>
          </a:xfrm>
          <a:prstGeom prst="rect">
            <a:avLst/>
          </a:prstGeom>
          <a:noFill/>
          <a:ln/>
        </p:spPr>
        <p:txBody>
          <a:bodyPr wrap="square" lIns="0" tIns="0" rIns="0" bIns="0" rtlCol="0" anchor="t"/>
          <a:lstStyle/>
          <a:p>
            <a:pPr algn="r" indent="0" marL="0">
              <a:buNone/>
            </a:pPr>
            <a:r>
              <a:rPr lang="en-US" sz="2400" b="1" dirty="0">
                <a:solidFill>
                  <a:srgbClr val="D9E1E8"/>
                </a:solidFill>
                <a:latin typeface="Cambria" pitchFamily="34" charset="0"/>
                <a:ea typeface="Cambria" pitchFamily="34" charset="-122"/>
                <a:cs typeface="Cambria" pitchFamily="34" charset="-120"/>
              </a:rPr>
              <a:t>01</a:t>
            </a:r>
            <a:endParaRPr lang="en-US" sz="2400" dirty="0"/>
          </a:p>
        </p:txBody>
      </p:sp>
      <p:sp>
        <p:nvSpPr>
          <p:cNvPr id="10" name="Text 7"/>
          <p:cNvSpPr txBox="1"/>
          <p:nvPr/>
        </p:nvSpPr>
        <p:spPr>
          <a:xfrm>
            <a:off x="777240" y="2606040"/>
            <a:ext cx="2148840" cy="365760"/>
          </a:xfrm>
          <a:prstGeom prst="rect">
            <a:avLst/>
          </a:prstGeom>
          <a:noFill/>
          <a:ln/>
        </p:spPr>
        <p:txBody>
          <a:bodyPr wrap="square" lIns="0" tIns="0" rIns="0" bIns="0" rtlCol="0" anchor="t"/>
          <a:lstStyle/>
          <a:p>
            <a:pPr indent="0" marL="0">
              <a:buNone/>
            </a:pPr>
            <a:r>
              <a:rPr lang="en-US" sz="1700" b="1" dirty="0">
                <a:solidFill>
                  <a:srgbClr val="0B1F33"/>
                </a:solidFill>
                <a:latin typeface="Calibri" pitchFamily="34" charset="0"/>
                <a:ea typeface="Calibri" pitchFamily="34" charset="-122"/>
                <a:cs typeface="Calibri" pitchFamily="34" charset="-120"/>
              </a:rPr>
              <a:t>Business problem</a:t>
            </a:r>
            <a:endParaRPr lang="en-US" sz="1700" dirty="0"/>
          </a:p>
        </p:txBody>
      </p:sp>
      <p:sp>
        <p:nvSpPr>
          <p:cNvPr id="11" name="Text 8"/>
          <p:cNvSpPr txBox="1"/>
          <p:nvPr/>
        </p:nvSpPr>
        <p:spPr>
          <a:xfrm>
            <a:off x="777240" y="3017520"/>
            <a:ext cx="2148840" cy="54864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Why management needs this dashboard</a:t>
            </a:r>
            <a:endParaRPr lang="en-US" sz="1300" dirty="0"/>
          </a:p>
        </p:txBody>
      </p:sp>
      <p:sp>
        <p:nvSpPr>
          <p:cNvPr id="12" name="Shape 9"/>
          <p:cNvSpPr/>
          <p:nvPr/>
        </p:nvSpPr>
        <p:spPr>
          <a:xfrm>
            <a:off x="3355848" y="1554480"/>
            <a:ext cx="2606040" cy="2148840"/>
          </a:xfrm>
          <a:prstGeom prst="roundRect">
            <a:avLst>
              <a:gd name="adj" fmla="val 3404"/>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13" name="Shape 10"/>
          <p:cNvSpPr/>
          <p:nvPr/>
        </p:nvSpPr>
        <p:spPr>
          <a:xfrm>
            <a:off x="3584448" y="1783080"/>
            <a:ext cx="594360" cy="594360"/>
          </a:xfrm>
          <a:prstGeom prst="ellipse">
            <a:avLst/>
          </a:prstGeom>
          <a:solidFill>
            <a:srgbClr val="0E7C86"/>
          </a:solidFill>
          <a:ln w="6350">
            <a:solidFill>
              <a:srgbClr val="0E7C86"/>
            </a:solidFill>
            <a:prstDash val="solid"/>
          </a:ln>
        </p:spPr>
      </p:sp>
      <p:pic>
        <p:nvPicPr>
          <p:cNvPr id="14" name="Image 1" descr="preencoded.png">    </p:cNvPr>
          <p:cNvPicPr>
            <a:picLocks noChangeAspect="1"/>
          </p:cNvPicPr>
          <p:nvPr/>
        </p:nvPicPr>
        <p:blipFill>
          <a:blip r:embed="rId2"/>
          <a:stretch>
            <a:fillRect/>
          </a:stretch>
        </p:blipFill>
        <p:spPr>
          <a:xfrm>
            <a:off x="3738982" y="1937614"/>
            <a:ext cx="285293" cy="285293"/>
          </a:xfrm>
          <a:prstGeom prst="rect">
            <a:avLst/>
          </a:prstGeom>
        </p:spPr>
      </p:pic>
      <p:sp>
        <p:nvSpPr>
          <p:cNvPr id="15" name="Text 11"/>
          <p:cNvSpPr txBox="1"/>
          <p:nvPr/>
        </p:nvSpPr>
        <p:spPr>
          <a:xfrm>
            <a:off x="5184648" y="1783080"/>
            <a:ext cx="548640" cy="365760"/>
          </a:xfrm>
          <a:prstGeom prst="rect">
            <a:avLst/>
          </a:prstGeom>
          <a:noFill/>
          <a:ln/>
        </p:spPr>
        <p:txBody>
          <a:bodyPr wrap="square" lIns="0" tIns="0" rIns="0" bIns="0" rtlCol="0" anchor="t"/>
          <a:lstStyle/>
          <a:p>
            <a:pPr algn="r" indent="0" marL="0">
              <a:buNone/>
            </a:pPr>
            <a:r>
              <a:rPr lang="en-US" sz="2400" b="1" dirty="0">
                <a:solidFill>
                  <a:srgbClr val="D9E1E8"/>
                </a:solidFill>
                <a:latin typeface="Cambria" pitchFamily="34" charset="0"/>
                <a:ea typeface="Cambria" pitchFamily="34" charset="-122"/>
                <a:cs typeface="Cambria" pitchFamily="34" charset="-120"/>
              </a:rPr>
              <a:t>02</a:t>
            </a:r>
            <a:endParaRPr lang="en-US" sz="2400" dirty="0"/>
          </a:p>
        </p:txBody>
      </p:sp>
      <p:sp>
        <p:nvSpPr>
          <p:cNvPr id="16" name="Text 12"/>
          <p:cNvSpPr txBox="1"/>
          <p:nvPr/>
        </p:nvSpPr>
        <p:spPr>
          <a:xfrm>
            <a:off x="3584448" y="2606040"/>
            <a:ext cx="2148840" cy="365760"/>
          </a:xfrm>
          <a:prstGeom prst="rect">
            <a:avLst/>
          </a:prstGeom>
          <a:noFill/>
          <a:ln/>
        </p:spPr>
        <p:txBody>
          <a:bodyPr wrap="square" lIns="0" tIns="0" rIns="0" bIns="0" rtlCol="0" anchor="t"/>
          <a:lstStyle/>
          <a:p>
            <a:pPr indent="0" marL="0">
              <a:buNone/>
            </a:pPr>
            <a:r>
              <a:rPr lang="en-US" sz="1700" b="1" dirty="0">
                <a:solidFill>
                  <a:srgbClr val="0B1F33"/>
                </a:solidFill>
                <a:latin typeface="Calibri" pitchFamily="34" charset="0"/>
                <a:ea typeface="Calibri" pitchFamily="34" charset="-122"/>
                <a:cs typeface="Calibri" pitchFamily="34" charset="-120"/>
              </a:rPr>
              <a:t>Data &amp; tools</a:t>
            </a:r>
            <a:endParaRPr lang="en-US" sz="1700" dirty="0"/>
          </a:p>
        </p:txBody>
      </p:sp>
      <p:sp>
        <p:nvSpPr>
          <p:cNvPr id="17" name="Text 13"/>
          <p:cNvSpPr txBox="1"/>
          <p:nvPr/>
        </p:nvSpPr>
        <p:spPr>
          <a:xfrm>
            <a:off x="3584448" y="3017520"/>
            <a:ext cx="2148840" cy="54864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Dataset, preparation and data model</a:t>
            </a:r>
            <a:endParaRPr lang="en-US" sz="1300" dirty="0"/>
          </a:p>
        </p:txBody>
      </p:sp>
      <p:sp>
        <p:nvSpPr>
          <p:cNvPr id="18" name="Shape 14"/>
          <p:cNvSpPr/>
          <p:nvPr/>
        </p:nvSpPr>
        <p:spPr>
          <a:xfrm>
            <a:off x="6163056" y="1554480"/>
            <a:ext cx="2606040" cy="2148840"/>
          </a:xfrm>
          <a:prstGeom prst="roundRect">
            <a:avLst>
              <a:gd name="adj" fmla="val 3404"/>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19" name="Shape 15"/>
          <p:cNvSpPr/>
          <p:nvPr/>
        </p:nvSpPr>
        <p:spPr>
          <a:xfrm>
            <a:off x="6391656" y="1783080"/>
            <a:ext cx="594360" cy="594360"/>
          </a:xfrm>
          <a:prstGeom prst="ellipse">
            <a:avLst/>
          </a:prstGeom>
          <a:solidFill>
            <a:srgbClr val="0E7C86"/>
          </a:solidFill>
          <a:ln w="6350">
            <a:solidFill>
              <a:srgbClr val="0E7C86"/>
            </a:solidFill>
            <a:prstDash val="solid"/>
          </a:ln>
        </p:spPr>
      </p:sp>
      <p:pic>
        <p:nvPicPr>
          <p:cNvPr id="20" name="Image 2" descr="preencoded.png">    </p:cNvPr>
          <p:cNvPicPr>
            <a:picLocks noChangeAspect="1"/>
          </p:cNvPicPr>
          <p:nvPr/>
        </p:nvPicPr>
        <p:blipFill>
          <a:blip r:embed="rId3"/>
          <a:stretch>
            <a:fillRect/>
          </a:stretch>
        </p:blipFill>
        <p:spPr>
          <a:xfrm>
            <a:off x="6546190" y="1937614"/>
            <a:ext cx="285293" cy="285293"/>
          </a:xfrm>
          <a:prstGeom prst="rect">
            <a:avLst/>
          </a:prstGeom>
        </p:spPr>
      </p:pic>
      <p:sp>
        <p:nvSpPr>
          <p:cNvPr id="21" name="Text 16"/>
          <p:cNvSpPr txBox="1"/>
          <p:nvPr/>
        </p:nvSpPr>
        <p:spPr>
          <a:xfrm>
            <a:off x="7991856" y="1783080"/>
            <a:ext cx="548640" cy="365760"/>
          </a:xfrm>
          <a:prstGeom prst="rect">
            <a:avLst/>
          </a:prstGeom>
          <a:noFill/>
          <a:ln/>
        </p:spPr>
        <p:txBody>
          <a:bodyPr wrap="square" lIns="0" tIns="0" rIns="0" bIns="0" rtlCol="0" anchor="t"/>
          <a:lstStyle/>
          <a:p>
            <a:pPr algn="r" indent="0" marL="0">
              <a:buNone/>
            </a:pPr>
            <a:r>
              <a:rPr lang="en-US" sz="2400" b="1" dirty="0">
                <a:solidFill>
                  <a:srgbClr val="D9E1E8"/>
                </a:solidFill>
                <a:latin typeface="Cambria" pitchFamily="34" charset="0"/>
                <a:ea typeface="Cambria" pitchFamily="34" charset="-122"/>
                <a:cs typeface="Cambria" pitchFamily="34" charset="-120"/>
              </a:rPr>
              <a:t>03</a:t>
            </a:r>
            <a:endParaRPr lang="en-US" sz="2400" dirty="0"/>
          </a:p>
        </p:txBody>
      </p:sp>
      <p:sp>
        <p:nvSpPr>
          <p:cNvPr id="22" name="Text 17"/>
          <p:cNvSpPr txBox="1"/>
          <p:nvPr/>
        </p:nvSpPr>
        <p:spPr>
          <a:xfrm>
            <a:off x="6391656" y="2606040"/>
            <a:ext cx="2148840" cy="365760"/>
          </a:xfrm>
          <a:prstGeom prst="rect">
            <a:avLst/>
          </a:prstGeom>
          <a:noFill/>
          <a:ln/>
        </p:spPr>
        <p:txBody>
          <a:bodyPr wrap="square" lIns="0" tIns="0" rIns="0" bIns="0" rtlCol="0" anchor="t"/>
          <a:lstStyle/>
          <a:p>
            <a:pPr indent="0" marL="0">
              <a:buNone/>
            </a:pPr>
            <a:r>
              <a:rPr lang="en-US" sz="1700" b="1" dirty="0">
                <a:solidFill>
                  <a:srgbClr val="0B1F33"/>
                </a:solidFill>
                <a:latin typeface="Calibri" pitchFamily="34" charset="0"/>
                <a:ea typeface="Calibri" pitchFamily="34" charset="-122"/>
                <a:cs typeface="Calibri" pitchFamily="34" charset="-120"/>
              </a:rPr>
              <a:t>KPI framework</a:t>
            </a:r>
            <a:endParaRPr lang="en-US" sz="1700" dirty="0"/>
          </a:p>
        </p:txBody>
      </p:sp>
      <p:sp>
        <p:nvSpPr>
          <p:cNvPr id="23" name="Text 18"/>
          <p:cNvSpPr txBox="1"/>
          <p:nvPr/>
        </p:nvSpPr>
        <p:spPr>
          <a:xfrm>
            <a:off x="6391656" y="3017520"/>
            <a:ext cx="2148840" cy="54864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Six KPIs across revenue, risk and compliance</a:t>
            </a:r>
            <a:endParaRPr lang="en-US" sz="1300" dirty="0"/>
          </a:p>
        </p:txBody>
      </p:sp>
      <p:sp>
        <p:nvSpPr>
          <p:cNvPr id="24" name="Shape 19"/>
          <p:cNvSpPr/>
          <p:nvPr/>
        </p:nvSpPr>
        <p:spPr>
          <a:xfrm>
            <a:off x="8970264" y="1554480"/>
            <a:ext cx="2606040" cy="2148840"/>
          </a:xfrm>
          <a:prstGeom prst="roundRect">
            <a:avLst>
              <a:gd name="adj" fmla="val 3404"/>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25" name="Shape 20"/>
          <p:cNvSpPr/>
          <p:nvPr/>
        </p:nvSpPr>
        <p:spPr>
          <a:xfrm>
            <a:off x="9198864" y="1783080"/>
            <a:ext cx="594360" cy="594360"/>
          </a:xfrm>
          <a:prstGeom prst="ellipse">
            <a:avLst/>
          </a:prstGeom>
          <a:solidFill>
            <a:srgbClr val="0E7C86"/>
          </a:solidFill>
          <a:ln w="6350">
            <a:solidFill>
              <a:srgbClr val="0E7C86"/>
            </a:solidFill>
            <a:prstDash val="solid"/>
          </a:ln>
        </p:spPr>
      </p:sp>
      <p:pic>
        <p:nvPicPr>
          <p:cNvPr id="26" name="Image 3" descr="preencoded.png">    </p:cNvPr>
          <p:cNvPicPr>
            <a:picLocks noChangeAspect="1"/>
          </p:cNvPicPr>
          <p:nvPr/>
        </p:nvPicPr>
        <p:blipFill>
          <a:blip r:embed="rId4"/>
          <a:stretch>
            <a:fillRect/>
          </a:stretch>
        </p:blipFill>
        <p:spPr>
          <a:xfrm>
            <a:off x="9353398" y="1937614"/>
            <a:ext cx="285293" cy="285293"/>
          </a:xfrm>
          <a:prstGeom prst="rect">
            <a:avLst/>
          </a:prstGeom>
        </p:spPr>
      </p:pic>
      <p:sp>
        <p:nvSpPr>
          <p:cNvPr id="27" name="Text 21"/>
          <p:cNvSpPr txBox="1"/>
          <p:nvPr/>
        </p:nvSpPr>
        <p:spPr>
          <a:xfrm>
            <a:off x="10799064" y="1783080"/>
            <a:ext cx="548640" cy="365760"/>
          </a:xfrm>
          <a:prstGeom prst="rect">
            <a:avLst/>
          </a:prstGeom>
          <a:noFill/>
          <a:ln/>
        </p:spPr>
        <p:txBody>
          <a:bodyPr wrap="square" lIns="0" tIns="0" rIns="0" bIns="0" rtlCol="0" anchor="t"/>
          <a:lstStyle/>
          <a:p>
            <a:pPr algn="r" indent="0" marL="0">
              <a:buNone/>
            </a:pPr>
            <a:r>
              <a:rPr lang="en-US" sz="2400" b="1" dirty="0">
                <a:solidFill>
                  <a:srgbClr val="D9E1E8"/>
                </a:solidFill>
                <a:latin typeface="Cambria" pitchFamily="34" charset="0"/>
                <a:ea typeface="Cambria" pitchFamily="34" charset="-122"/>
                <a:cs typeface="Cambria" pitchFamily="34" charset="-120"/>
              </a:rPr>
              <a:t>04</a:t>
            </a:r>
            <a:endParaRPr lang="en-US" sz="2400" dirty="0"/>
          </a:p>
        </p:txBody>
      </p:sp>
      <p:sp>
        <p:nvSpPr>
          <p:cNvPr id="28" name="Text 22"/>
          <p:cNvSpPr txBox="1"/>
          <p:nvPr/>
        </p:nvSpPr>
        <p:spPr>
          <a:xfrm>
            <a:off x="9198864" y="2606040"/>
            <a:ext cx="2148840" cy="365760"/>
          </a:xfrm>
          <a:prstGeom prst="rect">
            <a:avLst/>
          </a:prstGeom>
          <a:noFill/>
          <a:ln/>
        </p:spPr>
        <p:txBody>
          <a:bodyPr wrap="square" lIns="0" tIns="0" rIns="0" bIns="0" rtlCol="0" anchor="t"/>
          <a:lstStyle/>
          <a:p>
            <a:pPr indent="0" marL="0">
              <a:buNone/>
            </a:pPr>
            <a:r>
              <a:rPr lang="en-US" sz="1700" b="1" dirty="0">
                <a:solidFill>
                  <a:srgbClr val="0B1F33"/>
                </a:solidFill>
                <a:latin typeface="Calibri" pitchFamily="34" charset="0"/>
                <a:ea typeface="Calibri" pitchFamily="34" charset="-122"/>
                <a:cs typeface="Calibri" pitchFamily="34" charset="-120"/>
              </a:rPr>
              <a:t>Dashboard design</a:t>
            </a:r>
            <a:endParaRPr lang="en-US" sz="1700" dirty="0"/>
          </a:p>
        </p:txBody>
      </p:sp>
      <p:sp>
        <p:nvSpPr>
          <p:cNvPr id="29" name="Text 23"/>
          <p:cNvSpPr txBox="1"/>
          <p:nvPr/>
        </p:nvSpPr>
        <p:spPr>
          <a:xfrm>
            <a:off x="9198864" y="3017520"/>
            <a:ext cx="2148840" cy="54864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Layout, filters and the final dashboard</a:t>
            </a:r>
            <a:endParaRPr lang="en-US" sz="1300" dirty="0"/>
          </a:p>
        </p:txBody>
      </p:sp>
      <p:sp>
        <p:nvSpPr>
          <p:cNvPr id="30" name="Shape 24"/>
          <p:cNvSpPr/>
          <p:nvPr/>
        </p:nvSpPr>
        <p:spPr>
          <a:xfrm>
            <a:off x="548640" y="3931920"/>
            <a:ext cx="2606040" cy="2148840"/>
          </a:xfrm>
          <a:prstGeom prst="roundRect">
            <a:avLst>
              <a:gd name="adj" fmla="val 3404"/>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31" name="Shape 25"/>
          <p:cNvSpPr/>
          <p:nvPr/>
        </p:nvSpPr>
        <p:spPr>
          <a:xfrm>
            <a:off x="777240" y="4160520"/>
            <a:ext cx="594360" cy="594360"/>
          </a:xfrm>
          <a:prstGeom prst="ellipse">
            <a:avLst/>
          </a:prstGeom>
          <a:solidFill>
            <a:srgbClr val="0E7C86"/>
          </a:solidFill>
          <a:ln w="6350">
            <a:solidFill>
              <a:srgbClr val="0E7C86"/>
            </a:solidFill>
            <a:prstDash val="solid"/>
          </a:ln>
        </p:spPr>
      </p:sp>
      <p:pic>
        <p:nvPicPr>
          <p:cNvPr id="32" name="Image 4" descr="preencoded.png">    </p:cNvPr>
          <p:cNvPicPr>
            <a:picLocks noChangeAspect="1"/>
          </p:cNvPicPr>
          <p:nvPr/>
        </p:nvPicPr>
        <p:blipFill>
          <a:blip r:embed="rId5"/>
          <a:stretch>
            <a:fillRect/>
          </a:stretch>
        </p:blipFill>
        <p:spPr>
          <a:xfrm>
            <a:off x="931774" y="4315054"/>
            <a:ext cx="285293" cy="285293"/>
          </a:xfrm>
          <a:prstGeom prst="rect">
            <a:avLst/>
          </a:prstGeom>
        </p:spPr>
      </p:pic>
      <p:sp>
        <p:nvSpPr>
          <p:cNvPr id="33" name="Text 26"/>
          <p:cNvSpPr txBox="1"/>
          <p:nvPr/>
        </p:nvSpPr>
        <p:spPr>
          <a:xfrm>
            <a:off x="2377440" y="4160520"/>
            <a:ext cx="548640" cy="365760"/>
          </a:xfrm>
          <a:prstGeom prst="rect">
            <a:avLst/>
          </a:prstGeom>
          <a:noFill/>
          <a:ln/>
        </p:spPr>
        <p:txBody>
          <a:bodyPr wrap="square" lIns="0" tIns="0" rIns="0" bIns="0" rtlCol="0" anchor="t"/>
          <a:lstStyle/>
          <a:p>
            <a:pPr algn="r" indent="0" marL="0">
              <a:buNone/>
            </a:pPr>
            <a:r>
              <a:rPr lang="en-US" sz="2400" b="1" dirty="0">
                <a:solidFill>
                  <a:srgbClr val="D9E1E8"/>
                </a:solidFill>
                <a:latin typeface="Cambria" pitchFamily="34" charset="0"/>
                <a:ea typeface="Cambria" pitchFamily="34" charset="-122"/>
                <a:cs typeface="Cambria" pitchFamily="34" charset="-120"/>
              </a:rPr>
              <a:t>05</a:t>
            </a:r>
            <a:endParaRPr lang="en-US" sz="2400" dirty="0"/>
          </a:p>
        </p:txBody>
      </p:sp>
      <p:sp>
        <p:nvSpPr>
          <p:cNvPr id="34" name="Text 27"/>
          <p:cNvSpPr txBox="1"/>
          <p:nvPr/>
        </p:nvSpPr>
        <p:spPr>
          <a:xfrm>
            <a:off x="777240" y="4983480"/>
            <a:ext cx="2148840" cy="365760"/>
          </a:xfrm>
          <a:prstGeom prst="rect">
            <a:avLst/>
          </a:prstGeom>
          <a:noFill/>
          <a:ln/>
        </p:spPr>
        <p:txBody>
          <a:bodyPr wrap="square" lIns="0" tIns="0" rIns="0" bIns="0" rtlCol="0" anchor="t"/>
          <a:lstStyle/>
          <a:p>
            <a:pPr indent="0" marL="0">
              <a:buNone/>
            </a:pPr>
            <a:r>
              <a:rPr lang="en-US" sz="1700" b="1" dirty="0">
                <a:solidFill>
                  <a:srgbClr val="0B1F33"/>
                </a:solidFill>
                <a:latin typeface="Calibri" pitchFamily="34" charset="0"/>
                <a:ea typeface="Calibri" pitchFamily="34" charset="-122"/>
                <a:cs typeface="Calibri" pitchFamily="34" charset="-120"/>
              </a:rPr>
              <a:t>What happened</a:t>
            </a:r>
            <a:endParaRPr lang="en-US" sz="1700" dirty="0"/>
          </a:p>
        </p:txBody>
      </p:sp>
      <p:sp>
        <p:nvSpPr>
          <p:cNvPr id="35" name="Text 28"/>
          <p:cNvSpPr txBox="1"/>
          <p:nvPr/>
        </p:nvSpPr>
        <p:spPr>
          <a:xfrm>
            <a:off x="777240" y="5394960"/>
            <a:ext cx="2148840" cy="54864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Revenue vs. profit trend</a:t>
            </a:r>
            <a:endParaRPr lang="en-US" sz="1300" dirty="0"/>
          </a:p>
        </p:txBody>
      </p:sp>
      <p:sp>
        <p:nvSpPr>
          <p:cNvPr id="36" name="Shape 29"/>
          <p:cNvSpPr/>
          <p:nvPr/>
        </p:nvSpPr>
        <p:spPr>
          <a:xfrm>
            <a:off x="3355848" y="3931920"/>
            <a:ext cx="2606040" cy="2148840"/>
          </a:xfrm>
          <a:prstGeom prst="roundRect">
            <a:avLst>
              <a:gd name="adj" fmla="val 3404"/>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37" name="Shape 30"/>
          <p:cNvSpPr/>
          <p:nvPr/>
        </p:nvSpPr>
        <p:spPr>
          <a:xfrm>
            <a:off x="3584448" y="4160520"/>
            <a:ext cx="594360" cy="594360"/>
          </a:xfrm>
          <a:prstGeom prst="ellipse">
            <a:avLst/>
          </a:prstGeom>
          <a:solidFill>
            <a:srgbClr val="0E7C86"/>
          </a:solidFill>
          <a:ln w="6350">
            <a:solidFill>
              <a:srgbClr val="0E7C86"/>
            </a:solidFill>
            <a:prstDash val="solid"/>
          </a:ln>
        </p:spPr>
      </p:sp>
      <p:pic>
        <p:nvPicPr>
          <p:cNvPr id="38" name="Image 5" descr="preencoded.png">    </p:cNvPr>
          <p:cNvPicPr>
            <a:picLocks noChangeAspect="1"/>
          </p:cNvPicPr>
          <p:nvPr/>
        </p:nvPicPr>
        <p:blipFill>
          <a:blip r:embed="rId6"/>
          <a:stretch>
            <a:fillRect/>
          </a:stretch>
        </p:blipFill>
        <p:spPr>
          <a:xfrm>
            <a:off x="3738982" y="4315054"/>
            <a:ext cx="285293" cy="285293"/>
          </a:xfrm>
          <a:prstGeom prst="rect">
            <a:avLst/>
          </a:prstGeom>
        </p:spPr>
      </p:pic>
      <p:sp>
        <p:nvSpPr>
          <p:cNvPr id="39" name="Text 31"/>
          <p:cNvSpPr txBox="1"/>
          <p:nvPr/>
        </p:nvSpPr>
        <p:spPr>
          <a:xfrm>
            <a:off x="5184648" y="4160520"/>
            <a:ext cx="548640" cy="365760"/>
          </a:xfrm>
          <a:prstGeom prst="rect">
            <a:avLst/>
          </a:prstGeom>
          <a:noFill/>
          <a:ln/>
        </p:spPr>
        <p:txBody>
          <a:bodyPr wrap="square" lIns="0" tIns="0" rIns="0" bIns="0" rtlCol="0" anchor="t"/>
          <a:lstStyle/>
          <a:p>
            <a:pPr algn="r" indent="0" marL="0">
              <a:buNone/>
            </a:pPr>
            <a:r>
              <a:rPr lang="en-US" sz="2400" b="1" dirty="0">
                <a:solidFill>
                  <a:srgbClr val="D9E1E8"/>
                </a:solidFill>
                <a:latin typeface="Cambria" pitchFamily="34" charset="0"/>
                <a:ea typeface="Cambria" pitchFamily="34" charset="-122"/>
                <a:cs typeface="Cambria" pitchFamily="34" charset="-120"/>
              </a:rPr>
              <a:t>06</a:t>
            </a:r>
            <a:endParaRPr lang="en-US" sz="2400" dirty="0"/>
          </a:p>
        </p:txBody>
      </p:sp>
      <p:sp>
        <p:nvSpPr>
          <p:cNvPr id="40" name="Text 32"/>
          <p:cNvSpPr txBox="1"/>
          <p:nvPr/>
        </p:nvSpPr>
        <p:spPr>
          <a:xfrm>
            <a:off x="3584448" y="4983480"/>
            <a:ext cx="2148840" cy="365760"/>
          </a:xfrm>
          <a:prstGeom prst="rect">
            <a:avLst/>
          </a:prstGeom>
          <a:noFill/>
          <a:ln/>
        </p:spPr>
        <p:txBody>
          <a:bodyPr wrap="square" lIns="0" tIns="0" rIns="0" bIns="0" rtlCol="0" anchor="t"/>
          <a:lstStyle/>
          <a:p>
            <a:pPr indent="0" marL="0">
              <a:buNone/>
            </a:pPr>
            <a:r>
              <a:rPr lang="en-US" sz="1700" b="1" dirty="0">
                <a:solidFill>
                  <a:srgbClr val="0B1F33"/>
                </a:solidFill>
                <a:latin typeface="Calibri" pitchFamily="34" charset="0"/>
                <a:ea typeface="Calibri" pitchFamily="34" charset="-122"/>
                <a:cs typeface="Calibri" pitchFamily="34" charset="-120"/>
              </a:rPr>
              <a:t>Why it happened</a:t>
            </a:r>
            <a:endParaRPr lang="en-US" sz="1700" dirty="0"/>
          </a:p>
        </p:txBody>
      </p:sp>
      <p:sp>
        <p:nvSpPr>
          <p:cNvPr id="41" name="Text 33"/>
          <p:cNvSpPr txBox="1"/>
          <p:nvPr/>
        </p:nvSpPr>
        <p:spPr>
          <a:xfrm>
            <a:off x="3584448" y="5394960"/>
            <a:ext cx="2148840" cy="54864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Discounting, product mix and delivery</a:t>
            </a:r>
            <a:endParaRPr lang="en-US" sz="1300" dirty="0"/>
          </a:p>
        </p:txBody>
      </p:sp>
      <p:sp>
        <p:nvSpPr>
          <p:cNvPr id="42" name="Shape 34"/>
          <p:cNvSpPr/>
          <p:nvPr/>
        </p:nvSpPr>
        <p:spPr>
          <a:xfrm>
            <a:off x="6163056" y="3931920"/>
            <a:ext cx="2606040" cy="2148840"/>
          </a:xfrm>
          <a:prstGeom prst="roundRect">
            <a:avLst>
              <a:gd name="adj" fmla="val 3404"/>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43" name="Shape 35"/>
          <p:cNvSpPr/>
          <p:nvPr/>
        </p:nvSpPr>
        <p:spPr>
          <a:xfrm>
            <a:off x="6391656" y="4160520"/>
            <a:ext cx="594360" cy="594360"/>
          </a:xfrm>
          <a:prstGeom prst="ellipse">
            <a:avLst/>
          </a:prstGeom>
          <a:solidFill>
            <a:srgbClr val="0E7C86"/>
          </a:solidFill>
          <a:ln w="6350">
            <a:solidFill>
              <a:srgbClr val="0E7C86"/>
            </a:solidFill>
            <a:prstDash val="solid"/>
          </a:ln>
        </p:spPr>
      </p:sp>
      <p:pic>
        <p:nvPicPr>
          <p:cNvPr id="44" name="Image 6" descr="preencoded.png">    </p:cNvPr>
          <p:cNvPicPr>
            <a:picLocks noChangeAspect="1"/>
          </p:cNvPicPr>
          <p:nvPr/>
        </p:nvPicPr>
        <p:blipFill>
          <a:blip r:embed="rId7"/>
          <a:stretch>
            <a:fillRect/>
          </a:stretch>
        </p:blipFill>
        <p:spPr>
          <a:xfrm>
            <a:off x="6546190" y="4315054"/>
            <a:ext cx="285293" cy="285293"/>
          </a:xfrm>
          <a:prstGeom prst="rect">
            <a:avLst/>
          </a:prstGeom>
        </p:spPr>
      </p:pic>
      <p:sp>
        <p:nvSpPr>
          <p:cNvPr id="45" name="Text 36"/>
          <p:cNvSpPr txBox="1"/>
          <p:nvPr/>
        </p:nvSpPr>
        <p:spPr>
          <a:xfrm>
            <a:off x="7991856" y="4160520"/>
            <a:ext cx="548640" cy="365760"/>
          </a:xfrm>
          <a:prstGeom prst="rect">
            <a:avLst/>
          </a:prstGeom>
          <a:noFill/>
          <a:ln/>
        </p:spPr>
        <p:txBody>
          <a:bodyPr wrap="square" lIns="0" tIns="0" rIns="0" bIns="0" rtlCol="0" anchor="t"/>
          <a:lstStyle/>
          <a:p>
            <a:pPr algn="r" indent="0" marL="0">
              <a:buNone/>
            </a:pPr>
            <a:r>
              <a:rPr lang="en-US" sz="2400" b="1" dirty="0">
                <a:solidFill>
                  <a:srgbClr val="D9E1E8"/>
                </a:solidFill>
                <a:latin typeface="Cambria" pitchFamily="34" charset="0"/>
                <a:ea typeface="Cambria" pitchFamily="34" charset="-122"/>
                <a:cs typeface="Cambria" pitchFamily="34" charset="-120"/>
              </a:rPr>
              <a:t>07</a:t>
            </a:r>
            <a:endParaRPr lang="en-US" sz="2400" dirty="0"/>
          </a:p>
        </p:txBody>
      </p:sp>
      <p:sp>
        <p:nvSpPr>
          <p:cNvPr id="46" name="Text 37"/>
          <p:cNvSpPr txBox="1"/>
          <p:nvPr/>
        </p:nvSpPr>
        <p:spPr>
          <a:xfrm>
            <a:off x="6391656" y="4983480"/>
            <a:ext cx="2148840" cy="365760"/>
          </a:xfrm>
          <a:prstGeom prst="rect">
            <a:avLst/>
          </a:prstGeom>
          <a:noFill/>
          <a:ln/>
        </p:spPr>
        <p:txBody>
          <a:bodyPr wrap="square" lIns="0" tIns="0" rIns="0" bIns="0" rtlCol="0" anchor="t"/>
          <a:lstStyle/>
          <a:p>
            <a:pPr indent="0" marL="0">
              <a:buNone/>
            </a:pPr>
            <a:r>
              <a:rPr lang="en-US" sz="1700" b="1" dirty="0">
                <a:solidFill>
                  <a:srgbClr val="0B1F33"/>
                </a:solidFill>
                <a:latin typeface="Calibri" pitchFamily="34" charset="0"/>
                <a:ea typeface="Calibri" pitchFamily="34" charset="-122"/>
                <a:cs typeface="Calibri" pitchFamily="34" charset="-120"/>
              </a:rPr>
              <a:t>What to do</a:t>
            </a:r>
            <a:endParaRPr lang="en-US" sz="1700" dirty="0"/>
          </a:p>
        </p:txBody>
      </p:sp>
      <p:sp>
        <p:nvSpPr>
          <p:cNvPr id="47" name="Text 38"/>
          <p:cNvSpPr txBox="1"/>
          <p:nvPr/>
        </p:nvSpPr>
        <p:spPr>
          <a:xfrm>
            <a:off x="6391656" y="5394960"/>
            <a:ext cx="2148840" cy="54864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Recommendations with business impact</a:t>
            </a:r>
            <a:endParaRPr lang="en-US" sz="1300" dirty="0"/>
          </a:p>
        </p:txBody>
      </p:sp>
      <p:sp>
        <p:nvSpPr>
          <p:cNvPr id="48" name="Shape 39"/>
          <p:cNvSpPr/>
          <p:nvPr/>
        </p:nvSpPr>
        <p:spPr>
          <a:xfrm>
            <a:off x="8970264" y="3931920"/>
            <a:ext cx="2606040" cy="2148840"/>
          </a:xfrm>
          <a:prstGeom prst="roundRect">
            <a:avLst>
              <a:gd name="adj" fmla="val 3404"/>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49" name="Shape 40"/>
          <p:cNvSpPr/>
          <p:nvPr/>
        </p:nvSpPr>
        <p:spPr>
          <a:xfrm>
            <a:off x="9198864" y="4160520"/>
            <a:ext cx="594360" cy="594360"/>
          </a:xfrm>
          <a:prstGeom prst="ellipse">
            <a:avLst/>
          </a:prstGeom>
          <a:solidFill>
            <a:srgbClr val="0E7C86"/>
          </a:solidFill>
          <a:ln w="6350">
            <a:solidFill>
              <a:srgbClr val="0E7C86"/>
            </a:solidFill>
            <a:prstDash val="solid"/>
          </a:ln>
        </p:spPr>
      </p:sp>
      <p:pic>
        <p:nvPicPr>
          <p:cNvPr id="50" name="Image 7" descr="preencoded.png">    </p:cNvPr>
          <p:cNvPicPr>
            <a:picLocks noChangeAspect="1"/>
          </p:cNvPicPr>
          <p:nvPr/>
        </p:nvPicPr>
        <p:blipFill>
          <a:blip r:embed="rId8"/>
          <a:stretch>
            <a:fillRect/>
          </a:stretch>
        </p:blipFill>
        <p:spPr>
          <a:xfrm>
            <a:off x="9353398" y="4315054"/>
            <a:ext cx="285293" cy="285293"/>
          </a:xfrm>
          <a:prstGeom prst="rect">
            <a:avLst/>
          </a:prstGeom>
        </p:spPr>
      </p:pic>
      <p:sp>
        <p:nvSpPr>
          <p:cNvPr id="51" name="Text 41"/>
          <p:cNvSpPr txBox="1"/>
          <p:nvPr/>
        </p:nvSpPr>
        <p:spPr>
          <a:xfrm>
            <a:off x="10799064" y="4160520"/>
            <a:ext cx="548640" cy="365760"/>
          </a:xfrm>
          <a:prstGeom prst="rect">
            <a:avLst/>
          </a:prstGeom>
          <a:noFill/>
          <a:ln/>
        </p:spPr>
        <p:txBody>
          <a:bodyPr wrap="square" lIns="0" tIns="0" rIns="0" bIns="0" rtlCol="0" anchor="t"/>
          <a:lstStyle/>
          <a:p>
            <a:pPr algn="r" indent="0" marL="0">
              <a:buNone/>
            </a:pPr>
            <a:r>
              <a:rPr lang="en-US" sz="2400" b="1" dirty="0">
                <a:solidFill>
                  <a:srgbClr val="D9E1E8"/>
                </a:solidFill>
                <a:latin typeface="Cambria" pitchFamily="34" charset="0"/>
                <a:ea typeface="Cambria" pitchFamily="34" charset="-122"/>
                <a:cs typeface="Cambria" pitchFamily="34" charset="-120"/>
              </a:rPr>
              <a:t>08</a:t>
            </a:r>
            <a:endParaRPr lang="en-US" sz="2400" dirty="0"/>
          </a:p>
        </p:txBody>
      </p:sp>
      <p:sp>
        <p:nvSpPr>
          <p:cNvPr id="52" name="Text 42"/>
          <p:cNvSpPr txBox="1"/>
          <p:nvPr/>
        </p:nvSpPr>
        <p:spPr>
          <a:xfrm>
            <a:off x="9198864" y="4983480"/>
            <a:ext cx="2148840" cy="365760"/>
          </a:xfrm>
          <a:prstGeom prst="rect">
            <a:avLst/>
          </a:prstGeom>
          <a:noFill/>
          <a:ln/>
        </p:spPr>
        <p:txBody>
          <a:bodyPr wrap="square" lIns="0" tIns="0" rIns="0" bIns="0" rtlCol="0" anchor="t"/>
          <a:lstStyle/>
          <a:p>
            <a:pPr indent="0" marL="0">
              <a:buNone/>
            </a:pPr>
            <a:r>
              <a:rPr lang="en-US" sz="1700" b="1" dirty="0">
                <a:solidFill>
                  <a:srgbClr val="0B1F33"/>
                </a:solidFill>
                <a:latin typeface="Calibri" pitchFamily="34" charset="0"/>
                <a:ea typeface="Calibri" pitchFamily="34" charset="-122"/>
                <a:cs typeface="Calibri" pitchFamily="34" charset="-120"/>
              </a:rPr>
              <a:t>Conclusion</a:t>
            </a:r>
            <a:endParaRPr lang="en-US" sz="1700" dirty="0"/>
          </a:p>
        </p:txBody>
      </p:sp>
      <p:sp>
        <p:nvSpPr>
          <p:cNvPr id="53" name="Text 43"/>
          <p:cNvSpPr txBox="1"/>
          <p:nvPr/>
        </p:nvSpPr>
        <p:spPr>
          <a:xfrm>
            <a:off x="9198864" y="5394960"/>
            <a:ext cx="2148840" cy="54864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Key takeaways and learnings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6F9"/>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28600"/>
          </a:xfrm>
          <a:prstGeom prst="rect">
            <a:avLst/>
          </a:prstGeom>
          <a:noFill/>
          <a:ln/>
        </p:spPr>
        <p:txBody>
          <a:bodyPr wrap="square" lIns="0" tIns="0" rIns="0" bIns="0" rtlCol="0" anchor="t"/>
          <a:lstStyle/>
          <a:p>
            <a:pPr indent="0" marL="0">
              <a:buNone/>
            </a:pPr>
            <a:r>
              <a:rPr lang="en-US" sz="1100" b="1" spc="300" kern="0" dirty="0">
                <a:solidFill>
                  <a:srgbClr val="0E7C86"/>
                </a:solidFill>
                <a:latin typeface="Calibri" pitchFamily="34" charset="0"/>
                <a:ea typeface="Calibri" pitchFamily="34" charset="-122"/>
                <a:cs typeface="Calibri" pitchFamily="34" charset="-120"/>
              </a:rPr>
              <a:t>1  BUSINESS PROBLEM</a:t>
            </a:r>
            <a:endParaRPr lang="en-US" sz="1100" dirty="0"/>
          </a:p>
        </p:txBody>
      </p:sp>
      <p:sp>
        <p:nvSpPr>
          <p:cNvPr id="3" name="Text 1"/>
          <p:cNvSpPr txBox="1"/>
          <p:nvPr/>
        </p:nvSpPr>
        <p:spPr>
          <a:xfrm>
            <a:off x="548640" y="530352"/>
            <a:ext cx="11064240" cy="54864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Revenue is booming, but profit is not keeping up</a:t>
            </a:r>
            <a:endParaRPr lang="en-US" sz="2800" dirty="0"/>
          </a:p>
        </p:txBody>
      </p:sp>
      <p:sp>
        <p:nvSpPr>
          <p:cNvPr id="4" name="Text 2"/>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Executive Business Intelligence Dashboard</a:t>
            </a:r>
            <a:endParaRPr lang="en-US" sz="1000" dirty="0"/>
          </a:p>
        </p:txBody>
      </p:sp>
      <p:sp>
        <p:nvSpPr>
          <p:cNvPr id="5" name="Text 3"/>
          <p:cNvSpPr txBox="1"/>
          <p:nvPr/>
        </p:nvSpPr>
        <p:spPr>
          <a:xfrm>
            <a:off x="11091672" y="6510528"/>
            <a:ext cx="548640" cy="228600"/>
          </a:xfrm>
          <a:prstGeom prst="rect">
            <a:avLst/>
          </a:prstGeom>
          <a:noFill/>
          <a:ln/>
        </p:spPr>
        <p:txBody>
          <a:bodyPr wrap="square" lIns="0" tIns="0" rIns="0" bIns="0" rtlCol="0" anchor="t"/>
          <a:lstStyle/>
          <a:p>
            <a:pPr algn="r" indent="0" marL="0">
              <a:buNone/>
            </a:pPr>
            <a:r>
              <a:rPr lang="en-US" sz="1000" dirty="0">
                <a:solidFill>
                  <a:srgbClr val="64748B"/>
                </a:solidFill>
                <a:latin typeface="Calibri" pitchFamily="34" charset="0"/>
                <a:ea typeface="Calibri" pitchFamily="34" charset="-122"/>
                <a:cs typeface="Calibri" pitchFamily="34" charset="-120"/>
              </a:rPr>
              <a:t>3</a:t>
            </a:r>
            <a:endParaRPr lang="en-US" sz="1000" dirty="0"/>
          </a:p>
        </p:txBody>
      </p:sp>
      <p:sp>
        <p:nvSpPr>
          <p:cNvPr id="6" name="Shape 4"/>
          <p:cNvSpPr/>
          <p:nvPr/>
        </p:nvSpPr>
        <p:spPr>
          <a:xfrm>
            <a:off x="548640" y="1371600"/>
            <a:ext cx="5120640" cy="4846320"/>
          </a:xfrm>
          <a:prstGeom prst="roundRect">
            <a:avLst>
              <a:gd name="adj" fmla="val 1887"/>
            </a:avLst>
          </a:prstGeom>
          <a:solidFill>
            <a:srgbClr val="0B1F33"/>
          </a:solidFill>
          <a:ln w="12700">
            <a:solidFill>
              <a:srgbClr val="0B1F33"/>
            </a:solidFill>
            <a:prstDash val="solid"/>
          </a:ln>
          <a:effectLst>
            <a:outerShdw sx="100000" sy="100000" kx="0" ky="0" algn="bl" rotWithShape="0" blurRad="101600" dist="25400" dir="5400000">
              <a:srgbClr val="000000">
                <a:alpha val="10000"/>
              </a:srgbClr>
            </a:outerShdw>
          </a:effectLst>
        </p:spPr>
      </p:sp>
      <p:sp>
        <p:nvSpPr>
          <p:cNvPr id="7" name="Text 5"/>
          <p:cNvSpPr txBox="1"/>
          <p:nvPr/>
        </p:nvSpPr>
        <p:spPr>
          <a:xfrm>
            <a:off x="868680" y="1645920"/>
            <a:ext cx="4480560" cy="274320"/>
          </a:xfrm>
          <a:prstGeom prst="rect">
            <a:avLst/>
          </a:prstGeom>
          <a:noFill/>
          <a:ln/>
        </p:spPr>
        <p:txBody>
          <a:bodyPr wrap="square" lIns="0" tIns="0" rIns="0" bIns="0" rtlCol="0" anchor="t"/>
          <a:lstStyle/>
          <a:p>
            <a:pPr indent="0" marL="0">
              <a:buNone/>
            </a:pPr>
            <a:r>
              <a:rPr lang="en-US" sz="1300" b="1" spc="200" kern="0" dirty="0">
                <a:solidFill>
                  <a:srgbClr val="F59E0B"/>
                </a:solidFill>
                <a:latin typeface="Calibri" pitchFamily="34" charset="0"/>
                <a:ea typeface="Calibri" pitchFamily="34" charset="-122"/>
                <a:cs typeface="Calibri" pitchFamily="34" charset="-120"/>
              </a:rPr>
              <a:t>FY2022 → FY2025</a:t>
            </a:r>
            <a:endParaRPr lang="en-US" sz="1300" dirty="0"/>
          </a:p>
        </p:txBody>
      </p:sp>
      <p:sp>
        <p:nvSpPr>
          <p:cNvPr id="8" name="Text 6"/>
          <p:cNvSpPr txBox="1"/>
          <p:nvPr/>
        </p:nvSpPr>
        <p:spPr>
          <a:xfrm>
            <a:off x="868680" y="2011680"/>
            <a:ext cx="2377440" cy="822960"/>
          </a:xfrm>
          <a:prstGeom prst="rect">
            <a:avLst/>
          </a:prstGeom>
          <a:noFill/>
          <a:ln/>
        </p:spPr>
        <p:txBody>
          <a:bodyPr wrap="square" lIns="0" tIns="0" rIns="0" bIns="0" rtlCol="0" anchor="t"/>
          <a:lstStyle/>
          <a:p>
            <a:pPr indent="0" marL="0">
              <a:buNone/>
            </a:pPr>
            <a:r>
              <a:rPr lang="en-US" sz="5400" b="1" dirty="0">
                <a:solidFill>
                  <a:srgbClr val="FFFFFF"/>
                </a:solidFill>
                <a:latin typeface="Cambria" pitchFamily="34" charset="0"/>
                <a:ea typeface="Cambria" pitchFamily="34" charset="-122"/>
                <a:cs typeface="Cambria" pitchFamily="34" charset="-120"/>
              </a:rPr>
              <a:t>+93%</a:t>
            </a:r>
            <a:endParaRPr lang="en-US" sz="5400" dirty="0"/>
          </a:p>
        </p:txBody>
      </p:sp>
      <p:sp>
        <p:nvSpPr>
          <p:cNvPr id="9" name="Text 7"/>
          <p:cNvSpPr txBox="1"/>
          <p:nvPr/>
        </p:nvSpPr>
        <p:spPr>
          <a:xfrm>
            <a:off x="868680" y="2880360"/>
            <a:ext cx="2377440" cy="274320"/>
          </a:xfrm>
          <a:prstGeom prst="rect">
            <a:avLst/>
          </a:prstGeom>
          <a:noFill/>
          <a:ln/>
        </p:spPr>
        <p:txBody>
          <a:bodyPr wrap="square" lIns="0" tIns="0" rIns="0" bIns="0" rtlCol="0" anchor="t"/>
          <a:lstStyle/>
          <a:p>
            <a:pPr indent="0" marL="0">
              <a:buNone/>
            </a:pPr>
            <a:r>
              <a:rPr lang="en-US" sz="1400" dirty="0">
                <a:solidFill>
                  <a:srgbClr val="C9D6E2"/>
                </a:solidFill>
                <a:latin typeface="Calibri" pitchFamily="34" charset="0"/>
                <a:ea typeface="Calibri" pitchFamily="34" charset="-122"/>
                <a:cs typeface="Calibri" pitchFamily="34" charset="-120"/>
              </a:rPr>
              <a:t>Revenue growth</a:t>
            </a:r>
            <a:endParaRPr lang="en-US" sz="1400" dirty="0"/>
          </a:p>
        </p:txBody>
      </p:sp>
      <p:sp>
        <p:nvSpPr>
          <p:cNvPr id="10" name="Text 8"/>
          <p:cNvSpPr txBox="1"/>
          <p:nvPr/>
        </p:nvSpPr>
        <p:spPr>
          <a:xfrm>
            <a:off x="3291840" y="2011680"/>
            <a:ext cx="2194560" cy="822960"/>
          </a:xfrm>
          <a:prstGeom prst="rect">
            <a:avLst/>
          </a:prstGeom>
          <a:noFill/>
          <a:ln/>
        </p:spPr>
        <p:txBody>
          <a:bodyPr wrap="square" lIns="0" tIns="0" rIns="0" bIns="0" rtlCol="0" anchor="t"/>
          <a:lstStyle/>
          <a:p>
            <a:pPr indent="0" marL="0">
              <a:buNone/>
            </a:pPr>
            <a:r>
              <a:rPr lang="en-US" sz="5400" b="1" dirty="0">
                <a:solidFill>
                  <a:srgbClr val="7FD1D8"/>
                </a:solidFill>
                <a:latin typeface="Cambria" pitchFamily="34" charset="0"/>
                <a:ea typeface="Cambria" pitchFamily="34" charset="-122"/>
                <a:cs typeface="Cambria" pitchFamily="34" charset="-120"/>
              </a:rPr>
              <a:t>+68%</a:t>
            </a:r>
            <a:endParaRPr lang="en-US" sz="5400" dirty="0"/>
          </a:p>
        </p:txBody>
      </p:sp>
      <p:sp>
        <p:nvSpPr>
          <p:cNvPr id="11" name="Text 9"/>
          <p:cNvSpPr txBox="1"/>
          <p:nvPr/>
        </p:nvSpPr>
        <p:spPr>
          <a:xfrm>
            <a:off x="3291840" y="2880360"/>
            <a:ext cx="2194560" cy="274320"/>
          </a:xfrm>
          <a:prstGeom prst="rect">
            <a:avLst/>
          </a:prstGeom>
          <a:noFill/>
          <a:ln/>
        </p:spPr>
        <p:txBody>
          <a:bodyPr wrap="square" lIns="0" tIns="0" rIns="0" bIns="0" rtlCol="0" anchor="t"/>
          <a:lstStyle/>
          <a:p>
            <a:pPr indent="0" marL="0">
              <a:buNone/>
            </a:pPr>
            <a:r>
              <a:rPr lang="en-US" sz="1400" dirty="0">
                <a:solidFill>
                  <a:srgbClr val="C9D6E2"/>
                </a:solidFill>
                <a:latin typeface="Calibri" pitchFamily="34" charset="0"/>
                <a:ea typeface="Calibri" pitchFamily="34" charset="-122"/>
                <a:cs typeface="Calibri" pitchFamily="34" charset="-120"/>
              </a:rPr>
              <a:t>Profit growth</a:t>
            </a:r>
            <a:endParaRPr lang="en-US" sz="1400" dirty="0"/>
          </a:p>
        </p:txBody>
      </p:sp>
      <p:sp>
        <p:nvSpPr>
          <p:cNvPr id="12" name="Shape 10"/>
          <p:cNvSpPr/>
          <p:nvPr/>
        </p:nvSpPr>
        <p:spPr>
          <a:xfrm>
            <a:off x="868680" y="3520440"/>
            <a:ext cx="4480560" cy="0"/>
          </a:xfrm>
          <a:prstGeom prst="line">
            <a:avLst/>
          </a:prstGeom>
          <a:noFill/>
          <a:ln w="12700">
            <a:solidFill>
              <a:srgbClr val="24496B"/>
            </a:solidFill>
            <a:prstDash val="solid"/>
          </a:ln>
        </p:spPr>
      </p:sp>
      <p:sp>
        <p:nvSpPr>
          <p:cNvPr id="13" name="Text 11"/>
          <p:cNvSpPr txBox="1"/>
          <p:nvPr/>
        </p:nvSpPr>
        <p:spPr>
          <a:xfrm>
            <a:off x="868680" y="3749040"/>
            <a:ext cx="4480560" cy="274320"/>
          </a:xfrm>
          <a:prstGeom prst="rect">
            <a:avLst/>
          </a:prstGeom>
          <a:noFill/>
          <a:ln/>
        </p:spPr>
        <p:txBody>
          <a:bodyPr wrap="square" lIns="0" tIns="0" rIns="0" bIns="0" rtlCol="0" anchor="t"/>
          <a:lstStyle/>
          <a:p>
            <a:pPr indent="0" marL="0">
              <a:buNone/>
            </a:pPr>
            <a:r>
              <a:rPr lang="en-US" sz="1400" dirty="0">
                <a:solidFill>
                  <a:srgbClr val="C9D6E2"/>
                </a:solidFill>
                <a:latin typeface="Calibri" pitchFamily="34" charset="0"/>
                <a:ea typeface="Calibri" pitchFamily="34" charset="-122"/>
                <a:cs typeface="Calibri" pitchFamily="34" charset="-120"/>
              </a:rPr>
              <a:t>Profit margin</a:t>
            </a:r>
            <a:endParaRPr lang="en-US" sz="1400" dirty="0"/>
          </a:p>
        </p:txBody>
      </p:sp>
      <p:sp>
        <p:nvSpPr>
          <p:cNvPr id="14" name="Text 12"/>
          <p:cNvSpPr txBox="1"/>
          <p:nvPr/>
        </p:nvSpPr>
        <p:spPr>
          <a:xfrm>
            <a:off x="868680" y="4069080"/>
            <a:ext cx="4480560" cy="731520"/>
          </a:xfrm>
          <a:prstGeom prst="rect">
            <a:avLst/>
          </a:prstGeom>
          <a:noFill/>
          <a:ln/>
        </p:spPr>
        <p:txBody>
          <a:bodyPr wrap="square" lIns="0" tIns="0" rIns="0" bIns="0" rtlCol="0" anchor="t"/>
          <a:lstStyle/>
          <a:p>
            <a:pPr indent="0" marL="0">
              <a:buNone/>
            </a:pPr>
            <a:r>
              <a:rPr lang="en-US" sz="4000" b="1" dirty="0">
                <a:solidFill>
                  <a:srgbClr val="F59E0B"/>
                </a:solidFill>
                <a:latin typeface="Cambria" pitchFamily="34" charset="0"/>
                <a:ea typeface="Cambria" pitchFamily="34" charset="-122"/>
                <a:cs typeface="Cambria" pitchFamily="34" charset="-120"/>
              </a:rPr>
              <a:t>13.0%  →  11.3%</a:t>
            </a:r>
            <a:endParaRPr lang="en-US" sz="4000" dirty="0"/>
          </a:p>
        </p:txBody>
      </p:sp>
      <p:sp>
        <p:nvSpPr>
          <p:cNvPr id="15" name="Text 13"/>
          <p:cNvSpPr txBox="1"/>
          <p:nvPr/>
        </p:nvSpPr>
        <p:spPr>
          <a:xfrm>
            <a:off x="868680" y="5029200"/>
            <a:ext cx="4480560" cy="914400"/>
          </a:xfrm>
          <a:prstGeom prst="rect">
            <a:avLst/>
          </a:prstGeom>
          <a:noFill/>
          <a:ln/>
        </p:spPr>
        <p:txBody>
          <a:bodyPr wrap="square" lIns="0" tIns="0" rIns="0" bIns="0" rtlCol="0" anchor="t"/>
          <a:lstStyle/>
          <a:p>
            <a:pPr indent="0" marL="0">
              <a:buNone/>
            </a:pPr>
            <a:r>
              <a:rPr lang="en-US" sz="1500" dirty="0">
                <a:solidFill>
                  <a:srgbClr val="C9D6E2"/>
                </a:solidFill>
                <a:latin typeface="Calibri" pitchFamily="34" charset="0"/>
                <a:ea typeface="Calibri" pitchFamily="34" charset="-122"/>
                <a:cs typeface="Calibri" pitchFamily="34" charset="-120"/>
              </a:rPr>
              <a:t>Every extra dollar of sales now earns less profit. Management needs to know where and why.</a:t>
            </a:r>
            <a:endParaRPr lang="en-US" sz="1500" dirty="0"/>
          </a:p>
        </p:txBody>
      </p:sp>
      <p:sp>
        <p:nvSpPr>
          <p:cNvPr id="16" name="Shape 14"/>
          <p:cNvSpPr/>
          <p:nvPr/>
        </p:nvSpPr>
        <p:spPr>
          <a:xfrm>
            <a:off x="5943600" y="1371600"/>
            <a:ext cx="5696712" cy="1463040"/>
          </a:xfrm>
          <a:prstGeom prst="roundRect">
            <a:avLst>
              <a:gd name="adj" fmla="val 5000"/>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17" name="Shape 15"/>
          <p:cNvSpPr/>
          <p:nvPr/>
        </p:nvSpPr>
        <p:spPr>
          <a:xfrm>
            <a:off x="6217920" y="1645920"/>
            <a:ext cx="640080" cy="640080"/>
          </a:xfrm>
          <a:prstGeom prst="ellipse">
            <a:avLst/>
          </a:prstGeom>
          <a:solidFill>
            <a:srgbClr val="0E7C86"/>
          </a:solidFill>
          <a:ln w="6350">
            <a:solidFill>
              <a:srgbClr val="0E7C86"/>
            </a:solidFill>
            <a:prstDash val="solid"/>
          </a:ln>
        </p:spPr>
      </p:sp>
      <p:pic>
        <p:nvPicPr>
          <p:cNvPr id="18" name="Image 0" descr="preencoded.png">    </p:cNvPr>
          <p:cNvPicPr>
            <a:picLocks noChangeAspect="1"/>
          </p:cNvPicPr>
          <p:nvPr/>
        </p:nvPicPr>
        <p:blipFill>
          <a:blip r:embed="rId1"/>
          <a:stretch>
            <a:fillRect/>
          </a:stretch>
        </p:blipFill>
        <p:spPr>
          <a:xfrm>
            <a:off x="6384341" y="1812341"/>
            <a:ext cx="307238" cy="307238"/>
          </a:xfrm>
          <a:prstGeom prst="rect">
            <a:avLst/>
          </a:prstGeom>
        </p:spPr>
      </p:pic>
      <p:sp>
        <p:nvSpPr>
          <p:cNvPr id="19" name="Text 16"/>
          <p:cNvSpPr txBox="1"/>
          <p:nvPr/>
        </p:nvSpPr>
        <p:spPr>
          <a:xfrm>
            <a:off x="7086600" y="1554480"/>
            <a:ext cx="4389120" cy="320040"/>
          </a:xfrm>
          <a:prstGeom prst="rect">
            <a:avLst/>
          </a:prstGeom>
          <a:noFill/>
          <a:ln/>
        </p:spPr>
        <p:txBody>
          <a:bodyPr wrap="square" lIns="0" tIns="0" rIns="0" bIns="0" rtlCol="0" anchor="t"/>
          <a:lstStyle/>
          <a:p>
            <a:pPr indent="0" marL="0">
              <a:buNone/>
            </a:pPr>
            <a:r>
              <a:rPr lang="en-US" sz="1700" b="1" dirty="0">
                <a:solidFill>
                  <a:srgbClr val="0B1F33"/>
                </a:solidFill>
                <a:latin typeface="Calibri" pitchFamily="34" charset="0"/>
                <a:ea typeface="Calibri" pitchFamily="34" charset="-122"/>
                <a:cs typeface="Calibri" pitchFamily="34" charset="-120"/>
              </a:rPr>
              <a:t>What happened?</a:t>
            </a:r>
            <a:endParaRPr lang="en-US" sz="1700" dirty="0"/>
          </a:p>
        </p:txBody>
      </p:sp>
      <p:sp>
        <p:nvSpPr>
          <p:cNvPr id="20" name="Text 17"/>
          <p:cNvSpPr txBox="1"/>
          <p:nvPr/>
        </p:nvSpPr>
        <p:spPr>
          <a:xfrm>
            <a:off x="7086600" y="1920240"/>
            <a:ext cx="4343400" cy="8229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Sales rose every year, but margin fell from 13.0% to 11.3% and loss-making orders grew from 13% to 17%.</a:t>
            </a:r>
            <a:endParaRPr lang="en-US" sz="1300" dirty="0"/>
          </a:p>
        </p:txBody>
      </p:sp>
      <p:sp>
        <p:nvSpPr>
          <p:cNvPr id="21" name="Shape 18"/>
          <p:cNvSpPr/>
          <p:nvPr/>
        </p:nvSpPr>
        <p:spPr>
          <a:xfrm>
            <a:off x="5943600" y="3017520"/>
            <a:ext cx="5696712" cy="1463040"/>
          </a:xfrm>
          <a:prstGeom prst="roundRect">
            <a:avLst>
              <a:gd name="adj" fmla="val 5000"/>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22" name="Shape 19"/>
          <p:cNvSpPr/>
          <p:nvPr/>
        </p:nvSpPr>
        <p:spPr>
          <a:xfrm>
            <a:off x="6217920" y="3291840"/>
            <a:ext cx="640080" cy="640080"/>
          </a:xfrm>
          <a:prstGeom prst="ellipse">
            <a:avLst/>
          </a:prstGeom>
          <a:solidFill>
            <a:srgbClr val="0E7C86"/>
          </a:solidFill>
          <a:ln w="6350">
            <a:solidFill>
              <a:srgbClr val="0E7C86"/>
            </a:solidFill>
            <a:prstDash val="solid"/>
          </a:ln>
        </p:spPr>
      </p:sp>
      <p:pic>
        <p:nvPicPr>
          <p:cNvPr id="23" name="Image 1" descr="preencoded.png">    </p:cNvPr>
          <p:cNvPicPr>
            <a:picLocks noChangeAspect="1"/>
          </p:cNvPicPr>
          <p:nvPr/>
        </p:nvPicPr>
        <p:blipFill>
          <a:blip r:embed="rId2"/>
          <a:stretch>
            <a:fillRect/>
          </a:stretch>
        </p:blipFill>
        <p:spPr>
          <a:xfrm>
            <a:off x="6384341" y="3458261"/>
            <a:ext cx="307238" cy="307238"/>
          </a:xfrm>
          <a:prstGeom prst="rect">
            <a:avLst/>
          </a:prstGeom>
        </p:spPr>
      </p:pic>
      <p:sp>
        <p:nvSpPr>
          <p:cNvPr id="24" name="Text 20"/>
          <p:cNvSpPr txBox="1"/>
          <p:nvPr/>
        </p:nvSpPr>
        <p:spPr>
          <a:xfrm>
            <a:off x="7086600" y="3200400"/>
            <a:ext cx="4389120" cy="320040"/>
          </a:xfrm>
          <a:prstGeom prst="rect">
            <a:avLst/>
          </a:prstGeom>
          <a:noFill/>
          <a:ln/>
        </p:spPr>
        <p:txBody>
          <a:bodyPr wrap="square" lIns="0" tIns="0" rIns="0" bIns="0" rtlCol="0" anchor="t"/>
          <a:lstStyle/>
          <a:p>
            <a:pPr indent="0" marL="0">
              <a:buNone/>
            </a:pPr>
            <a:r>
              <a:rPr lang="en-US" sz="1700" b="1" dirty="0">
                <a:solidFill>
                  <a:srgbClr val="0B1F33"/>
                </a:solidFill>
                <a:latin typeface="Calibri" pitchFamily="34" charset="0"/>
                <a:ea typeface="Calibri" pitchFamily="34" charset="-122"/>
                <a:cs typeface="Calibri" pitchFamily="34" charset="-120"/>
              </a:rPr>
              <a:t>Why did it happen?</a:t>
            </a:r>
            <a:endParaRPr lang="en-US" sz="1700" dirty="0"/>
          </a:p>
        </p:txBody>
      </p:sp>
      <p:sp>
        <p:nvSpPr>
          <p:cNvPr id="25" name="Text 21"/>
          <p:cNvSpPr txBox="1"/>
          <p:nvPr/>
        </p:nvSpPr>
        <p:spPr>
          <a:xfrm>
            <a:off x="7086600" y="3566160"/>
            <a:ext cx="4343400" cy="8229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Deeper discounts, a weak Furniture margin in the Central and South regions, and slow delivery in those same regions.</a:t>
            </a:r>
            <a:endParaRPr lang="en-US" sz="1300" dirty="0"/>
          </a:p>
        </p:txBody>
      </p:sp>
      <p:sp>
        <p:nvSpPr>
          <p:cNvPr id="26" name="Shape 22"/>
          <p:cNvSpPr/>
          <p:nvPr/>
        </p:nvSpPr>
        <p:spPr>
          <a:xfrm>
            <a:off x="5943600" y="4663440"/>
            <a:ext cx="5696712" cy="1463040"/>
          </a:xfrm>
          <a:prstGeom prst="roundRect">
            <a:avLst>
              <a:gd name="adj" fmla="val 5000"/>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27" name="Shape 23"/>
          <p:cNvSpPr/>
          <p:nvPr/>
        </p:nvSpPr>
        <p:spPr>
          <a:xfrm>
            <a:off x="6217920" y="4937760"/>
            <a:ext cx="640080" cy="640080"/>
          </a:xfrm>
          <a:prstGeom prst="ellipse">
            <a:avLst/>
          </a:prstGeom>
          <a:solidFill>
            <a:srgbClr val="F59E0B"/>
          </a:solidFill>
          <a:ln w="6350">
            <a:solidFill>
              <a:srgbClr val="F59E0B"/>
            </a:solidFill>
            <a:prstDash val="solid"/>
          </a:ln>
        </p:spPr>
      </p:sp>
      <p:pic>
        <p:nvPicPr>
          <p:cNvPr id="28" name="Image 2" descr="preencoded.png">    </p:cNvPr>
          <p:cNvPicPr>
            <a:picLocks noChangeAspect="1"/>
          </p:cNvPicPr>
          <p:nvPr/>
        </p:nvPicPr>
        <p:blipFill>
          <a:blip r:embed="rId3"/>
          <a:stretch>
            <a:fillRect/>
          </a:stretch>
        </p:blipFill>
        <p:spPr>
          <a:xfrm>
            <a:off x="6384341" y="5104181"/>
            <a:ext cx="307238" cy="307238"/>
          </a:xfrm>
          <a:prstGeom prst="rect">
            <a:avLst/>
          </a:prstGeom>
        </p:spPr>
      </p:pic>
      <p:sp>
        <p:nvSpPr>
          <p:cNvPr id="29" name="Text 24"/>
          <p:cNvSpPr txBox="1"/>
          <p:nvPr/>
        </p:nvSpPr>
        <p:spPr>
          <a:xfrm>
            <a:off x="7086600" y="4846320"/>
            <a:ext cx="4389120" cy="320040"/>
          </a:xfrm>
          <a:prstGeom prst="rect">
            <a:avLst/>
          </a:prstGeom>
          <a:noFill/>
          <a:ln/>
        </p:spPr>
        <p:txBody>
          <a:bodyPr wrap="square" lIns="0" tIns="0" rIns="0" bIns="0" rtlCol="0" anchor="t"/>
          <a:lstStyle/>
          <a:p>
            <a:pPr indent="0" marL="0">
              <a:buNone/>
            </a:pPr>
            <a:r>
              <a:rPr lang="en-US" sz="1700" b="1" dirty="0">
                <a:solidFill>
                  <a:srgbClr val="0B1F33"/>
                </a:solidFill>
                <a:latin typeface="Calibri" pitchFamily="34" charset="0"/>
                <a:ea typeface="Calibri" pitchFamily="34" charset="-122"/>
                <a:cs typeface="Calibri" pitchFamily="34" charset="-120"/>
              </a:rPr>
              <a:t>What action should be taken?</a:t>
            </a:r>
            <a:endParaRPr lang="en-US" sz="1700" dirty="0"/>
          </a:p>
        </p:txBody>
      </p:sp>
      <p:sp>
        <p:nvSpPr>
          <p:cNvPr id="30" name="Text 25"/>
          <p:cNvSpPr txBox="1"/>
          <p:nvPr/>
        </p:nvSpPr>
        <p:spPr>
          <a:xfrm>
            <a:off x="7086600" y="5212080"/>
            <a:ext cx="4343400" cy="8229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Cap discounts, reprice Furniture where it is unprofitable, and fix fulfilment in Central and South.</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6F9"/>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28600"/>
          </a:xfrm>
          <a:prstGeom prst="rect">
            <a:avLst/>
          </a:prstGeom>
          <a:noFill/>
          <a:ln/>
        </p:spPr>
        <p:txBody>
          <a:bodyPr wrap="square" lIns="0" tIns="0" rIns="0" bIns="0" rtlCol="0" anchor="t"/>
          <a:lstStyle/>
          <a:p>
            <a:pPr indent="0" marL="0">
              <a:buNone/>
            </a:pPr>
            <a:r>
              <a:rPr lang="en-US" sz="1100" b="1" spc="300" kern="0" dirty="0">
                <a:solidFill>
                  <a:srgbClr val="0E7C86"/>
                </a:solidFill>
                <a:latin typeface="Calibri" pitchFamily="34" charset="0"/>
                <a:ea typeface="Calibri" pitchFamily="34" charset="-122"/>
                <a:cs typeface="Calibri" pitchFamily="34" charset="-120"/>
              </a:rPr>
              <a:t>2  DATA &amp; TOOLS</a:t>
            </a:r>
            <a:endParaRPr lang="en-US" sz="1100" dirty="0"/>
          </a:p>
        </p:txBody>
      </p:sp>
      <p:sp>
        <p:nvSpPr>
          <p:cNvPr id="3" name="Text 1"/>
          <p:cNvSpPr txBox="1"/>
          <p:nvPr/>
        </p:nvSpPr>
        <p:spPr>
          <a:xfrm>
            <a:off x="548640" y="530352"/>
            <a:ext cx="11064240" cy="54864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The dataset and the tools behind the dashboard</a:t>
            </a:r>
            <a:endParaRPr lang="en-US" sz="2800" dirty="0"/>
          </a:p>
        </p:txBody>
      </p:sp>
      <p:sp>
        <p:nvSpPr>
          <p:cNvPr id="4" name="Text 2"/>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Executive Business Intelligence Dashboard</a:t>
            </a:r>
            <a:endParaRPr lang="en-US" sz="1000" dirty="0"/>
          </a:p>
        </p:txBody>
      </p:sp>
      <p:sp>
        <p:nvSpPr>
          <p:cNvPr id="5" name="Text 3"/>
          <p:cNvSpPr txBox="1"/>
          <p:nvPr/>
        </p:nvSpPr>
        <p:spPr>
          <a:xfrm>
            <a:off x="11091672" y="6510528"/>
            <a:ext cx="548640" cy="228600"/>
          </a:xfrm>
          <a:prstGeom prst="rect">
            <a:avLst/>
          </a:prstGeom>
          <a:noFill/>
          <a:ln/>
        </p:spPr>
        <p:txBody>
          <a:bodyPr wrap="square" lIns="0" tIns="0" rIns="0" bIns="0" rtlCol="0" anchor="t"/>
          <a:lstStyle/>
          <a:p>
            <a:pPr algn="r" indent="0" marL="0">
              <a:buNone/>
            </a:pPr>
            <a:r>
              <a:rPr lang="en-US" sz="1000" dirty="0">
                <a:solidFill>
                  <a:srgbClr val="64748B"/>
                </a:solidFill>
                <a:latin typeface="Calibri" pitchFamily="34" charset="0"/>
                <a:ea typeface="Calibri" pitchFamily="34" charset="-122"/>
                <a:cs typeface="Calibri" pitchFamily="34" charset="-120"/>
              </a:rPr>
              <a:t>4</a:t>
            </a:r>
            <a:endParaRPr lang="en-US" sz="1000" dirty="0"/>
          </a:p>
        </p:txBody>
      </p:sp>
      <p:sp>
        <p:nvSpPr>
          <p:cNvPr id="6" name="Shape 4"/>
          <p:cNvSpPr/>
          <p:nvPr/>
        </p:nvSpPr>
        <p:spPr>
          <a:xfrm>
            <a:off x="548640" y="1371600"/>
            <a:ext cx="6675120" cy="4846320"/>
          </a:xfrm>
          <a:prstGeom prst="roundRect">
            <a:avLst>
              <a:gd name="adj" fmla="val 1509"/>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7" name="Shape 5"/>
          <p:cNvSpPr/>
          <p:nvPr/>
        </p:nvSpPr>
        <p:spPr>
          <a:xfrm>
            <a:off x="822960" y="1600200"/>
            <a:ext cx="548640" cy="548640"/>
          </a:xfrm>
          <a:prstGeom prst="ellipse">
            <a:avLst/>
          </a:prstGeom>
          <a:solidFill>
            <a:srgbClr val="0E7C86"/>
          </a:solidFill>
          <a:ln w="6350">
            <a:solidFill>
              <a:srgbClr val="0E7C86"/>
            </a:solidFill>
            <a:prstDash val="solid"/>
          </a:ln>
        </p:spPr>
      </p:sp>
      <p:pic>
        <p:nvPicPr>
          <p:cNvPr id="8" name="Image 0" descr="preencoded.png">    </p:cNvPr>
          <p:cNvPicPr>
            <a:picLocks noChangeAspect="1"/>
          </p:cNvPicPr>
          <p:nvPr/>
        </p:nvPicPr>
        <p:blipFill>
          <a:blip r:embed="rId1"/>
          <a:stretch>
            <a:fillRect/>
          </a:stretch>
        </p:blipFill>
        <p:spPr>
          <a:xfrm>
            <a:off x="965606" y="1742846"/>
            <a:ext cx="263347" cy="263347"/>
          </a:xfrm>
          <a:prstGeom prst="rect">
            <a:avLst/>
          </a:prstGeom>
        </p:spPr>
      </p:pic>
      <p:sp>
        <p:nvSpPr>
          <p:cNvPr id="9" name="Text 6"/>
          <p:cNvSpPr txBox="1"/>
          <p:nvPr/>
        </p:nvSpPr>
        <p:spPr>
          <a:xfrm>
            <a:off x="1554480" y="1645920"/>
            <a:ext cx="4572000" cy="457200"/>
          </a:xfrm>
          <a:prstGeom prst="rect">
            <a:avLst/>
          </a:prstGeom>
          <a:noFill/>
          <a:ln/>
        </p:spPr>
        <p:txBody>
          <a:bodyPr wrap="square" lIns="0" tIns="0" rIns="0" bIns="0" rtlCol="0" anchor="ctr"/>
          <a:lstStyle/>
          <a:p>
            <a:pPr indent="0" marL="0">
              <a:buNone/>
            </a:pPr>
            <a:r>
              <a:rPr lang="en-US" sz="2000" b="1" dirty="0">
                <a:solidFill>
                  <a:srgbClr val="0B1F33"/>
                </a:solidFill>
                <a:latin typeface="Calibri" pitchFamily="34" charset="0"/>
                <a:ea typeface="Calibri" pitchFamily="34" charset="-122"/>
                <a:cs typeface="Calibri" pitchFamily="34" charset="-120"/>
              </a:rPr>
              <a:t>Dataset overview</a:t>
            </a:r>
            <a:endParaRPr lang="en-US" sz="2000" dirty="0"/>
          </a:p>
        </p:txBody>
      </p:sp>
      <p:sp>
        <p:nvSpPr>
          <p:cNvPr id="10" name="Text 7"/>
          <p:cNvSpPr txBox="1"/>
          <p:nvPr/>
        </p:nvSpPr>
        <p:spPr>
          <a:xfrm>
            <a:off x="822960" y="2331720"/>
            <a:ext cx="6126480" cy="45720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Retail order data (Superstore-style schema), synthetic sample, Jan 2022 – Dec 2025</a:t>
            </a:r>
            <a:endParaRPr lang="en-US" sz="1300" dirty="0"/>
          </a:p>
        </p:txBody>
      </p:sp>
      <p:sp>
        <p:nvSpPr>
          <p:cNvPr id="11" name="Shape 8"/>
          <p:cNvSpPr/>
          <p:nvPr/>
        </p:nvSpPr>
        <p:spPr>
          <a:xfrm>
            <a:off x="822960" y="2971800"/>
            <a:ext cx="1371600" cy="1188720"/>
          </a:xfrm>
          <a:prstGeom prst="roundRect">
            <a:avLst>
              <a:gd name="adj" fmla="val 6154"/>
            </a:avLst>
          </a:prstGeom>
          <a:solidFill>
            <a:srgbClr val="D6EEF0"/>
          </a:solidFill>
          <a:ln w="12700">
            <a:solidFill>
              <a:srgbClr val="D6EEF0"/>
            </a:solidFill>
            <a:prstDash val="solid"/>
          </a:ln>
        </p:spPr>
      </p:sp>
      <p:sp>
        <p:nvSpPr>
          <p:cNvPr id="12" name="Text 9"/>
          <p:cNvSpPr txBox="1"/>
          <p:nvPr/>
        </p:nvSpPr>
        <p:spPr>
          <a:xfrm>
            <a:off x="822960" y="3108960"/>
            <a:ext cx="1371600" cy="502920"/>
          </a:xfrm>
          <a:prstGeom prst="rect">
            <a:avLst/>
          </a:prstGeom>
          <a:noFill/>
          <a:ln/>
        </p:spPr>
        <p:txBody>
          <a:bodyPr wrap="square" lIns="0" tIns="0" rIns="0" bIns="0" rtlCol="0" anchor="t"/>
          <a:lstStyle/>
          <a:p>
            <a:pPr algn="ctr" indent="0" marL="0">
              <a:buNone/>
            </a:pPr>
            <a:r>
              <a:rPr lang="en-US" sz="2600" b="1" dirty="0">
                <a:solidFill>
                  <a:srgbClr val="0E7C86"/>
                </a:solidFill>
                <a:latin typeface="Cambria" pitchFamily="34" charset="0"/>
                <a:ea typeface="Cambria" pitchFamily="34" charset="-122"/>
                <a:cs typeface="Cambria" pitchFamily="34" charset="-120"/>
              </a:rPr>
              <a:t>6,050</a:t>
            </a:r>
            <a:endParaRPr lang="en-US" sz="2600" dirty="0"/>
          </a:p>
        </p:txBody>
      </p:sp>
      <p:sp>
        <p:nvSpPr>
          <p:cNvPr id="13" name="Text 10"/>
          <p:cNvSpPr txBox="1"/>
          <p:nvPr/>
        </p:nvSpPr>
        <p:spPr>
          <a:xfrm>
            <a:off x="822960" y="3675888"/>
            <a:ext cx="1371600" cy="274320"/>
          </a:xfrm>
          <a:prstGeom prst="rect">
            <a:avLst/>
          </a:prstGeom>
          <a:noFill/>
          <a:ln/>
        </p:spPr>
        <p:txBody>
          <a:bodyPr wrap="square" lIns="0" tIns="0" rIns="0" bIns="0" rtlCol="0" anchor="t"/>
          <a:lstStyle/>
          <a:p>
            <a:pPr algn="ctr" indent="0" marL="0">
              <a:buNone/>
            </a:pPr>
            <a:r>
              <a:rPr lang="en-US" sz="1200" dirty="0">
                <a:solidFill>
                  <a:srgbClr val="1F2937"/>
                </a:solidFill>
                <a:latin typeface="Calibri" pitchFamily="34" charset="0"/>
                <a:ea typeface="Calibri" pitchFamily="34" charset="-122"/>
                <a:cs typeface="Calibri" pitchFamily="34" charset="-120"/>
              </a:rPr>
              <a:t>order lines</a:t>
            </a:r>
            <a:endParaRPr lang="en-US" sz="1200" dirty="0"/>
          </a:p>
        </p:txBody>
      </p:sp>
      <p:sp>
        <p:nvSpPr>
          <p:cNvPr id="14" name="Shape 11"/>
          <p:cNvSpPr/>
          <p:nvPr/>
        </p:nvSpPr>
        <p:spPr>
          <a:xfrm>
            <a:off x="2359152" y="2971800"/>
            <a:ext cx="1371600" cy="1188720"/>
          </a:xfrm>
          <a:prstGeom prst="roundRect">
            <a:avLst>
              <a:gd name="adj" fmla="val 6154"/>
            </a:avLst>
          </a:prstGeom>
          <a:solidFill>
            <a:srgbClr val="D6EEF0"/>
          </a:solidFill>
          <a:ln w="12700">
            <a:solidFill>
              <a:srgbClr val="D6EEF0"/>
            </a:solidFill>
            <a:prstDash val="solid"/>
          </a:ln>
        </p:spPr>
      </p:sp>
      <p:sp>
        <p:nvSpPr>
          <p:cNvPr id="15" name="Text 12"/>
          <p:cNvSpPr txBox="1"/>
          <p:nvPr/>
        </p:nvSpPr>
        <p:spPr>
          <a:xfrm>
            <a:off x="2359152" y="3108960"/>
            <a:ext cx="1371600" cy="502920"/>
          </a:xfrm>
          <a:prstGeom prst="rect">
            <a:avLst/>
          </a:prstGeom>
          <a:noFill/>
          <a:ln/>
        </p:spPr>
        <p:txBody>
          <a:bodyPr wrap="square" lIns="0" tIns="0" rIns="0" bIns="0" rtlCol="0" anchor="t"/>
          <a:lstStyle/>
          <a:p>
            <a:pPr algn="ctr" indent="0" marL="0">
              <a:buNone/>
            </a:pPr>
            <a:r>
              <a:rPr lang="en-US" sz="2600" b="1" dirty="0">
                <a:solidFill>
                  <a:srgbClr val="0E7C86"/>
                </a:solidFill>
                <a:latin typeface="Cambria" pitchFamily="34" charset="0"/>
                <a:ea typeface="Cambria" pitchFamily="34" charset="-122"/>
                <a:cs typeface="Cambria" pitchFamily="34" charset="-120"/>
              </a:rPr>
              <a:t>48</a:t>
            </a:r>
            <a:endParaRPr lang="en-US" sz="2600" dirty="0"/>
          </a:p>
        </p:txBody>
      </p:sp>
      <p:sp>
        <p:nvSpPr>
          <p:cNvPr id="16" name="Text 13"/>
          <p:cNvSpPr txBox="1"/>
          <p:nvPr/>
        </p:nvSpPr>
        <p:spPr>
          <a:xfrm>
            <a:off x="2359152" y="3675888"/>
            <a:ext cx="1371600" cy="274320"/>
          </a:xfrm>
          <a:prstGeom prst="rect">
            <a:avLst/>
          </a:prstGeom>
          <a:noFill/>
          <a:ln/>
        </p:spPr>
        <p:txBody>
          <a:bodyPr wrap="square" lIns="0" tIns="0" rIns="0" bIns="0" rtlCol="0" anchor="t"/>
          <a:lstStyle/>
          <a:p>
            <a:pPr algn="ctr" indent="0" marL="0">
              <a:buNone/>
            </a:pPr>
            <a:r>
              <a:rPr lang="en-US" sz="1200" dirty="0">
                <a:solidFill>
                  <a:srgbClr val="1F2937"/>
                </a:solidFill>
                <a:latin typeface="Calibri" pitchFamily="34" charset="0"/>
                <a:ea typeface="Calibri" pitchFamily="34" charset="-122"/>
                <a:cs typeface="Calibri" pitchFamily="34" charset="-120"/>
              </a:rPr>
              <a:t>months</a:t>
            </a:r>
            <a:endParaRPr lang="en-US" sz="1200" dirty="0"/>
          </a:p>
        </p:txBody>
      </p:sp>
      <p:sp>
        <p:nvSpPr>
          <p:cNvPr id="17" name="Shape 14"/>
          <p:cNvSpPr/>
          <p:nvPr/>
        </p:nvSpPr>
        <p:spPr>
          <a:xfrm>
            <a:off x="3895344" y="2971800"/>
            <a:ext cx="1371600" cy="1188720"/>
          </a:xfrm>
          <a:prstGeom prst="roundRect">
            <a:avLst>
              <a:gd name="adj" fmla="val 6154"/>
            </a:avLst>
          </a:prstGeom>
          <a:solidFill>
            <a:srgbClr val="D6EEF0"/>
          </a:solidFill>
          <a:ln w="12700">
            <a:solidFill>
              <a:srgbClr val="D6EEF0"/>
            </a:solidFill>
            <a:prstDash val="solid"/>
          </a:ln>
        </p:spPr>
      </p:sp>
      <p:sp>
        <p:nvSpPr>
          <p:cNvPr id="18" name="Text 15"/>
          <p:cNvSpPr txBox="1"/>
          <p:nvPr/>
        </p:nvSpPr>
        <p:spPr>
          <a:xfrm>
            <a:off x="3895344" y="3108960"/>
            <a:ext cx="1371600" cy="502920"/>
          </a:xfrm>
          <a:prstGeom prst="rect">
            <a:avLst/>
          </a:prstGeom>
          <a:noFill/>
          <a:ln/>
        </p:spPr>
        <p:txBody>
          <a:bodyPr wrap="square" lIns="0" tIns="0" rIns="0" bIns="0" rtlCol="0" anchor="t"/>
          <a:lstStyle/>
          <a:p>
            <a:pPr algn="ctr" indent="0" marL="0">
              <a:buNone/>
            </a:pPr>
            <a:r>
              <a:rPr lang="en-US" sz="2600" b="1" dirty="0">
                <a:solidFill>
                  <a:srgbClr val="0E7C86"/>
                </a:solidFill>
                <a:latin typeface="Cambria" pitchFamily="34" charset="0"/>
                <a:ea typeface="Cambria" pitchFamily="34" charset="-122"/>
                <a:cs typeface="Cambria" pitchFamily="34" charset="-120"/>
              </a:rPr>
              <a:t>4</a:t>
            </a:r>
            <a:endParaRPr lang="en-US" sz="2600" dirty="0"/>
          </a:p>
        </p:txBody>
      </p:sp>
      <p:sp>
        <p:nvSpPr>
          <p:cNvPr id="19" name="Text 16"/>
          <p:cNvSpPr txBox="1"/>
          <p:nvPr/>
        </p:nvSpPr>
        <p:spPr>
          <a:xfrm>
            <a:off x="3895344" y="3675888"/>
            <a:ext cx="1371600" cy="274320"/>
          </a:xfrm>
          <a:prstGeom prst="rect">
            <a:avLst/>
          </a:prstGeom>
          <a:noFill/>
          <a:ln/>
        </p:spPr>
        <p:txBody>
          <a:bodyPr wrap="square" lIns="0" tIns="0" rIns="0" bIns="0" rtlCol="0" anchor="t"/>
          <a:lstStyle/>
          <a:p>
            <a:pPr algn="ctr" indent="0" marL="0">
              <a:buNone/>
            </a:pPr>
            <a:r>
              <a:rPr lang="en-US" sz="1200" dirty="0">
                <a:solidFill>
                  <a:srgbClr val="1F2937"/>
                </a:solidFill>
                <a:latin typeface="Calibri" pitchFamily="34" charset="0"/>
                <a:ea typeface="Calibri" pitchFamily="34" charset="-122"/>
                <a:cs typeface="Calibri" pitchFamily="34" charset="-120"/>
              </a:rPr>
              <a:t>regions</a:t>
            </a:r>
            <a:endParaRPr lang="en-US" sz="1200" dirty="0"/>
          </a:p>
        </p:txBody>
      </p:sp>
      <p:sp>
        <p:nvSpPr>
          <p:cNvPr id="20" name="Shape 17"/>
          <p:cNvSpPr/>
          <p:nvPr/>
        </p:nvSpPr>
        <p:spPr>
          <a:xfrm>
            <a:off x="5431536" y="2971800"/>
            <a:ext cx="1371600" cy="1188720"/>
          </a:xfrm>
          <a:prstGeom prst="roundRect">
            <a:avLst>
              <a:gd name="adj" fmla="val 6154"/>
            </a:avLst>
          </a:prstGeom>
          <a:solidFill>
            <a:srgbClr val="D6EEF0"/>
          </a:solidFill>
          <a:ln w="12700">
            <a:solidFill>
              <a:srgbClr val="D6EEF0"/>
            </a:solidFill>
            <a:prstDash val="solid"/>
          </a:ln>
        </p:spPr>
      </p:sp>
      <p:sp>
        <p:nvSpPr>
          <p:cNvPr id="21" name="Text 18"/>
          <p:cNvSpPr txBox="1"/>
          <p:nvPr/>
        </p:nvSpPr>
        <p:spPr>
          <a:xfrm>
            <a:off x="5431536" y="3108960"/>
            <a:ext cx="1371600" cy="502920"/>
          </a:xfrm>
          <a:prstGeom prst="rect">
            <a:avLst/>
          </a:prstGeom>
          <a:noFill/>
          <a:ln/>
        </p:spPr>
        <p:txBody>
          <a:bodyPr wrap="square" lIns="0" tIns="0" rIns="0" bIns="0" rtlCol="0" anchor="t"/>
          <a:lstStyle/>
          <a:p>
            <a:pPr algn="ctr" indent="0" marL="0">
              <a:buNone/>
            </a:pPr>
            <a:r>
              <a:rPr lang="en-US" sz="2600" b="1" dirty="0">
                <a:solidFill>
                  <a:srgbClr val="0E7C86"/>
                </a:solidFill>
                <a:latin typeface="Cambria" pitchFamily="34" charset="0"/>
                <a:ea typeface="Cambria" pitchFamily="34" charset="-122"/>
                <a:cs typeface="Cambria" pitchFamily="34" charset="-120"/>
              </a:rPr>
              <a:t>3</a:t>
            </a:r>
            <a:endParaRPr lang="en-US" sz="2600" dirty="0"/>
          </a:p>
        </p:txBody>
      </p:sp>
      <p:sp>
        <p:nvSpPr>
          <p:cNvPr id="22" name="Text 19"/>
          <p:cNvSpPr txBox="1"/>
          <p:nvPr/>
        </p:nvSpPr>
        <p:spPr>
          <a:xfrm>
            <a:off x="5431536" y="3675888"/>
            <a:ext cx="1371600" cy="274320"/>
          </a:xfrm>
          <a:prstGeom prst="rect">
            <a:avLst/>
          </a:prstGeom>
          <a:noFill/>
          <a:ln/>
        </p:spPr>
        <p:txBody>
          <a:bodyPr wrap="square" lIns="0" tIns="0" rIns="0" bIns="0" rtlCol="0" anchor="t"/>
          <a:lstStyle/>
          <a:p>
            <a:pPr algn="ctr" indent="0" marL="0">
              <a:buNone/>
            </a:pPr>
            <a:r>
              <a:rPr lang="en-US" sz="1200" dirty="0">
                <a:solidFill>
                  <a:srgbClr val="1F2937"/>
                </a:solidFill>
                <a:latin typeface="Calibri" pitchFamily="34" charset="0"/>
                <a:ea typeface="Calibri" pitchFamily="34" charset="-122"/>
                <a:cs typeface="Calibri" pitchFamily="34" charset="-120"/>
              </a:rPr>
              <a:t>categories</a:t>
            </a:r>
            <a:endParaRPr lang="en-US" sz="1200" dirty="0"/>
          </a:p>
        </p:txBody>
      </p:sp>
      <p:sp>
        <p:nvSpPr>
          <p:cNvPr id="23" name="Text 20"/>
          <p:cNvSpPr txBox="1"/>
          <p:nvPr/>
        </p:nvSpPr>
        <p:spPr>
          <a:xfrm>
            <a:off x="822960" y="4526280"/>
            <a:ext cx="5486400" cy="274320"/>
          </a:xfrm>
          <a:prstGeom prst="rect">
            <a:avLst/>
          </a:prstGeom>
          <a:noFill/>
          <a:ln/>
        </p:spPr>
        <p:txBody>
          <a:bodyPr wrap="square" lIns="0" tIns="0" rIns="0" bIns="0" rtlCol="0" anchor="t"/>
          <a:lstStyle/>
          <a:p>
            <a:pPr indent="0" marL="0">
              <a:buNone/>
            </a:pPr>
            <a:r>
              <a:rPr lang="en-US" sz="1400" b="1" dirty="0">
                <a:solidFill>
                  <a:srgbClr val="0B1F33"/>
                </a:solidFill>
                <a:latin typeface="Calibri" pitchFamily="34" charset="0"/>
                <a:ea typeface="Calibri" pitchFamily="34" charset="-122"/>
                <a:cs typeface="Calibri" pitchFamily="34" charset="-120"/>
              </a:rPr>
              <a:t>Fields used</a:t>
            </a:r>
            <a:endParaRPr lang="en-US" sz="1400" dirty="0"/>
          </a:p>
        </p:txBody>
      </p:sp>
      <p:sp>
        <p:nvSpPr>
          <p:cNvPr id="24" name="Shape 21"/>
          <p:cNvSpPr/>
          <p:nvPr/>
        </p:nvSpPr>
        <p:spPr>
          <a:xfrm>
            <a:off x="822960" y="4937760"/>
            <a:ext cx="873252" cy="329184"/>
          </a:xfrm>
          <a:prstGeom prst="roundRect">
            <a:avLst>
              <a:gd name="adj" fmla="val 50000"/>
            </a:avLst>
          </a:prstGeom>
          <a:solidFill>
            <a:srgbClr val="F3F6F9"/>
          </a:solidFill>
          <a:ln w="9525">
            <a:solidFill>
              <a:srgbClr val="D9E1E8"/>
            </a:solidFill>
            <a:prstDash val="solid"/>
          </a:ln>
        </p:spPr>
      </p:sp>
      <p:sp>
        <p:nvSpPr>
          <p:cNvPr id="25" name="Text 22"/>
          <p:cNvSpPr txBox="1"/>
          <p:nvPr/>
        </p:nvSpPr>
        <p:spPr>
          <a:xfrm>
            <a:off x="822960" y="4937760"/>
            <a:ext cx="873252" cy="329184"/>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OrderID</a:t>
            </a:r>
            <a:endParaRPr lang="en-US" sz="1100" dirty="0"/>
          </a:p>
        </p:txBody>
      </p:sp>
      <p:sp>
        <p:nvSpPr>
          <p:cNvPr id="26" name="Shape 23"/>
          <p:cNvSpPr/>
          <p:nvPr/>
        </p:nvSpPr>
        <p:spPr>
          <a:xfrm>
            <a:off x="1805940" y="4937760"/>
            <a:ext cx="1065276" cy="329184"/>
          </a:xfrm>
          <a:prstGeom prst="roundRect">
            <a:avLst>
              <a:gd name="adj" fmla="val 50000"/>
            </a:avLst>
          </a:prstGeom>
          <a:solidFill>
            <a:srgbClr val="F3F6F9"/>
          </a:solidFill>
          <a:ln w="9525">
            <a:solidFill>
              <a:srgbClr val="D9E1E8"/>
            </a:solidFill>
            <a:prstDash val="solid"/>
          </a:ln>
        </p:spPr>
      </p:sp>
      <p:sp>
        <p:nvSpPr>
          <p:cNvPr id="27" name="Text 24"/>
          <p:cNvSpPr txBox="1"/>
          <p:nvPr/>
        </p:nvSpPr>
        <p:spPr>
          <a:xfrm>
            <a:off x="1805940" y="4937760"/>
            <a:ext cx="1065276" cy="329184"/>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OrderDate</a:t>
            </a:r>
            <a:endParaRPr lang="en-US" sz="1100" dirty="0"/>
          </a:p>
        </p:txBody>
      </p:sp>
      <p:sp>
        <p:nvSpPr>
          <p:cNvPr id="28" name="Shape 25"/>
          <p:cNvSpPr/>
          <p:nvPr/>
        </p:nvSpPr>
        <p:spPr>
          <a:xfrm>
            <a:off x="2980944" y="4937760"/>
            <a:ext cx="777240" cy="329184"/>
          </a:xfrm>
          <a:prstGeom prst="roundRect">
            <a:avLst>
              <a:gd name="adj" fmla="val 50000"/>
            </a:avLst>
          </a:prstGeom>
          <a:solidFill>
            <a:srgbClr val="F3F6F9"/>
          </a:solidFill>
          <a:ln w="9525">
            <a:solidFill>
              <a:srgbClr val="D9E1E8"/>
            </a:solidFill>
            <a:prstDash val="solid"/>
          </a:ln>
        </p:spPr>
      </p:sp>
      <p:sp>
        <p:nvSpPr>
          <p:cNvPr id="29" name="Text 26"/>
          <p:cNvSpPr txBox="1"/>
          <p:nvPr/>
        </p:nvSpPr>
        <p:spPr>
          <a:xfrm>
            <a:off x="2980944" y="4937760"/>
            <a:ext cx="777240" cy="329184"/>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Region</a:t>
            </a:r>
            <a:endParaRPr lang="en-US" sz="1100" dirty="0"/>
          </a:p>
        </p:txBody>
      </p:sp>
      <p:sp>
        <p:nvSpPr>
          <p:cNvPr id="30" name="Shape 27"/>
          <p:cNvSpPr/>
          <p:nvPr/>
        </p:nvSpPr>
        <p:spPr>
          <a:xfrm>
            <a:off x="3867912" y="4937760"/>
            <a:ext cx="969264" cy="329184"/>
          </a:xfrm>
          <a:prstGeom prst="roundRect">
            <a:avLst>
              <a:gd name="adj" fmla="val 50000"/>
            </a:avLst>
          </a:prstGeom>
          <a:solidFill>
            <a:srgbClr val="F3F6F9"/>
          </a:solidFill>
          <a:ln w="9525">
            <a:solidFill>
              <a:srgbClr val="D9E1E8"/>
            </a:solidFill>
            <a:prstDash val="solid"/>
          </a:ln>
        </p:spPr>
      </p:sp>
      <p:sp>
        <p:nvSpPr>
          <p:cNvPr id="31" name="Text 28"/>
          <p:cNvSpPr txBox="1"/>
          <p:nvPr/>
        </p:nvSpPr>
        <p:spPr>
          <a:xfrm>
            <a:off x="3867912" y="4937760"/>
            <a:ext cx="969264" cy="329184"/>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Category</a:t>
            </a:r>
            <a:endParaRPr lang="en-US" sz="1100" dirty="0"/>
          </a:p>
        </p:txBody>
      </p:sp>
      <p:sp>
        <p:nvSpPr>
          <p:cNvPr id="32" name="Shape 29"/>
          <p:cNvSpPr/>
          <p:nvPr/>
        </p:nvSpPr>
        <p:spPr>
          <a:xfrm>
            <a:off x="4946904" y="4937760"/>
            <a:ext cx="873252" cy="329184"/>
          </a:xfrm>
          <a:prstGeom prst="roundRect">
            <a:avLst>
              <a:gd name="adj" fmla="val 50000"/>
            </a:avLst>
          </a:prstGeom>
          <a:solidFill>
            <a:srgbClr val="F3F6F9"/>
          </a:solidFill>
          <a:ln w="9525">
            <a:solidFill>
              <a:srgbClr val="D9E1E8"/>
            </a:solidFill>
            <a:prstDash val="solid"/>
          </a:ln>
        </p:spPr>
      </p:sp>
      <p:sp>
        <p:nvSpPr>
          <p:cNvPr id="33" name="Text 30"/>
          <p:cNvSpPr txBox="1"/>
          <p:nvPr/>
        </p:nvSpPr>
        <p:spPr>
          <a:xfrm>
            <a:off x="4946904" y="4937760"/>
            <a:ext cx="873252" cy="329184"/>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Segment</a:t>
            </a:r>
            <a:endParaRPr lang="en-US" sz="1100" dirty="0"/>
          </a:p>
        </p:txBody>
      </p:sp>
      <p:sp>
        <p:nvSpPr>
          <p:cNvPr id="34" name="Shape 31"/>
          <p:cNvSpPr/>
          <p:nvPr/>
        </p:nvSpPr>
        <p:spPr>
          <a:xfrm>
            <a:off x="5929884" y="4937760"/>
            <a:ext cx="969264" cy="329184"/>
          </a:xfrm>
          <a:prstGeom prst="roundRect">
            <a:avLst>
              <a:gd name="adj" fmla="val 50000"/>
            </a:avLst>
          </a:prstGeom>
          <a:solidFill>
            <a:srgbClr val="F3F6F9"/>
          </a:solidFill>
          <a:ln w="9525">
            <a:solidFill>
              <a:srgbClr val="D9E1E8"/>
            </a:solidFill>
            <a:prstDash val="solid"/>
          </a:ln>
        </p:spPr>
      </p:sp>
      <p:sp>
        <p:nvSpPr>
          <p:cNvPr id="35" name="Text 32"/>
          <p:cNvSpPr txBox="1"/>
          <p:nvPr/>
        </p:nvSpPr>
        <p:spPr>
          <a:xfrm>
            <a:off x="5929884" y="4937760"/>
            <a:ext cx="969264" cy="329184"/>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Quantity</a:t>
            </a:r>
            <a:endParaRPr lang="en-US" sz="1100" dirty="0"/>
          </a:p>
        </p:txBody>
      </p:sp>
      <p:sp>
        <p:nvSpPr>
          <p:cNvPr id="36" name="Shape 33"/>
          <p:cNvSpPr/>
          <p:nvPr/>
        </p:nvSpPr>
        <p:spPr>
          <a:xfrm>
            <a:off x="822960" y="5394960"/>
            <a:ext cx="681228" cy="329184"/>
          </a:xfrm>
          <a:prstGeom prst="roundRect">
            <a:avLst>
              <a:gd name="adj" fmla="val 50000"/>
            </a:avLst>
          </a:prstGeom>
          <a:solidFill>
            <a:srgbClr val="F3F6F9"/>
          </a:solidFill>
          <a:ln w="9525">
            <a:solidFill>
              <a:srgbClr val="D9E1E8"/>
            </a:solidFill>
            <a:prstDash val="solid"/>
          </a:ln>
        </p:spPr>
      </p:sp>
      <p:sp>
        <p:nvSpPr>
          <p:cNvPr id="37" name="Text 34"/>
          <p:cNvSpPr txBox="1"/>
          <p:nvPr/>
        </p:nvSpPr>
        <p:spPr>
          <a:xfrm>
            <a:off x="822960" y="5394960"/>
            <a:ext cx="681228" cy="329184"/>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Sales</a:t>
            </a:r>
            <a:endParaRPr lang="en-US" sz="1100" dirty="0"/>
          </a:p>
        </p:txBody>
      </p:sp>
      <p:sp>
        <p:nvSpPr>
          <p:cNvPr id="38" name="Shape 35"/>
          <p:cNvSpPr/>
          <p:nvPr/>
        </p:nvSpPr>
        <p:spPr>
          <a:xfrm>
            <a:off x="1613916" y="5394960"/>
            <a:ext cx="969264" cy="329184"/>
          </a:xfrm>
          <a:prstGeom prst="roundRect">
            <a:avLst>
              <a:gd name="adj" fmla="val 50000"/>
            </a:avLst>
          </a:prstGeom>
          <a:solidFill>
            <a:srgbClr val="F3F6F9"/>
          </a:solidFill>
          <a:ln w="9525">
            <a:solidFill>
              <a:srgbClr val="D9E1E8"/>
            </a:solidFill>
            <a:prstDash val="solid"/>
          </a:ln>
        </p:spPr>
      </p:sp>
      <p:sp>
        <p:nvSpPr>
          <p:cNvPr id="39" name="Text 36"/>
          <p:cNvSpPr txBox="1"/>
          <p:nvPr/>
        </p:nvSpPr>
        <p:spPr>
          <a:xfrm>
            <a:off x="1613916" y="5394960"/>
            <a:ext cx="969264" cy="329184"/>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Discount</a:t>
            </a:r>
            <a:endParaRPr lang="en-US" sz="1100" dirty="0"/>
          </a:p>
        </p:txBody>
      </p:sp>
      <p:sp>
        <p:nvSpPr>
          <p:cNvPr id="40" name="Shape 37"/>
          <p:cNvSpPr/>
          <p:nvPr/>
        </p:nvSpPr>
        <p:spPr>
          <a:xfrm>
            <a:off x="2692908" y="5394960"/>
            <a:ext cx="777240" cy="329184"/>
          </a:xfrm>
          <a:prstGeom prst="roundRect">
            <a:avLst>
              <a:gd name="adj" fmla="val 50000"/>
            </a:avLst>
          </a:prstGeom>
          <a:solidFill>
            <a:srgbClr val="F3F6F9"/>
          </a:solidFill>
          <a:ln w="9525">
            <a:solidFill>
              <a:srgbClr val="D9E1E8"/>
            </a:solidFill>
            <a:prstDash val="solid"/>
          </a:ln>
        </p:spPr>
      </p:sp>
      <p:sp>
        <p:nvSpPr>
          <p:cNvPr id="41" name="Text 38"/>
          <p:cNvSpPr txBox="1"/>
          <p:nvPr/>
        </p:nvSpPr>
        <p:spPr>
          <a:xfrm>
            <a:off x="2692908" y="5394960"/>
            <a:ext cx="777240" cy="329184"/>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Profit</a:t>
            </a:r>
            <a:endParaRPr lang="en-US" sz="1100" dirty="0"/>
          </a:p>
        </p:txBody>
      </p:sp>
      <p:sp>
        <p:nvSpPr>
          <p:cNvPr id="42" name="Shape 39"/>
          <p:cNvSpPr/>
          <p:nvPr/>
        </p:nvSpPr>
        <p:spPr>
          <a:xfrm>
            <a:off x="3579876" y="5394960"/>
            <a:ext cx="969264" cy="329184"/>
          </a:xfrm>
          <a:prstGeom prst="roundRect">
            <a:avLst>
              <a:gd name="adj" fmla="val 50000"/>
            </a:avLst>
          </a:prstGeom>
          <a:solidFill>
            <a:srgbClr val="F3F6F9"/>
          </a:solidFill>
          <a:ln w="9525">
            <a:solidFill>
              <a:srgbClr val="D9E1E8"/>
            </a:solidFill>
            <a:prstDash val="solid"/>
          </a:ln>
        </p:spPr>
      </p:sp>
      <p:sp>
        <p:nvSpPr>
          <p:cNvPr id="43" name="Text 40"/>
          <p:cNvSpPr txBox="1"/>
          <p:nvPr/>
        </p:nvSpPr>
        <p:spPr>
          <a:xfrm>
            <a:off x="3579876" y="5394960"/>
            <a:ext cx="969264" cy="329184"/>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ShipDays</a:t>
            </a:r>
            <a:endParaRPr lang="en-US" sz="1100" dirty="0"/>
          </a:p>
        </p:txBody>
      </p:sp>
      <p:sp>
        <p:nvSpPr>
          <p:cNvPr id="44" name="Shape 41"/>
          <p:cNvSpPr/>
          <p:nvPr/>
        </p:nvSpPr>
        <p:spPr>
          <a:xfrm>
            <a:off x="4658868" y="5394960"/>
            <a:ext cx="969264" cy="329184"/>
          </a:xfrm>
          <a:prstGeom prst="roundRect">
            <a:avLst>
              <a:gd name="adj" fmla="val 50000"/>
            </a:avLst>
          </a:prstGeom>
          <a:solidFill>
            <a:srgbClr val="F3F6F9"/>
          </a:solidFill>
          <a:ln w="9525">
            <a:solidFill>
              <a:srgbClr val="D9E1E8"/>
            </a:solidFill>
            <a:prstDash val="solid"/>
          </a:ln>
        </p:spPr>
      </p:sp>
      <p:sp>
        <p:nvSpPr>
          <p:cNvPr id="45" name="Text 42"/>
          <p:cNvSpPr txBox="1"/>
          <p:nvPr/>
        </p:nvSpPr>
        <p:spPr>
          <a:xfrm>
            <a:off x="4658868" y="5394960"/>
            <a:ext cx="969264" cy="329184"/>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Returned</a:t>
            </a:r>
            <a:endParaRPr lang="en-US" sz="1100" dirty="0"/>
          </a:p>
        </p:txBody>
      </p:sp>
      <p:sp>
        <p:nvSpPr>
          <p:cNvPr id="46" name="Shape 43"/>
          <p:cNvSpPr/>
          <p:nvPr/>
        </p:nvSpPr>
        <p:spPr>
          <a:xfrm>
            <a:off x="7498080" y="1371600"/>
            <a:ext cx="4142232" cy="1097280"/>
          </a:xfrm>
          <a:prstGeom prst="roundRect">
            <a:avLst>
              <a:gd name="adj" fmla="val 6667"/>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47" name="Shape 44"/>
          <p:cNvSpPr/>
          <p:nvPr/>
        </p:nvSpPr>
        <p:spPr>
          <a:xfrm>
            <a:off x="7726680" y="1645920"/>
            <a:ext cx="548640" cy="548640"/>
          </a:xfrm>
          <a:prstGeom prst="ellipse">
            <a:avLst/>
          </a:prstGeom>
          <a:solidFill>
            <a:srgbClr val="F59E0B"/>
          </a:solidFill>
          <a:ln w="6350">
            <a:solidFill>
              <a:srgbClr val="F59E0B"/>
            </a:solidFill>
            <a:prstDash val="solid"/>
          </a:ln>
        </p:spPr>
      </p:sp>
      <p:pic>
        <p:nvPicPr>
          <p:cNvPr id="48" name="Image 1" descr="preencoded.png">    </p:cNvPr>
          <p:cNvPicPr>
            <a:picLocks noChangeAspect="1"/>
          </p:cNvPicPr>
          <p:nvPr/>
        </p:nvPicPr>
        <p:blipFill>
          <a:blip r:embed="rId2"/>
          <a:stretch>
            <a:fillRect/>
          </a:stretch>
        </p:blipFill>
        <p:spPr>
          <a:xfrm>
            <a:off x="7869326" y="1788566"/>
            <a:ext cx="263347" cy="263347"/>
          </a:xfrm>
          <a:prstGeom prst="rect">
            <a:avLst/>
          </a:prstGeom>
        </p:spPr>
      </p:pic>
      <p:sp>
        <p:nvSpPr>
          <p:cNvPr id="49" name="Text 45"/>
          <p:cNvSpPr txBox="1"/>
          <p:nvPr/>
        </p:nvSpPr>
        <p:spPr>
          <a:xfrm>
            <a:off x="8458200" y="1572768"/>
            <a:ext cx="3017520" cy="320040"/>
          </a:xfrm>
          <a:prstGeom prst="rect">
            <a:avLst/>
          </a:prstGeom>
          <a:noFill/>
          <a:ln/>
        </p:spPr>
        <p:txBody>
          <a:bodyPr wrap="square" lIns="0" tIns="0" rIns="0" bIns="0" rtlCol="0" anchor="t"/>
          <a:lstStyle/>
          <a:p>
            <a:pPr indent="0" marL="0">
              <a:buNone/>
            </a:pPr>
            <a:r>
              <a:rPr lang="en-US" sz="1600" b="1" dirty="0">
                <a:solidFill>
                  <a:srgbClr val="0B1F33"/>
                </a:solidFill>
                <a:latin typeface="Calibri" pitchFamily="34" charset="0"/>
                <a:ea typeface="Calibri" pitchFamily="34" charset="-122"/>
                <a:cs typeface="Calibri" pitchFamily="34" charset="-120"/>
              </a:rPr>
              <a:t>Power BI</a:t>
            </a:r>
            <a:endParaRPr lang="en-US" sz="1600" dirty="0"/>
          </a:p>
        </p:txBody>
      </p:sp>
      <p:sp>
        <p:nvSpPr>
          <p:cNvPr id="50" name="Text 46"/>
          <p:cNvSpPr txBox="1"/>
          <p:nvPr/>
        </p:nvSpPr>
        <p:spPr>
          <a:xfrm>
            <a:off x="8458200" y="1938528"/>
            <a:ext cx="3063240" cy="45720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Data model, DAX measures, dashboard</a:t>
            </a:r>
            <a:endParaRPr lang="en-US" sz="1200" dirty="0"/>
          </a:p>
        </p:txBody>
      </p:sp>
      <p:sp>
        <p:nvSpPr>
          <p:cNvPr id="51" name="Shape 47"/>
          <p:cNvSpPr/>
          <p:nvPr/>
        </p:nvSpPr>
        <p:spPr>
          <a:xfrm>
            <a:off x="7498080" y="2606040"/>
            <a:ext cx="4142232" cy="1097280"/>
          </a:xfrm>
          <a:prstGeom prst="roundRect">
            <a:avLst>
              <a:gd name="adj" fmla="val 6667"/>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52" name="Shape 48"/>
          <p:cNvSpPr/>
          <p:nvPr/>
        </p:nvSpPr>
        <p:spPr>
          <a:xfrm>
            <a:off x="7726680" y="2880360"/>
            <a:ext cx="548640" cy="548640"/>
          </a:xfrm>
          <a:prstGeom prst="ellipse">
            <a:avLst/>
          </a:prstGeom>
          <a:solidFill>
            <a:srgbClr val="0E7C86"/>
          </a:solidFill>
          <a:ln w="6350">
            <a:solidFill>
              <a:srgbClr val="0E7C86"/>
            </a:solidFill>
            <a:prstDash val="solid"/>
          </a:ln>
        </p:spPr>
      </p:sp>
      <p:pic>
        <p:nvPicPr>
          <p:cNvPr id="53" name="Image 2" descr="preencoded.png">    </p:cNvPr>
          <p:cNvPicPr>
            <a:picLocks noChangeAspect="1"/>
          </p:cNvPicPr>
          <p:nvPr/>
        </p:nvPicPr>
        <p:blipFill>
          <a:blip r:embed="rId3"/>
          <a:stretch>
            <a:fillRect/>
          </a:stretch>
        </p:blipFill>
        <p:spPr>
          <a:xfrm>
            <a:off x="7869326" y="3023006"/>
            <a:ext cx="263347" cy="263347"/>
          </a:xfrm>
          <a:prstGeom prst="rect">
            <a:avLst/>
          </a:prstGeom>
        </p:spPr>
      </p:pic>
      <p:sp>
        <p:nvSpPr>
          <p:cNvPr id="54" name="Text 49"/>
          <p:cNvSpPr txBox="1"/>
          <p:nvPr/>
        </p:nvSpPr>
        <p:spPr>
          <a:xfrm>
            <a:off x="8458200" y="2807208"/>
            <a:ext cx="3017520" cy="320040"/>
          </a:xfrm>
          <a:prstGeom prst="rect">
            <a:avLst/>
          </a:prstGeom>
          <a:noFill/>
          <a:ln/>
        </p:spPr>
        <p:txBody>
          <a:bodyPr wrap="square" lIns="0" tIns="0" rIns="0" bIns="0" rtlCol="0" anchor="t"/>
          <a:lstStyle/>
          <a:p>
            <a:pPr indent="0" marL="0">
              <a:buNone/>
            </a:pPr>
            <a:r>
              <a:rPr lang="en-US" sz="1600" b="1" dirty="0">
                <a:solidFill>
                  <a:srgbClr val="0B1F33"/>
                </a:solidFill>
                <a:latin typeface="Calibri" pitchFamily="34" charset="0"/>
                <a:ea typeface="Calibri" pitchFamily="34" charset="-122"/>
                <a:cs typeface="Calibri" pitchFamily="34" charset="-120"/>
              </a:rPr>
              <a:t>Excel / Power Query</a:t>
            </a:r>
            <a:endParaRPr lang="en-US" sz="1600" dirty="0"/>
          </a:p>
        </p:txBody>
      </p:sp>
      <p:sp>
        <p:nvSpPr>
          <p:cNvPr id="55" name="Text 50"/>
          <p:cNvSpPr txBox="1"/>
          <p:nvPr/>
        </p:nvSpPr>
        <p:spPr>
          <a:xfrm>
            <a:off x="8458200" y="3172968"/>
            <a:ext cx="3063240" cy="45720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Cleaning and validation</a:t>
            </a:r>
            <a:endParaRPr lang="en-US" sz="1200" dirty="0"/>
          </a:p>
        </p:txBody>
      </p:sp>
      <p:sp>
        <p:nvSpPr>
          <p:cNvPr id="56" name="Shape 51"/>
          <p:cNvSpPr/>
          <p:nvPr/>
        </p:nvSpPr>
        <p:spPr>
          <a:xfrm>
            <a:off x="7498080" y="3840480"/>
            <a:ext cx="4142232" cy="1097280"/>
          </a:xfrm>
          <a:prstGeom prst="roundRect">
            <a:avLst>
              <a:gd name="adj" fmla="val 6667"/>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57" name="Shape 52"/>
          <p:cNvSpPr/>
          <p:nvPr/>
        </p:nvSpPr>
        <p:spPr>
          <a:xfrm>
            <a:off x="7726680" y="4114800"/>
            <a:ext cx="548640" cy="548640"/>
          </a:xfrm>
          <a:prstGeom prst="ellipse">
            <a:avLst/>
          </a:prstGeom>
          <a:solidFill>
            <a:srgbClr val="0E7C86"/>
          </a:solidFill>
          <a:ln w="6350">
            <a:solidFill>
              <a:srgbClr val="0E7C86"/>
            </a:solidFill>
            <a:prstDash val="solid"/>
          </a:ln>
        </p:spPr>
      </p:sp>
      <p:pic>
        <p:nvPicPr>
          <p:cNvPr id="58" name="Image 3" descr="preencoded.png">    </p:cNvPr>
          <p:cNvPicPr>
            <a:picLocks noChangeAspect="1"/>
          </p:cNvPicPr>
          <p:nvPr/>
        </p:nvPicPr>
        <p:blipFill>
          <a:blip r:embed="rId4"/>
          <a:stretch>
            <a:fillRect/>
          </a:stretch>
        </p:blipFill>
        <p:spPr>
          <a:xfrm>
            <a:off x="7869326" y="4257446"/>
            <a:ext cx="263347" cy="263347"/>
          </a:xfrm>
          <a:prstGeom prst="rect">
            <a:avLst/>
          </a:prstGeom>
        </p:spPr>
      </p:pic>
      <p:sp>
        <p:nvSpPr>
          <p:cNvPr id="59" name="Text 53"/>
          <p:cNvSpPr txBox="1"/>
          <p:nvPr/>
        </p:nvSpPr>
        <p:spPr>
          <a:xfrm>
            <a:off x="8458200" y="4041648"/>
            <a:ext cx="3017520" cy="320040"/>
          </a:xfrm>
          <a:prstGeom prst="rect">
            <a:avLst/>
          </a:prstGeom>
          <a:noFill/>
          <a:ln/>
        </p:spPr>
        <p:txBody>
          <a:bodyPr wrap="square" lIns="0" tIns="0" rIns="0" bIns="0" rtlCol="0" anchor="t"/>
          <a:lstStyle/>
          <a:p>
            <a:pPr indent="0" marL="0">
              <a:buNone/>
            </a:pPr>
            <a:r>
              <a:rPr lang="en-US" sz="1600" b="1" dirty="0">
                <a:solidFill>
                  <a:srgbClr val="0B1F33"/>
                </a:solidFill>
                <a:latin typeface="Calibri" pitchFamily="34" charset="0"/>
                <a:ea typeface="Calibri" pitchFamily="34" charset="-122"/>
                <a:cs typeface="Calibri" pitchFamily="34" charset="-120"/>
              </a:rPr>
              <a:t>Python (optional)</a:t>
            </a:r>
            <a:endParaRPr lang="en-US" sz="1600" dirty="0"/>
          </a:p>
        </p:txBody>
      </p:sp>
      <p:sp>
        <p:nvSpPr>
          <p:cNvPr id="60" name="Text 54"/>
          <p:cNvSpPr txBox="1"/>
          <p:nvPr/>
        </p:nvSpPr>
        <p:spPr>
          <a:xfrm>
            <a:off x="8458200" y="4407408"/>
            <a:ext cx="3063240" cy="45720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Data checks and sample data</a:t>
            </a:r>
            <a:endParaRPr lang="en-US" sz="1200" dirty="0"/>
          </a:p>
        </p:txBody>
      </p:sp>
      <p:sp>
        <p:nvSpPr>
          <p:cNvPr id="61" name="Shape 55"/>
          <p:cNvSpPr/>
          <p:nvPr/>
        </p:nvSpPr>
        <p:spPr>
          <a:xfrm>
            <a:off x="7498080" y="5074920"/>
            <a:ext cx="4142232" cy="1097280"/>
          </a:xfrm>
          <a:prstGeom prst="roundRect">
            <a:avLst>
              <a:gd name="adj" fmla="val 6667"/>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62" name="Shape 56"/>
          <p:cNvSpPr/>
          <p:nvPr/>
        </p:nvSpPr>
        <p:spPr>
          <a:xfrm>
            <a:off x="7726680" y="5349240"/>
            <a:ext cx="548640" cy="548640"/>
          </a:xfrm>
          <a:prstGeom prst="ellipse">
            <a:avLst/>
          </a:prstGeom>
          <a:solidFill>
            <a:srgbClr val="0E7C86"/>
          </a:solidFill>
          <a:ln w="6350">
            <a:solidFill>
              <a:srgbClr val="0E7C86"/>
            </a:solidFill>
            <a:prstDash val="solid"/>
          </a:ln>
        </p:spPr>
      </p:sp>
      <p:pic>
        <p:nvPicPr>
          <p:cNvPr id="63" name="Image 4" descr="preencoded.png">    </p:cNvPr>
          <p:cNvPicPr>
            <a:picLocks noChangeAspect="1"/>
          </p:cNvPicPr>
          <p:nvPr/>
        </p:nvPicPr>
        <p:blipFill>
          <a:blip r:embed="rId5"/>
          <a:stretch>
            <a:fillRect/>
          </a:stretch>
        </p:blipFill>
        <p:spPr>
          <a:xfrm>
            <a:off x="7869326" y="5491886"/>
            <a:ext cx="263347" cy="263347"/>
          </a:xfrm>
          <a:prstGeom prst="rect">
            <a:avLst/>
          </a:prstGeom>
        </p:spPr>
      </p:pic>
      <p:sp>
        <p:nvSpPr>
          <p:cNvPr id="64" name="Text 57"/>
          <p:cNvSpPr txBox="1"/>
          <p:nvPr/>
        </p:nvSpPr>
        <p:spPr>
          <a:xfrm>
            <a:off x="8458200" y="5276088"/>
            <a:ext cx="3017520" cy="320040"/>
          </a:xfrm>
          <a:prstGeom prst="rect">
            <a:avLst/>
          </a:prstGeom>
          <a:noFill/>
          <a:ln/>
        </p:spPr>
        <p:txBody>
          <a:bodyPr wrap="square" lIns="0" tIns="0" rIns="0" bIns="0" rtlCol="0" anchor="t"/>
          <a:lstStyle/>
          <a:p>
            <a:pPr indent="0" marL="0">
              <a:buNone/>
            </a:pPr>
            <a:r>
              <a:rPr lang="en-US" sz="1600" b="1" dirty="0">
                <a:solidFill>
                  <a:srgbClr val="0B1F33"/>
                </a:solidFill>
                <a:latin typeface="Calibri" pitchFamily="34" charset="0"/>
                <a:ea typeface="Calibri" pitchFamily="34" charset="-122"/>
                <a:cs typeface="Calibri" pitchFamily="34" charset="-120"/>
              </a:rPr>
              <a:t>GitHub</a:t>
            </a:r>
            <a:endParaRPr lang="en-US" sz="1600" dirty="0"/>
          </a:p>
        </p:txBody>
      </p:sp>
      <p:sp>
        <p:nvSpPr>
          <p:cNvPr id="65" name="Text 58"/>
          <p:cNvSpPr txBox="1"/>
          <p:nvPr/>
        </p:nvSpPr>
        <p:spPr>
          <a:xfrm>
            <a:off x="8458200" y="5641848"/>
            <a:ext cx="3063240" cy="45720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Repository with files and screenshots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6F9"/>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28600"/>
          </a:xfrm>
          <a:prstGeom prst="rect">
            <a:avLst/>
          </a:prstGeom>
          <a:noFill/>
          <a:ln/>
        </p:spPr>
        <p:txBody>
          <a:bodyPr wrap="square" lIns="0" tIns="0" rIns="0" bIns="0" rtlCol="0" anchor="t"/>
          <a:lstStyle/>
          <a:p>
            <a:pPr indent="0" marL="0">
              <a:buNone/>
            </a:pPr>
            <a:r>
              <a:rPr lang="en-US" sz="1100" b="1" spc="300" kern="0" dirty="0">
                <a:solidFill>
                  <a:srgbClr val="0E7C86"/>
                </a:solidFill>
                <a:latin typeface="Calibri" pitchFamily="34" charset="0"/>
                <a:ea typeface="Calibri" pitchFamily="34" charset="-122"/>
                <a:cs typeface="Calibri" pitchFamily="34" charset="-120"/>
              </a:rPr>
              <a:t>2  DATA &amp; TOOLS</a:t>
            </a:r>
            <a:endParaRPr lang="en-US" sz="1100" dirty="0"/>
          </a:p>
        </p:txBody>
      </p:sp>
      <p:sp>
        <p:nvSpPr>
          <p:cNvPr id="3" name="Text 1"/>
          <p:cNvSpPr txBox="1"/>
          <p:nvPr/>
        </p:nvSpPr>
        <p:spPr>
          <a:xfrm>
            <a:off x="548640" y="530352"/>
            <a:ext cx="11064240" cy="54864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From raw file to a reliable data model</a:t>
            </a:r>
            <a:endParaRPr lang="en-US" sz="2800" dirty="0"/>
          </a:p>
        </p:txBody>
      </p:sp>
      <p:sp>
        <p:nvSpPr>
          <p:cNvPr id="4" name="Text 2"/>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Executive Business Intelligence Dashboard</a:t>
            </a:r>
            <a:endParaRPr lang="en-US" sz="1000" dirty="0"/>
          </a:p>
        </p:txBody>
      </p:sp>
      <p:sp>
        <p:nvSpPr>
          <p:cNvPr id="5" name="Text 3"/>
          <p:cNvSpPr txBox="1"/>
          <p:nvPr/>
        </p:nvSpPr>
        <p:spPr>
          <a:xfrm>
            <a:off x="11091672" y="6510528"/>
            <a:ext cx="548640" cy="228600"/>
          </a:xfrm>
          <a:prstGeom prst="rect">
            <a:avLst/>
          </a:prstGeom>
          <a:noFill/>
          <a:ln/>
        </p:spPr>
        <p:txBody>
          <a:bodyPr wrap="square" lIns="0" tIns="0" rIns="0" bIns="0" rtlCol="0" anchor="t"/>
          <a:lstStyle/>
          <a:p>
            <a:pPr algn="r" indent="0" marL="0">
              <a:buNone/>
            </a:pPr>
            <a:r>
              <a:rPr lang="en-US" sz="1000" dirty="0">
                <a:solidFill>
                  <a:srgbClr val="64748B"/>
                </a:solidFill>
                <a:latin typeface="Calibri" pitchFamily="34" charset="0"/>
                <a:ea typeface="Calibri" pitchFamily="34" charset="-122"/>
                <a:cs typeface="Calibri" pitchFamily="34" charset="-120"/>
              </a:rPr>
              <a:t>5</a:t>
            </a:r>
            <a:endParaRPr lang="en-US" sz="1000" dirty="0"/>
          </a:p>
        </p:txBody>
      </p:sp>
      <p:sp>
        <p:nvSpPr>
          <p:cNvPr id="6" name="Shape 4"/>
          <p:cNvSpPr/>
          <p:nvPr/>
        </p:nvSpPr>
        <p:spPr>
          <a:xfrm>
            <a:off x="548640" y="1371600"/>
            <a:ext cx="2057400" cy="1600200"/>
          </a:xfrm>
          <a:prstGeom prst="roundRect">
            <a:avLst>
              <a:gd name="adj" fmla="val 4571"/>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7" name="Shape 5"/>
          <p:cNvSpPr/>
          <p:nvPr/>
        </p:nvSpPr>
        <p:spPr>
          <a:xfrm>
            <a:off x="731520" y="1554480"/>
            <a:ext cx="502920" cy="502920"/>
          </a:xfrm>
          <a:prstGeom prst="ellipse">
            <a:avLst/>
          </a:prstGeom>
          <a:solidFill>
            <a:srgbClr val="0E7C86"/>
          </a:solidFill>
          <a:ln w="6350">
            <a:solidFill>
              <a:srgbClr val="0E7C86"/>
            </a:solidFill>
            <a:prstDash val="solid"/>
          </a:ln>
        </p:spPr>
      </p:sp>
      <p:pic>
        <p:nvPicPr>
          <p:cNvPr id="8" name="Image 0" descr="preencoded.png">    </p:cNvPr>
          <p:cNvPicPr>
            <a:picLocks noChangeAspect="1"/>
          </p:cNvPicPr>
          <p:nvPr/>
        </p:nvPicPr>
        <p:blipFill>
          <a:blip r:embed="rId1"/>
          <a:stretch>
            <a:fillRect/>
          </a:stretch>
        </p:blipFill>
        <p:spPr>
          <a:xfrm>
            <a:off x="862279" y="1685239"/>
            <a:ext cx="241402" cy="241402"/>
          </a:xfrm>
          <a:prstGeom prst="rect">
            <a:avLst/>
          </a:prstGeom>
        </p:spPr>
      </p:pic>
      <p:sp>
        <p:nvSpPr>
          <p:cNvPr id="9" name="Text 6"/>
          <p:cNvSpPr txBox="1"/>
          <p:nvPr/>
        </p:nvSpPr>
        <p:spPr>
          <a:xfrm>
            <a:off x="1371600" y="1554480"/>
            <a:ext cx="1143000" cy="502920"/>
          </a:xfrm>
          <a:prstGeom prst="rect">
            <a:avLst/>
          </a:prstGeom>
          <a:noFill/>
          <a:ln/>
        </p:spPr>
        <p:txBody>
          <a:bodyPr wrap="square" lIns="0" tIns="0" rIns="0" bIns="0" rtlCol="0" anchor="ctr"/>
          <a:lstStyle/>
          <a:p>
            <a:pPr indent="0" marL="0">
              <a:buNone/>
            </a:pPr>
            <a:r>
              <a:rPr lang="en-US" sz="1600" b="1" dirty="0">
                <a:solidFill>
                  <a:srgbClr val="0B1F33"/>
                </a:solidFill>
                <a:latin typeface="Calibri" pitchFamily="34" charset="0"/>
                <a:ea typeface="Calibri" pitchFamily="34" charset="-122"/>
                <a:cs typeface="Calibri" pitchFamily="34" charset="-120"/>
              </a:rPr>
              <a:t>1. Import</a:t>
            </a:r>
            <a:endParaRPr lang="en-US" sz="1600" dirty="0"/>
          </a:p>
        </p:txBody>
      </p:sp>
      <p:sp>
        <p:nvSpPr>
          <p:cNvPr id="10" name="Text 7"/>
          <p:cNvSpPr txBox="1"/>
          <p:nvPr/>
        </p:nvSpPr>
        <p:spPr>
          <a:xfrm>
            <a:off x="731520" y="2194560"/>
            <a:ext cx="1691640" cy="68580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Load CSV into Power BI</a:t>
            </a:r>
            <a:endParaRPr lang="en-US" sz="1200" dirty="0"/>
          </a:p>
        </p:txBody>
      </p:sp>
      <p:sp>
        <p:nvSpPr>
          <p:cNvPr id="11" name="Shape 8"/>
          <p:cNvSpPr/>
          <p:nvPr/>
        </p:nvSpPr>
        <p:spPr>
          <a:xfrm>
            <a:off x="2788920" y="1371600"/>
            <a:ext cx="2057400" cy="1600200"/>
          </a:xfrm>
          <a:prstGeom prst="roundRect">
            <a:avLst>
              <a:gd name="adj" fmla="val 4571"/>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12" name="Shape 9"/>
          <p:cNvSpPr/>
          <p:nvPr/>
        </p:nvSpPr>
        <p:spPr>
          <a:xfrm>
            <a:off x="2971800" y="1554480"/>
            <a:ext cx="502920" cy="502920"/>
          </a:xfrm>
          <a:prstGeom prst="ellipse">
            <a:avLst/>
          </a:prstGeom>
          <a:solidFill>
            <a:srgbClr val="0E7C86"/>
          </a:solidFill>
          <a:ln w="6350">
            <a:solidFill>
              <a:srgbClr val="0E7C86"/>
            </a:solidFill>
            <a:prstDash val="solid"/>
          </a:ln>
        </p:spPr>
      </p:sp>
      <p:pic>
        <p:nvPicPr>
          <p:cNvPr id="13" name="Image 1" descr="preencoded.png">    </p:cNvPr>
          <p:cNvPicPr>
            <a:picLocks noChangeAspect="1"/>
          </p:cNvPicPr>
          <p:nvPr/>
        </p:nvPicPr>
        <p:blipFill>
          <a:blip r:embed="rId2"/>
          <a:stretch>
            <a:fillRect/>
          </a:stretch>
        </p:blipFill>
        <p:spPr>
          <a:xfrm>
            <a:off x="3102559" y="1685239"/>
            <a:ext cx="241402" cy="241402"/>
          </a:xfrm>
          <a:prstGeom prst="rect">
            <a:avLst/>
          </a:prstGeom>
        </p:spPr>
      </p:pic>
      <p:sp>
        <p:nvSpPr>
          <p:cNvPr id="14" name="Text 10"/>
          <p:cNvSpPr txBox="1"/>
          <p:nvPr/>
        </p:nvSpPr>
        <p:spPr>
          <a:xfrm>
            <a:off x="3611880" y="1554480"/>
            <a:ext cx="1143000" cy="502920"/>
          </a:xfrm>
          <a:prstGeom prst="rect">
            <a:avLst/>
          </a:prstGeom>
          <a:noFill/>
          <a:ln/>
        </p:spPr>
        <p:txBody>
          <a:bodyPr wrap="square" lIns="0" tIns="0" rIns="0" bIns="0" rtlCol="0" anchor="ctr"/>
          <a:lstStyle/>
          <a:p>
            <a:pPr indent="0" marL="0">
              <a:buNone/>
            </a:pPr>
            <a:r>
              <a:rPr lang="en-US" sz="1600" b="1" dirty="0">
                <a:solidFill>
                  <a:srgbClr val="0B1F33"/>
                </a:solidFill>
                <a:latin typeface="Calibri" pitchFamily="34" charset="0"/>
                <a:ea typeface="Calibri" pitchFamily="34" charset="-122"/>
                <a:cs typeface="Calibri" pitchFamily="34" charset="-120"/>
              </a:rPr>
              <a:t>2. Clean</a:t>
            </a:r>
            <a:endParaRPr lang="en-US" sz="1600" dirty="0"/>
          </a:p>
        </p:txBody>
      </p:sp>
      <p:sp>
        <p:nvSpPr>
          <p:cNvPr id="15" name="Text 11"/>
          <p:cNvSpPr txBox="1"/>
          <p:nvPr/>
        </p:nvSpPr>
        <p:spPr>
          <a:xfrm>
            <a:off x="2971800" y="2194560"/>
            <a:ext cx="1691640" cy="68580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Fix types, remove duplicates, check nulls</a:t>
            </a:r>
            <a:endParaRPr lang="en-US" sz="1200" dirty="0"/>
          </a:p>
        </p:txBody>
      </p:sp>
      <p:sp>
        <p:nvSpPr>
          <p:cNvPr id="16" name="Shape 12"/>
          <p:cNvSpPr/>
          <p:nvPr/>
        </p:nvSpPr>
        <p:spPr>
          <a:xfrm>
            <a:off x="5029200" y="1371600"/>
            <a:ext cx="2057400" cy="1600200"/>
          </a:xfrm>
          <a:prstGeom prst="roundRect">
            <a:avLst>
              <a:gd name="adj" fmla="val 4571"/>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17" name="Shape 13"/>
          <p:cNvSpPr/>
          <p:nvPr/>
        </p:nvSpPr>
        <p:spPr>
          <a:xfrm>
            <a:off x="5212080" y="1554480"/>
            <a:ext cx="502920" cy="502920"/>
          </a:xfrm>
          <a:prstGeom prst="ellipse">
            <a:avLst/>
          </a:prstGeom>
          <a:solidFill>
            <a:srgbClr val="0E7C86"/>
          </a:solidFill>
          <a:ln w="6350">
            <a:solidFill>
              <a:srgbClr val="0E7C86"/>
            </a:solidFill>
            <a:prstDash val="solid"/>
          </a:ln>
        </p:spPr>
      </p:sp>
      <p:pic>
        <p:nvPicPr>
          <p:cNvPr id="18" name="Image 2" descr="preencoded.png">    </p:cNvPr>
          <p:cNvPicPr>
            <a:picLocks noChangeAspect="1"/>
          </p:cNvPicPr>
          <p:nvPr/>
        </p:nvPicPr>
        <p:blipFill>
          <a:blip r:embed="rId3"/>
          <a:stretch>
            <a:fillRect/>
          </a:stretch>
        </p:blipFill>
        <p:spPr>
          <a:xfrm>
            <a:off x="5342839" y="1685239"/>
            <a:ext cx="241402" cy="241402"/>
          </a:xfrm>
          <a:prstGeom prst="rect">
            <a:avLst/>
          </a:prstGeom>
        </p:spPr>
      </p:pic>
      <p:sp>
        <p:nvSpPr>
          <p:cNvPr id="19" name="Text 14"/>
          <p:cNvSpPr txBox="1"/>
          <p:nvPr/>
        </p:nvSpPr>
        <p:spPr>
          <a:xfrm>
            <a:off x="5852160" y="1554480"/>
            <a:ext cx="1143000" cy="502920"/>
          </a:xfrm>
          <a:prstGeom prst="rect">
            <a:avLst/>
          </a:prstGeom>
          <a:noFill/>
          <a:ln/>
        </p:spPr>
        <p:txBody>
          <a:bodyPr wrap="square" lIns="0" tIns="0" rIns="0" bIns="0" rtlCol="0" anchor="ctr"/>
          <a:lstStyle/>
          <a:p>
            <a:pPr indent="0" marL="0">
              <a:buNone/>
            </a:pPr>
            <a:r>
              <a:rPr lang="en-US" sz="1600" b="1" dirty="0">
                <a:solidFill>
                  <a:srgbClr val="0B1F33"/>
                </a:solidFill>
                <a:latin typeface="Calibri" pitchFamily="34" charset="0"/>
                <a:ea typeface="Calibri" pitchFamily="34" charset="-122"/>
                <a:cs typeface="Calibri" pitchFamily="34" charset="-120"/>
              </a:rPr>
              <a:t>3. Model</a:t>
            </a:r>
            <a:endParaRPr lang="en-US" sz="1600" dirty="0"/>
          </a:p>
        </p:txBody>
      </p:sp>
      <p:sp>
        <p:nvSpPr>
          <p:cNvPr id="20" name="Text 15"/>
          <p:cNvSpPr txBox="1"/>
          <p:nvPr/>
        </p:nvSpPr>
        <p:spPr>
          <a:xfrm>
            <a:off x="5212080" y="2194560"/>
            <a:ext cx="1691640" cy="68580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Fact table + Date, Region, Category</a:t>
            </a:r>
            <a:endParaRPr lang="en-US" sz="1200" dirty="0"/>
          </a:p>
        </p:txBody>
      </p:sp>
      <p:sp>
        <p:nvSpPr>
          <p:cNvPr id="21" name="Shape 16"/>
          <p:cNvSpPr/>
          <p:nvPr/>
        </p:nvSpPr>
        <p:spPr>
          <a:xfrm>
            <a:off x="7269480" y="1371600"/>
            <a:ext cx="2057400" cy="1600200"/>
          </a:xfrm>
          <a:prstGeom prst="roundRect">
            <a:avLst>
              <a:gd name="adj" fmla="val 4571"/>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22" name="Shape 17"/>
          <p:cNvSpPr/>
          <p:nvPr/>
        </p:nvSpPr>
        <p:spPr>
          <a:xfrm>
            <a:off x="7452360" y="1554480"/>
            <a:ext cx="502920" cy="502920"/>
          </a:xfrm>
          <a:prstGeom prst="ellipse">
            <a:avLst/>
          </a:prstGeom>
          <a:solidFill>
            <a:srgbClr val="0E7C86"/>
          </a:solidFill>
          <a:ln w="6350">
            <a:solidFill>
              <a:srgbClr val="0E7C86"/>
            </a:solidFill>
            <a:prstDash val="solid"/>
          </a:ln>
        </p:spPr>
      </p:sp>
      <p:pic>
        <p:nvPicPr>
          <p:cNvPr id="23" name="Image 3" descr="preencoded.png">    </p:cNvPr>
          <p:cNvPicPr>
            <a:picLocks noChangeAspect="1"/>
          </p:cNvPicPr>
          <p:nvPr/>
        </p:nvPicPr>
        <p:blipFill>
          <a:blip r:embed="rId4"/>
          <a:stretch>
            <a:fillRect/>
          </a:stretch>
        </p:blipFill>
        <p:spPr>
          <a:xfrm>
            <a:off x="7583119" y="1685239"/>
            <a:ext cx="241402" cy="241402"/>
          </a:xfrm>
          <a:prstGeom prst="rect">
            <a:avLst/>
          </a:prstGeom>
        </p:spPr>
      </p:pic>
      <p:sp>
        <p:nvSpPr>
          <p:cNvPr id="24" name="Text 18"/>
          <p:cNvSpPr txBox="1"/>
          <p:nvPr/>
        </p:nvSpPr>
        <p:spPr>
          <a:xfrm>
            <a:off x="8092440" y="1554480"/>
            <a:ext cx="1143000" cy="502920"/>
          </a:xfrm>
          <a:prstGeom prst="rect">
            <a:avLst/>
          </a:prstGeom>
          <a:noFill/>
          <a:ln/>
        </p:spPr>
        <p:txBody>
          <a:bodyPr wrap="square" lIns="0" tIns="0" rIns="0" bIns="0" rtlCol="0" anchor="ctr"/>
          <a:lstStyle/>
          <a:p>
            <a:pPr indent="0" marL="0">
              <a:buNone/>
            </a:pPr>
            <a:r>
              <a:rPr lang="en-US" sz="1600" b="1" dirty="0">
                <a:solidFill>
                  <a:srgbClr val="0B1F33"/>
                </a:solidFill>
                <a:latin typeface="Calibri" pitchFamily="34" charset="0"/>
                <a:ea typeface="Calibri" pitchFamily="34" charset="-122"/>
                <a:cs typeface="Calibri" pitchFamily="34" charset="-120"/>
              </a:rPr>
              <a:t>4. Measure</a:t>
            </a:r>
            <a:endParaRPr lang="en-US" sz="1600" dirty="0"/>
          </a:p>
        </p:txBody>
      </p:sp>
      <p:sp>
        <p:nvSpPr>
          <p:cNvPr id="25" name="Text 19"/>
          <p:cNvSpPr txBox="1"/>
          <p:nvPr/>
        </p:nvSpPr>
        <p:spPr>
          <a:xfrm>
            <a:off x="7452360" y="2194560"/>
            <a:ext cx="1691640" cy="68580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Write DAX for every KPI</a:t>
            </a:r>
            <a:endParaRPr lang="en-US" sz="1200" dirty="0"/>
          </a:p>
        </p:txBody>
      </p:sp>
      <p:sp>
        <p:nvSpPr>
          <p:cNvPr id="26" name="Shape 20"/>
          <p:cNvSpPr/>
          <p:nvPr/>
        </p:nvSpPr>
        <p:spPr>
          <a:xfrm>
            <a:off x="9509760" y="1371600"/>
            <a:ext cx="2057400" cy="1600200"/>
          </a:xfrm>
          <a:prstGeom prst="roundRect">
            <a:avLst>
              <a:gd name="adj" fmla="val 4571"/>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27" name="Shape 21"/>
          <p:cNvSpPr/>
          <p:nvPr/>
        </p:nvSpPr>
        <p:spPr>
          <a:xfrm>
            <a:off x="9692640" y="1554480"/>
            <a:ext cx="502920" cy="502920"/>
          </a:xfrm>
          <a:prstGeom prst="ellipse">
            <a:avLst/>
          </a:prstGeom>
          <a:solidFill>
            <a:srgbClr val="F59E0B"/>
          </a:solidFill>
          <a:ln w="6350">
            <a:solidFill>
              <a:srgbClr val="F59E0B"/>
            </a:solidFill>
            <a:prstDash val="solid"/>
          </a:ln>
        </p:spPr>
      </p:sp>
      <p:pic>
        <p:nvPicPr>
          <p:cNvPr id="28" name="Image 4" descr="preencoded.png">    </p:cNvPr>
          <p:cNvPicPr>
            <a:picLocks noChangeAspect="1"/>
          </p:cNvPicPr>
          <p:nvPr/>
        </p:nvPicPr>
        <p:blipFill>
          <a:blip r:embed="rId5"/>
          <a:stretch>
            <a:fillRect/>
          </a:stretch>
        </p:blipFill>
        <p:spPr>
          <a:xfrm>
            <a:off x="9823399" y="1685239"/>
            <a:ext cx="241402" cy="241402"/>
          </a:xfrm>
          <a:prstGeom prst="rect">
            <a:avLst/>
          </a:prstGeom>
        </p:spPr>
      </p:pic>
      <p:sp>
        <p:nvSpPr>
          <p:cNvPr id="29" name="Text 22"/>
          <p:cNvSpPr txBox="1"/>
          <p:nvPr/>
        </p:nvSpPr>
        <p:spPr>
          <a:xfrm>
            <a:off x="10332720" y="1554480"/>
            <a:ext cx="1143000" cy="502920"/>
          </a:xfrm>
          <a:prstGeom prst="rect">
            <a:avLst/>
          </a:prstGeom>
          <a:noFill/>
          <a:ln/>
        </p:spPr>
        <p:txBody>
          <a:bodyPr wrap="square" lIns="0" tIns="0" rIns="0" bIns="0" rtlCol="0" anchor="ctr"/>
          <a:lstStyle/>
          <a:p>
            <a:pPr indent="0" marL="0">
              <a:buNone/>
            </a:pPr>
            <a:r>
              <a:rPr lang="en-US" sz="1600" b="1" dirty="0">
                <a:solidFill>
                  <a:srgbClr val="0B1F33"/>
                </a:solidFill>
                <a:latin typeface="Calibri" pitchFamily="34" charset="0"/>
                <a:ea typeface="Calibri" pitchFamily="34" charset="-122"/>
                <a:cs typeface="Calibri" pitchFamily="34" charset="-120"/>
              </a:rPr>
              <a:t>5. Visualize</a:t>
            </a:r>
            <a:endParaRPr lang="en-US" sz="1600" dirty="0"/>
          </a:p>
        </p:txBody>
      </p:sp>
      <p:sp>
        <p:nvSpPr>
          <p:cNvPr id="30" name="Text 23"/>
          <p:cNvSpPr txBox="1"/>
          <p:nvPr/>
        </p:nvSpPr>
        <p:spPr>
          <a:xfrm>
            <a:off x="9692640" y="2194560"/>
            <a:ext cx="1691640" cy="68580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Build pages, slicers, tooltips</a:t>
            </a:r>
            <a:endParaRPr lang="en-US" sz="1200" dirty="0"/>
          </a:p>
        </p:txBody>
      </p:sp>
      <p:sp>
        <p:nvSpPr>
          <p:cNvPr id="31" name="Shape 24"/>
          <p:cNvSpPr/>
          <p:nvPr/>
        </p:nvSpPr>
        <p:spPr>
          <a:xfrm>
            <a:off x="548640" y="3246120"/>
            <a:ext cx="4572000" cy="2971800"/>
          </a:xfrm>
          <a:prstGeom prst="roundRect">
            <a:avLst>
              <a:gd name="adj" fmla="val 2462"/>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32" name="Text 25"/>
          <p:cNvSpPr txBox="1"/>
          <p:nvPr/>
        </p:nvSpPr>
        <p:spPr>
          <a:xfrm>
            <a:off x="822960" y="3429000"/>
            <a:ext cx="4023360" cy="320040"/>
          </a:xfrm>
          <a:prstGeom prst="rect">
            <a:avLst/>
          </a:prstGeom>
          <a:noFill/>
          <a:ln/>
        </p:spPr>
        <p:txBody>
          <a:bodyPr wrap="square" lIns="0" tIns="0" rIns="0" bIns="0" rtlCol="0" anchor="t"/>
          <a:lstStyle/>
          <a:p>
            <a:pPr indent="0" marL="0">
              <a:buNone/>
            </a:pPr>
            <a:r>
              <a:rPr lang="en-US" sz="1700" b="1" dirty="0">
                <a:solidFill>
                  <a:srgbClr val="0B1F33"/>
                </a:solidFill>
                <a:latin typeface="Calibri" pitchFamily="34" charset="0"/>
                <a:ea typeface="Calibri" pitchFamily="34" charset="-122"/>
                <a:cs typeface="Calibri" pitchFamily="34" charset="-120"/>
              </a:rPr>
              <a:t>Star schema</a:t>
            </a:r>
            <a:endParaRPr lang="en-US" sz="1700" dirty="0"/>
          </a:p>
        </p:txBody>
      </p:sp>
      <p:sp>
        <p:nvSpPr>
          <p:cNvPr id="33" name="Shape 26"/>
          <p:cNvSpPr/>
          <p:nvPr/>
        </p:nvSpPr>
        <p:spPr>
          <a:xfrm>
            <a:off x="1828800" y="4480560"/>
            <a:ext cx="2011680" cy="685800"/>
          </a:xfrm>
          <a:prstGeom prst="roundRect">
            <a:avLst>
              <a:gd name="adj" fmla="val 10667"/>
            </a:avLst>
          </a:prstGeom>
          <a:solidFill>
            <a:srgbClr val="0E7C86"/>
          </a:solidFill>
          <a:ln w="12700">
            <a:solidFill>
              <a:srgbClr val="0E7C86"/>
            </a:solidFill>
            <a:prstDash val="solid"/>
          </a:ln>
        </p:spPr>
      </p:sp>
      <p:sp>
        <p:nvSpPr>
          <p:cNvPr id="34" name="Text 27"/>
          <p:cNvSpPr txBox="1"/>
          <p:nvPr/>
        </p:nvSpPr>
        <p:spPr>
          <a:xfrm>
            <a:off x="1828800" y="4480560"/>
            <a:ext cx="2011680"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Fact: Sales</a:t>
            </a:r>
            <a:endParaRPr lang="en-US" sz="1400" dirty="0"/>
          </a:p>
        </p:txBody>
      </p:sp>
      <p:sp>
        <p:nvSpPr>
          <p:cNvPr id="35" name="Shape 28"/>
          <p:cNvSpPr/>
          <p:nvPr/>
        </p:nvSpPr>
        <p:spPr>
          <a:xfrm>
            <a:off x="822960" y="3886200"/>
            <a:ext cx="1371600" cy="457200"/>
          </a:xfrm>
          <a:prstGeom prst="roundRect">
            <a:avLst>
              <a:gd name="adj" fmla="val 16000"/>
            </a:avLst>
          </a:prstGeom>
          <a:solidFill>
            <a:srgbClr val="D6EEF0"/>
          </a:solidFill>
          <a:ln w="12700">
            <a:solidFill>
              <a:srgbClr val="0E7C86"/>
            </a:solidFill>
            <a:prstDash val="solid"/>
          </a:ln>
        </p:spPr>
      </p:sp>
      <p:sp>
        <p:nvSpPr>
          <p:cNvPr id="36" name="Text 29"/>
          <p:cNvSpPr txBox="1"/>
          <p:nvPr/>
        </p:nvSpPr>
        <p:spPr>
          <a:xfrm>
            <a:off x="822960" y="3886200"/>
            <a:ext cx="1371600" cy="457200"/>
          </a:xfrm>
          <a:prstGeom prst="rect">
            <a:avLst/>
          </a:prstGeom>
          <a:noFill/>
          <a:ln/>
        </p:spPr>
        <p:txBody>
          <a:bodyPr wrap="square" lIns="0" tIns="0" rIns="0" bIns="0" rtlCol="0" anchor="ctr"/>
          <a:lstStyle/>
          <a:p>
            <a:pPr algn="ctr" indent="0" marL="0">
              <a:buNone/>
            </a:pPr>
            <a:r>
              <a:rPr lang="en-US" sz="1200" b="1" dirty="0">
                <a:solidFill>
                  <a:srgbClr val="0B1F33"/>
                </a:solidFill>
                <a:latin typeface="Calibri" pitchFamily="34" charset="0"/>
                <a:ea typeface="Calibri" pitchFamily="34" charset="-122"/>
                <a:cs typeface="Calibri" pitchFamily="34" charset="-120"/>
              </a:rPr>
              <a:t>Dim: Date</a:t>
            </a:r>
            <a:endParaRPr lang="en-US" sz="1200" dirty="0"/>
          </a:p>
        </p:txBody>
      </p:sp>
      <p:sp>
        <p:nvSpPr>
          <p:cNvPr id="37" name="Shape 30"/>
          <p:cNvSpPr/>
          <p:nvPr/>
        </p:nvSpPr>
        <p:spPr>
          <a:xfrm>
            <a:off x="3200400" y="3886200"/>
            <a:ext cx="1371600" cy="457200"/>
          </a:xfrm>
          <a:prstGeom prst="roundRect">
            <a:avLst>
              <a:gd name="adj" fmla="val 16000"/>
            </a:avLst>
          </a:prstGeom>
          <a:solidFill>
            <a:srgbClr val="D6EEF0"/>
          </a:solidFill>
          <a:ln w="12700">
            <a:solidFill>
              <a:srgbClr val="0E7C86"/>
            </a:solidFill>
            <a:prstDash val="solid"/>
          </a:ln>
        </p:spPr>
      </p:sp>
      <p:sp>
        <p:nvSpPr>
          <p:cNvPr id="38" name="Text 31"/>
          <p:cNvSpPr txBox="1"/>
          <p:nvPr/>
        </p:nvSpPr>
        <p:spPr>
          <a:xfrm>
            <a:off x="3200400" y="3886200"/>
            <a:ext cx="1371600" cy="457200"/>
          </a:xfrm>
          <a:prstGeom prst="rect">
            <a:avLst/>
          </a:prstGeom>
          <a:noFill/>
          <a:ln/>
        </p:spPr>
        <p:txBody>
          <a:bodyPr wrap="square" lIns="0" tIns="0" rIns="0" bIns="0" rtlCol="0" anchor="ctr"/>
          <a:lstStyle/>
          <a:p>
            <a:pPr algn="ctr" indent="0" marL="0">
              <a:buNone/>
            </a:pPr>
            <a:r>
              <a:rPr lang="en-US" sz="1200" b="1" dirty="0">
                <a:solidFill>
                  <a:srgbClr val="0B1F33"/>
                </a:solidFill>
                <a:latin typeface="Calibri" pitchFamily="34" charset="0"/>
                <a:ea typeface="Calibri" pitchFamily="34" charset="-122"/>
                <a:cs typeface="Calibri" pitchFamily="34" charset="-120"/>
              </a:rPr>
              <a:t>Dim: Region</a:t>
            </a:r>
            <a:endParaRPr lang="en-US" sz="1200" dirty="0"/>
          </a:p>
        </p:txBody>
      </p:sp>
      <p:sp>
        <p:nvSpPr>
          <p:cNvPr id="39" name="Shape 32"/>
          <p:cNvSpPr/>
          <p:nvPr/>
        </p:nvSpPr>
        <p:spPr>
          <a:xfrm>
            <a:off x="822960" y="5532120"/>
            <a:ext cx="1371600" cy="457200"/>
          </a:xfrm>
          <a:prstGeom prst="roundRect">
            <a:avLst>
              <a:gd name="adj" fmla="val 16000"/>
            </a:avLst>
          </a:prstGeom>
          <a:solidFill>
            <a:srgbClr val="D6EEF0"/>
          </a:solidFill>
          <a:ln w="12700">
            <a:solidFill>
              <a:srgbClr val="0E7C86"/>
            </a:solidFill>
            <a:prstDash val="solid"/>
          </a:ln>
        </p:spPr>
      </p:sp>
      <p:sp>
        <p:nvSpPr>
          <p:cNvPr id="40" name="Text 33"/>
          <p:cNvSpPr txBox="1"/>
          <p:nvPr/>
        </p:nvSpPr>
        <p:spPr>
          <a:xfrm>
            <a:off x="822960" y="5532120"/>
            <a:ext cx="1371600" cy="457200"/>
          </a:xfrm>
          <a:prstGeom prst="rect">
            <a:avLst/>
          </a:prstGeom>
          <a:noFill/>
          <a:ln/>
        </p:spPr>
        <p:txBody>
          <a:bodyPr wrap="square" lIns="0" tIns="0" rIns="0" bIns="0" rtlCol="0" anchor="ctr"/>
          <a:lstStyle/>
          <a:p>
            <a:pPr algn="ctr" indent="0" marL="0">
              <a:buNone/>
            </a:pPr>
            <a:r>
              <a:rPr lang="en-US" sz="1200" b="1" dirty="0">
                <a:solidFill>
                  <a:srgbClr val="0B1F33"/>
                </a:solidFill>
                <a:latin typeface="Calibri" pitchFamily="34" charset="0"/>
                <a:ea typeface="Calibri" pitchFamily="34" charset="-122"/>
                <a:cs typeface="Calibri" pitchFamily="34" charset="-120"/>
              </a:rPr>
              <a:t>Dim: Category</a:t>
            </a:r>
            <a:endParaRPr lang="en-US" sz="1200" dirty="0"/>
          </a:p>
        </p:txBody>
      </p:sp>
      <p:sp>
        <p:nvSpPr>
          <p:cNvPr id="41" name="Shape 34"/>
          <p:cNvSpPr/>
          <p:nvPr/>
        </p:nvSpPr>
        <p:spPr>
          <a:xfrm>
            <a:off x="3200400" y="5532120"/>
            <a:ext cx="1371600" cy="457200"/>
          </a:xfrm>
          <a:prstGeom prst="roundRect">
            <a:avLst>
              <a:gd name="adj" fmla="val 16000"/>
            </a:avLst>
          </a:prstGeom>
          <a:solidFill>
            <a:srgbClr val="D6EEF0"/>
          </a:solidFill>
          <a:ln w="12700">
            <a:solidFill>
              <a:srgbClr val="0E7C86"/>
            </a:solidFill>
            <a:prstDash val="solid"/>
          </a:ln>
        </p:spPr>
      </p:sp>
      <p:sp>
        <p:nvSpPr>
          <p:cNvPr id="42" name="Text 35"/>
          <p:cNvSpPr txBox="1"/>
          <p:nvPr/>
        </p:nvSpPr>
        <p:spPr>
          <a:xfrm>
            <a:off x="3200400" y="5532120"/>
            <a:ext cx="1371600" cy="457200"/>
          </a:xfrm>
          <a:prstGeom prst="rect">
            <a:avLst/>
          </a:prstGeom>
          <a:noFill/>
          <a:ln/>
        </p:spPr>
        <p:txBody>
          <a:bodyPr wrap="square" lIns="0" tIns="0" rIns="0" bIns="0" rtlCol="0" anchor="ctr"/>
          <a:lstStyle/>
          <a:p>
            <a:pPr algn="ctr" indent="0" marL="0">
              <a:buNone/>
            </a:pPr>
            <a:r>
              <a:rPr lang="en-US" sz="1200" b="1" dirty="0">
                <a:solidFill>
                  <a:srgbClr val="0B1F33"/>
                </a:solidFill>
                <a:latin typeface="Calibri" pitchFamily="34" charset="0"/>
                <a:ea typeface="Calibri" pitchFamily="34" charset="-122"/>
                <a:cs typeface="Calibri" pitchFamily="34" charset="-120"/>
              </a:rPr>
              <a:t>Dim: Segment</a:t>
            </a:r>
            <a:endParaRPr lang="en-US" sz="1200" dirty="0"/>
          </a:p>
        </p:txBody>
      </p:sp>
      <p:sp>
        <p:nvSpPr>
          <p:cNvPr id="43" name="Shape 36"/>
          <p:cNvSpPr/>
          <p:nvPr/>
        </p:nvSpPr>
        <p:spPr>
          <a:xfrm>
            <a:off x="1508760" y="4343400"/>
            <a:ext cx="548640" cy="182880"/>
          </a:xfrm>
          <a:prstGeom prst="line">
            <a:avLst/>
          </a:prstGeom>
          <a:noFill/>
          <a:ln w="15875">
            <a:solidFill>
              <a:srgbClr val="64748B"/>
            </a:solidFill>
            <a:prstDash val="solid"/>
          </a:ln>
        </p:spPr>
      </p:sp>
      <p:sp>
        <p:nvSpPr>
          <p:cNvPr id="44" name="Shape 37"/>
          <p:cNvSpPr/>
          <p:nvPr/>
        </p:nvSpPr>
        <p:spPr>
          <a:xfrm flipV="1">
            <a:off x="3063240" y="4343400"/>
            <a:ext cx="274320" cy="182880"/>
          </a:xfrm>
          <a:prstGeom prst="line">
            <a:avLst/>
          </a:prstGeom>
          <a:noFill/>
          <a:ln w="15875">
            <a:solidFill>
              <a:srgbClr val="64748B"/>
            </a:solidFill>
            <a:prstDash val="solid"/>
          </a:ln>
        </p:spPr>
      </p:sp>
      <p:sp>
        <p:nvSpPr>
          <p:cNvPr id="45" name="Shape 38"/>
          <p:cNvSpPr/>
          <p:nvPr/>
        </p:nvSpPr>
        <p:spPr>
          <a:xfrm flipV="1">
            <a:off x="1508760" y="5120640"/>
            <a:ext cx="548640" cy="411480"/>
          </a:xfrm>
          <a:prstGeom prst="line">
            <a:avLst/>
          </a:prstGeom>
          <a:noFill/>
          <a:ln w="15875">
            <a:solidFill>
              <a:srgbClr val="64748B"/>
            </a:solidFill>
            <a:prstDash val="solid"/>
          </a:ln>
        </p:spPr>
      </p:sp>
      <p:sp>
        <p:nvSpPr>
          <p:cNvPr id="46" name="Shape 39"/>
          <p:cNvSpPr/>
          <p:nvPr/>
        </p:nvSpPr>
        <p:spPr>
          <a:xfrm>
            <a:off x="3063240" y="5120640"/>
            <a:ext cx="274320" cy="411480"/>
          </a:xfrm>
          <a:prstGeom prst="line">
            <a:avLst/>
          </a:prstGeom>
          <a:noFill/>
          <a:ln w="15875">
            <a:solidFill>
              <a:srgbClr val="64748B"/>
            </a:solidFill>
            <a:prstDash val="solid"/>
          </a:ln>
        </p:spPr>
      </p:sp>
      <p:sp>
        <p:nvSpPr>
          <p:cNvPr id="47" name="Shape 40"/>
          <p:cNvSpPr/>
          <p:nvPr/>
        </p:nvSpPr>
        <p:spPr>
          <a:xfrm>
            <a:off x="5394960" y="3246120"/>
            <a:ext cx="6245352" cy="2971800"/>
          </a:xfrm>
          <a:prstGeom prst="roundRect">
            <a:avLst>
              <a:gd name="adj" fmla="val 2462"/>
            </a:avLst>
          </a:prstGeom>
          <a:solidFill>
            <a:srgbClr val="0B1F33"/>
          </a:solidFill>
          <a:ln w="12700">
            <a:solidFill>
              <a:srgbClr val="0B1F33"/>
            </a:solidFill>
            <a:prstDash val="solid"/>
          </a:ln>
          <a:effectLst>
            <a:outerShdw sx="100000" sy="100000" kx="0" ky="0" algn="bl" rotWithShape="0" blurRad="101600" dist="25400" dir="5400000">
              <a:srgbClr val="000000">
                <a:alpha val="10000"/>
              </a:srgbClr>
            </a:outerShdw>
          </a:effectLst>
        </p:spPr>
      </p:sp>
      <p:sp>
        <p:nvSpPr>
          <p:cNvPr id="48" name="Text 41"/>
          <p:cNvSpPr txBox="1"/>
          <p:nvPr/>
        </p:nvSpPr>
        <p:spPr>
          <a:xfrm>
            <a:off x="5669280" y="3429000"/>
            <a:ext cx="5486400" cy="32004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Key DAX measures</a:t>
            </a:r>
            <a:endParaRPr lang="en-US" sz="1700" dirty="0"/>
          </a:p>
        </p:txBody>
      </p:sp>
      <p:sp>
        <p:nvSpPr>
          <p:cNvPr id="49" name="Text 42"/>
          <p:cNvSpPr txBox="1"/>
          <p:nvPr/>
        </p:nvSpPr>
        <p:spPr>
          <a:xfrm>
            <a:off x="5669280" y="3886200"/>
            <a:ext cx="5760720" cy="2148840"/>
          </a:xfrm>
          <a:prstGeom prst="rect">
            <a:avLst/>
          </a:prstGeom>
          <a:noFill/>
          <a:ln/>
        </p:spPr>
        <p:txBody>
          <a:bodyPr wrap="square" lIns="0" tIns="0" rIns="0" bIns="0" rtlCol="0" anchor="t"/>
          <a:lstStyle/>
          <a:p>
            <a:pPr indent="0" marL="0">
              <a:spcAft>
                <a:spcPts val="600"/>
              </a:spcAft>
              <a:buNone/>
            </a:pPr>
            <a:r>
              <a:rPr lang="en-US" sz="1100" dirty="0">
                <a:solidFill>
                  <a:srgbClr val="BFE9EC"/>
                </a:solidFill>
                <a:latin typeface="Courier New" pitchFamily="34" charset="0"/>
                <a:ea typeface="Courier New" pitchFamily="34" charset="-122"/>
                <a:cs typeface="Courier New" pitchFamily="34" charset="-120"/>
              </a:rPr>
              <a:t>Total Sales = SUM ( Sales[Sales] )</a:t>
            </a:r>
            <a:endParaRPr lang="en-US" sz="1100" dirty="0"/>
          </a:p>
          <a:p>
            <a:pPr indent="0" marL="0">
              <a:spcAft>
                <a:spcPts val="600"/>
              </a:spcAft>
              <a:buNone/>
            </a:pPr>
            <a:r>
              <a:rPr lang="en-US" sz="1100" dirty="0">
                <a:solidFill>
                  <a:srgbClr val="BFE9EC"/>
                </a:solidFill>
                <a:latin typeface="Courier New" pitchFamily="34" charset="0"/>
                <a:ea typeface="Courier New" pitchFamily="34" charset="-122"/>
                <a:cs typeface="Courier New" pitchFamily="34" charset="-120"/>
              </a:rPr>
              <a:t>Total Profit = SUM ( Sales[Profit] )</a:t>
            </a:r>
            <a:endParaRPr lang="en-US" sz="1100" dirty="0"/>
          </a:p>
          <a:p>
            <a:pPr indent="0" marL="0">
              <a:spcAft>
                <a:spcPts val="600"/>
              </a:spcAft>
              <a:buNone/>
            </a:pPr>
            <a:r>
              <a:rPr lang="en-US" sz="1100" dirty="0">
                <a:solidFill>
                  <a:srgbClr val="BFE9EC"/>
                </a:solidFill>
                <a:latin typeface="Courier New" pitchFamily="34" charset="0"/>
                <a:ea typeface="Courier New" pitchFamily="34" charset="-122"/>
                <a:cs typeface="Courier New" pitchFamily="34" charset="-120"/>
              </a:rPr>
              <a:t>Profit Margin % = DIVIDE ( [Total Profit], [Total Sales] )</a:t>
            </a:r>
            <a:endParaRPr lang="en-US" sz="1100" dirty="0"/>
          </a:p>
          <a:p>
            <a:pPr indent="0" marL="0">
              <a:spcAft>
                <a:spcPts val="600"/>
              </a:spcAft>
              <a:buNone/>
            </a:pPr>
            <a:r>
              <a:rPr lang="en-US" sz="1100" dirty="0">
                <a:solidFill>
                  <a:srgbClr val="BFE9EC"/>
                </a:solidFill>
                <a:latin typeface="Courier New" pitchFamily="34" charset="0"/>
                <a:ea typeface="Courier New" pitchFamily="34" charset="-122"/>
                <a:cs typeface="Courier New" pitchFamily="34" charset="-120"/>
              </a:rPr>
              <a:t>Sales YoY % = DIVIDE ( [Total Sales] - [Sales PY], [Sales PY] )</a:t>
            </a:r>
            <a:endParaRPr lang="en-US" sz="1100" dirty="0"/>
          </a:p>
          <a:p>
            <a:pPr indent="0" marL="0">
              <a:spcAft>
                <a:spcPts val="600"/>
              </a:spcAft>
              <a:buNone/>
            </a:pPr>
            <a:r>
              <a:rPr lang="en-US" sz="1100" dirty="0">
                <a:solidFill>
                  <a:srgbClr val="BFE9EC"/>
                </a:solidFill>
                <a:latin typeface="Courier New" pitchFamily="34" charset="0"/>
                <a:ea typeface="Courier New" pitchFamily="34" charset="-122"/>
                <a:cs typeface="Courier New" pitchFamily="34" charset="-120"/>
              </a:rPr>
              <a:t>Loss Order % = DIVIDE ( COUNTROWS ( FILTER ( Sales, Sales[Profit] &lt; 0 ) ), COUNTROWS ( Sales ) )</a:t>
            </a:r>
            <a:endParaRPr lang="en-US" sz="1100" dirty="0"/>
          </a:p>
          <a:p>
            <a:pPr indent="0" marL="0">
              <a:spcAft>
                <a:spcPts val="600"/>
              </a:spcAft>
              <a:buNone/>
            </a:pPr>
            <a:r>
              <a:rPr lang="en-US" sz="1100" dirty="0">
                <a:solidFill>
                  <a:srgbClr val="BFE9EC"/>
                </a:solidFill>
                <a:latin typeface="Courier New" pitchFamily="34" charset="0"/>
                <a:ea typeface="Courier New" pitchFamily="34" charset="-122"/>
                <a:cs typeface="Courier New" pitchFamily="34" charset="-120"/>
              </a:rPr>
              <a:t>On-Time % = DIVIDE ( COUNTROWS ( FILTER ( Sales, Sales[ShipDays] &lt;= 5 ) ), COUNTROWS ( Sales ) )</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6F9"/>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28600"/>
          </a:xfrm>
          <a:prstGeom prst="rect">
            <a:avLst/>
          </a:prstGeom>
          <a:noFill/>
          <a:ln/>
        </p:spPr>
        <p:txBody>
          <a:bodyPr wrap="square" lIns="0" tIns="0" rIns="0" bIns="0" rtlCol="0" anchor="t"/>
          <a:lstStyle/>
          <a:p>
            <a:pPr indent="0" marL="0">
              <a:buNone/>
            </a:pPr>
            <a:r>
              <a:rPr lang="en-US" sz="1100" b="1" spc="300" kern="0" dirty="0">
                <a:solidFill>
                  <a:srgbClr val="0E7C86"/>
                </a:solidFill>
                <a:latin typeface="Calibri" pitchFamily="34" charset="0"/>
                <a:ea typeface="Calibri" pitchFamily="34" charset="-122"/>
                <a:cs typeface="Calibri" pitchFamily="34" charset="-120"/>
              </a:rPr>
              <a:t>3  KPI FRAMEWORK</a:t>
            </a:r>
            <a:endParaRPr lang="en-US" sz="1100" dirty="0"/>
          </a:p>
        </p:txBody>
      </p:sp>
      <p:sp>
        <p:nvSpPr>
          <p:cNvPr id="3" name="Text 1"/>
          <p:cNvSpPr txBox="1"/>
          <p:nvPr/>
        </p:nvSpPr>
        <p:spPr>
          <a:xfrm>
            <a:off x="548640" y="530352"/>
            <a:ext cx="11064240" cy="54864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Six KPIs that give management a complete view</a:t>
            </a:r>
            <a:endParaRPr lang="en-US" sz="2800" dirty="0"/>
          </a:p>
        </p:txBody>
      </p:sp>
      <p:sp>
        <p:nvSpPr>
          <p:cNvPr id="4" name="Text 2"/>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Executive Business Intelligence Dashboard</a:t>
            </a:r>
            <a:endParaRPr lang="en-US" sz="1000" dirty="0"/>
          </a:p>
        </p:txBody>
      </p:sp>
      <p:sp>
        <p:nvSpPr>
          <p:cNvPr id="5" name="Text 3"/>
          <p:cNvSpPr txBox="1"/>
          <p:nvPr/>
        </p:nvSpPr>
        <p:spPr>
          <a:xfrm>
            <a:off x="11091672" y="6510528"/>
            <a:ext cx="548640" cy="228600"/>
          </a:xfrm>
          <a:prstGeom prst="rect">
            <a:avLst/>
          </a:prstGeom>
          <a:noFill/>
          <a:ln/>
        </p:spPr>
        <p:txBody>
          <a:bodyPr wrap="square" lIns="0" tIns="0" rIns="0" bIns="0" rtlCol="0" anchor="t"/>
          <a:lstStyle/>
          <a:p>
            <a:pPr algn="r" indent="0" marL="0">
              <a:buNone/>
            </a:pPr>
            <a:r>
              <a:rPr lang="en-US" sz="1000" dirty="0">
                <a:solidFill>
                  <a:srgbClr val="64748B"/>
                </a:solidFill>
                <a:latin typeface="Calibri" pitchFamily="34" charset="0"/>
                <a:ea typeface="Calibri" pitchFamily="34" charset="-122"/>
                <a:cs typeface="Calibri" pitchFamily="34" charset="-120"/>
              </a:rPr>
              <a:t>6</a:t>
            </a:r>
            <a:endParaRPr lang="en-US" sz="1000" dirty="0"/>
          </a:p>
        </p:txBody>
      </p:sp>
      <p:sp>
        <p:nvSpPr>
          <p:cNvPr id="6" name="Shape 4"/>
          <p:cNvSpPr/>
          <p:nvPr/>
        </p:nvSpPr>
        <p:spPr>
          <a:xfrm>
            <a:off x="548640" y="1371600"/>
            <a:ext cx="3593592" cy="2240280"/>
          </a:xfrm>
          <a:prstGeom prst="roundRect">
            <a:avLst>
              <a:gd name="adj" fmla="val 3265"/>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7" name="Shape 5"/>
          <p:cNvSpPr/>
          <p:nvPr/>
        </p:nvSpPr>
        <p:spPr>
          <a:xfrm>
            <a:off x="777240" y="1600200"/>
            <a:ext cx="548640" cy="548640"/>
          </a:xfrm>
          <a:prstGeom prst="ellipse">
            <a:avLst/>
          </a:prstGeom>
          <a:solidFill>
            <a:srgbClr val="0B1F33"/>
          </a:solidFill>
          <a:ln w="6350">
            <a:solidFill>
              <a:srgbClr val="0B1F33"/>
            </a:solidFill>
            <a:prstDash val="solid"/>
          </a:ln>
        </p:spPr>
      </p:sp>
      <p:pic>
        <p:nvPicPr>
          <p:cNvPr id="8" name="Image 0" descr="preencoded.png">    </p:cNvPr>
          <p:cNvPicPr>
            <a:picLocks noChangeAspect="1"/>
          </p:cNvPicPr>
          <p:nvPr/>
        </p:nvPicPr>
        <p:blipFill>
          <a:blip r:embed="rId1"/>
          <a:stretch>
            <a:fillRect/>
          </a:stretch>
        </p:blipFill>
        <p:spPr>
          <a:xfrm>
            <a:off x="919886" y="1742846"/>
            <a:ext cx="263347" cy="263347"/>
          </a:xfrm>
          <a:prstGeom prst="rect">
            <a:avLst/>
          </a:prstGeom>
        </p:spPr>
      </p:pic>
      <p:sp>
        <p:nvSpPr>
          <p:cNvPr id="9" name="Text 6"/>
          <p:cNvSpPr txBox="1"/>
          <p:nvPr/>
        </p:nvSpPr>
        <p:spPr>
          <a:xfrm>
            <a:off x="1508760" y="1618488"/>
            <a:ext cx="2377440" cy="228600"/>
          </a:xfrm>
          <a:prstGeom prst="rect">
            <a:avLst/>
          </a:prstGeom>
          <a:noFill/>
          <a:ln/>
        </p:spPr>
        <p:txBody>
          <a:bodyPr wrap="square" lIns="0" tIns="0" rIns="0" bIns="0" rtlCol="0" anchor="t"/>
          <a:lstStyle/>
          <a:p>
            <a:pPr indent="0" marL="0">
              <a:buNone/>
            </a:pPr>
            <a:r>
              <a:rPr lang="en-US" sz="1100" b="1" spc="200" kern="0" dirty="0">
                <a:solidFill>
                  <a:srgbClr val="0E7C86"/>
                </a:solidFill>
                <a:latin typeface="Calibri" pitchFamily="34" charset="0"/>
                <a:ea typeface="Calibri" pitchFamily="34" charset="-122"/>
                <a:cs typeface="Calibri" pitchFamily="34" charset="-120"/>
              </a:rPr>
              <a:t>REVENUE</a:t>
            </a:r>
            <a:endParaRPr lang="en-US" sz="1100" dirty="0"/>
          </a:p>
        </p:txBody>
      </p:sp>
      <p:sp>
        <p:nvSpPr>
          <p:cNvPr id="10" name="Text 7"/>
          <p:cNvSpPr txBox="1"/>
          <p:nvPr/>
        </p:nvSpPr>
        <p:spPr>
          <a:xfrm>
            <a:off x="1508760" y="1847088"/>
            <a:ext cx="2468880" cy="320040"/>
          </a:xfrm>
          <a:prstGeom prst="rect">
            <a:avLst/>
          </a:prstGeom>
          <a:noFill/>
          <a:ln/>
        </p:spPr>
        <p:txBody>
          <a:bodyPr wrap="square" lIns="0" tIns="0" rIns="0" bIns="0" rtlCol="0" anchor="t"/>
          <a:lstStyle/>
          <a:p>
            <a:pPr indent="0" marL="0">
              <a:buNone/>
            </a:pPr>
            <a:r>
              <a:rPr lang="en-US" sz="1500" b="1" dirty="0">
                <a:solidFill>
                  <a:srgbClr val="0B1F33"/>
                </a:solidFill>
                <a:latin typeface="Calibri" pitchFamily="34" charset="0"/>
                <a:ea typeface="Calibri" pitchFamily="34" charset="-122"/>
                <a:cs typeface="Calibri" pitchFamily="34" charset="-120"/>
              </a:rPr>
              <a:t>Total Sales</a:t>
            </a:r>
            <a:endParaRPr lang="en-US" sz="1500" dirty="0"/>
          </a:p>
        </p:txBody>
      </p:sp>
      <p:sp>
        <p:nvSpPr>
          <p:cNvPr id="11" name="Text 8"/>
          <p:cNvSpPr txBox="1"/>
          <p:nvPr/>
        </p:nvSpPr>
        <p:spPr>
          <a:xfrm>
            <a:off x="777240" y="2377440"/>
            <a:ext cx="3136392" cy="685800"/>
          </a:xfrm>
          <a:prstGeom prst="rect">
            <a:avLst/>
          </a:prstGeom>
          <a:noFill/>
          <a:ln/>
        </p:spPr>
        <p:txBody>
          <a:bodyPr wrap="square" lIns="0" tIns="0" rIns="0" bIns="0" rtlCol="0" anchor="t"/>
          <a:lstStyle/>
          <a:p>
            <a:pPr indent="0" marL="0">
              <a:buNone/>
            </a:pPr>
            <a:r>
              <a:rPr lang="en-US" sz="3800" b="1" dirty="0">
                <a:solidFill>
                  <a:srgbClr val="0B1F33"/>
                </a:solidFill>
                <a:latin typeface="Cambria" pitchFamily="34" charset="0"/>
                <a:ea typeface="Cambria" pitchFamily="34" charset="-122"/>
                <a:cs typeface="Cambria" pitchFamily="34" charset="-120"/>
              </a:rPr>
              <a:t>$526.5K</a:t>
            </a:r>
            <a:endParaRPr lang="en-US" sz="3800" dirty="0"/>
          </a:p>
        </p:txBody>
      </p:sp>
      <p:sp>
        <p:nvSpPr>
          <p:cNvPr id="12" name="Text 9"/>
          <p:cNvSpPr txBox="1"/>
          <p:nvPr/>
        </p:nvSpPr>
        <p:spPr>
          <a:xfrm>
            <a:off x="777240" y="3063240"/>
            <a:ext cx="3136392" cy="457200"/>
          </a:xfrm>
          <a:prstGeom prst="rect">
            <a:avLst/>
          </a:prstGeom>
          <a:noFill/>
          <a:ln/>
        </p:spPr>
        <p:txBody>
          <a:bodyPr wrap="square" lIns="0" tIns="0" rIns="0" bIns="0" rtlCol="0" anchor="t"/>
          <a:lstStyle/>
          <a:p>
            <a:pPr indent="0" marL="0">
              <a:buNone/>
            </a:pPr>
            <a:r>
              <a:rPr lang="en-US" sz="1150" dirty="0">
                <a:solidFill>
                  <a:srgbClr val="64748B"/>
                </a:solidFill>
                <a:latin typeface="Calibri" pitchFamily="34" charset="0"/>
                <a:ea typeface="Calibri" pitchFamily="34" charset="-122"/>
                <a:cs typeface="Calibri" pitchFamily="34" charset="-120"/>
              </a:rPr>
              <a:t>FY25 net sales after discount</a:t>
            </a:r>
            <a:endParaRPr lang="en-US" sz="1150" dirty="0"/>
          </a:p>
        </p:txBody>
      </p:sp>
      <p:sp>
        <p:nvSpPr>
          <p:cNvPr id="13" name="Shape 10"/>
          <p:cNvSpPr/>
          <p:nvPr/>
        </p:nvSpPr>
        <p:spPr>
          <a:xfrm>
            <a:off x="4297680" y="1371600"/>
            <a:ext cx="3593592" cy="2240280"/>
          </a:xfrm>
          <a:prstGeom prst="roundRect">
            <a:avLst>
              <a:gd name="adj" fmla="val 3265"/>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14" name="Shape 11"/>
          <p:cNvSpPr/>
          <p:nvPr/>
        </p:nvSpPr>
        <p:spPr>
          <a:xfrm>
            <a:off x="4526280" y="1600200"/>
            <a:ext cx="548640" cy="548640"/>
          </a:xfrm>
          <a:prstGeom prst="ellipse">
            <a:avLst/>
          </a:prstGeom>
          <a:solidFill>
            <a:srgbClr val="0B1F33"/>
          </a:solidFill>
          <a:ln w="6350">
            <a:solidFill>
              <a:srgbClr val="0B1F33"/>
            </a:solidFill>
            <a:prstDash val="solid"/>
          </a:ln>
        </p:spPr>
      </p:sp>
      <p:pic>
        <p:nvPicPr>
          <p:cNvPr id="15" name="Image 1" descr="preencoded.png">    </p:cNvPr>
          <p:cNvPicPr>
            <a:picLocks noChangeAspect="1"/>
          </p:cNvPicPr>
          <p:nvPr/>
        </p:nvPicPr>
        <p:blipFill>
          <a:blip r:embed="rId2"/>
          <a:stretch>
            <a:fillRect/>
          </a:stretch>
        </p:blipFill>
        <p:spPr>
          <a:xfrm>
            <a:off x="4668926" y="1742846"/>
            <a:ext cx="263347" cy="263347"/>
          </a:xfrm>
          <a:prstGeom prst="rect">
            <a:avLst/>
          </a:prstGeom>
        </p:spPr>
      </p:pic>
      <p:sp>
        <p:nvSpPr>
          <p:cNvPr id="16" name="Text 12"/>
          <p:cNvSpPr txBox="1"/>
          <p:nvPr/>
        </p:nvSpPr>
        <p:spPr>
          <a:xfrm>
            <a:off x="5257800" y="1618488"/>
            <a:ext cx="2377440" cy="228600"/>
          </a:xfrm>
          <a:prstGeom prst="rect">
            <a:avLst/>
          </a:prstGeom>
          <a:noFill/>
          <a:ln/>
        </p:spPr>
        <p:txBody>
          <a:bodyPr wrap="square" lIns="0" tIns="0" rIns="0" bIns="0" rtlCol="0" anchor="t"/>
          <a:lstStyle/>
          <a:p>
            <a:pPr indent="0" marL="0">
              <a:buNone/>
            </a:pPr>
            <a:r>
              <a:rPr lang="en-US" sz="1100" b="1" spc="200" kern="0" dirty="0">
                <a:solidFill>
                  <a:srgbClr val="0E7C86"/>
                </a:solidFill>
                <a:latin typeface="Calibri" pitchFamily="34" charset="0"/>
                <a:ea typeface="Calibri" pitchFamily="34" charset="-122"/>
                <a:cs typeface="Calibri" pitchFamily="34" charset="-120"/>
              </a:rPr>
              <a:t>PROFIT</a:t>
            </a:r>
            <a:endParaRPr lang="en-US" sz="1100" dirty="0"/>
          </a:p>
        </p:txBody>
      </p:sp>
      <p:sp>
        <p:nvSpPr>
          <p:cNvPr id="17" name="Text 13"/>
          <p:cNvSpPr txBox="1"/>
          <p:nvPr/>
        </p:nvSpPr>
        <p:spPr>
          <a:xfrm>
            <a:off x="5257800" y="1847088"/>
            <a:ext cx="2468880" cy="320040"/>
          </a:xfrm>
          <a:prstGeom prst="rect">
            <a:avLst/>
          </a:prstGeom>
          <a:noFill/>
          <a:ln/>
        </p:spPr>
        <p:txBody>
          <a:bodyPr wrap="square" lIns="0" tIns="0" rIns="0" bIns="0" rtlCol="0" anchor="t"/>
          <a:lstStyle/>
          <a:p>
            <a:pPr indent="0" marL="0">
              <a:buNone/>
            </a:pPr>
            <a:r>
              <a:rPr lang="en-US" sz="1500" b="1" dirty="0">
                <a:solidFill>
                  <a:srgbClr val="0B1F33"/>
                </a:solidFill>
                <a:latin typeface="Calibri" pitchFamily="34" charset="0"/>
                <a:ea typeface="Calibri" pitchFamily="34" charset="-122"/>
                <a:cs typeface="Calibri" pitchFamily="34" charset="-120"/>
              </a:rPr>
              <a:t>Profit Margin %</a:t>
            </a:r>
            <a:endParaRPr lang="en-US" sz="1500" dirty="0"/>
          </a:p>
        </p:txBody>
      </p:sp>
      <p:sp>
        <p:nvSpPr>
          <p:cNvPr id="18" name="Text 14"/>
          <p:cNvSpPr txBox="1"/>
          <p:nvPr/>
        </p:nvSpPr>
        <p:spPr>
          <a:xfrm>
            <a:off x="4526280" y="2377440"/>
            <a:ext cx="3136392" cy="685800"/>
          </a:xfrm>
          <a:prstGeom prst="rect">
            <a:avLst/>
          </a:prstGeom>
          <a:noFill/>
          <a:ln/>
        </p:spPr>
        <p:txBody>
          <a:bodyPr wrap="square" lIns="0" tIns="0" rIns="0" bIns="0" rtlCol="0" anchor="t"/>
          <a:lstStyle/>
          <a:p>
            <a:pPr indent="0" marL="0">
              <a:buNone/>
            </a:pPr>
            <a:r>
              <a:rPr lang="en-US" sz="3800" b="1" dirty="0">
                <a:solidFill>
                  <a:srgbClr val="DC2626"/>
                </a:solidFill>
                <a:latin typeface="Cambria" pitchFamily="34" charset="0"/>
                <a:ea typeface="Cambria" pitchFamily="34" charset="-122"/>
                <a:cs typeface="Cambria" pitchFamily="34" charset="-120"/>
              </a:rPr>
              <a:t>11.3%</a:t>
            </a:r>
            <a:endParaRPr lang="en-US" sz="3800" dirty="0"/>
          </a:p>
        </p:txBody>
      </p:sp>
      <p:sp>
        <p:nvSpPr>
          <p:cNvPr id="19" name="Text 15"/>
          <p:cNvSpPr txBox="1"/>
          <p:nvPr/>
        </p:nvSpPr>
        <p:spPr>
          <a:xfrm>
            <a:off x="4526280" y="3063240"/>
            <a:ext cx="3136392" cy="457200"/>
          </a:xfrm>
          <a:prstGeom prst="rect">
            <a:avLst/>
          </a:prstGeom>
          <a:noFill/>
          <a:ln/>
        </p:spPr>
        <p:txBody>
          <a:bodyPr wrap="square" lIns="0" tIns="0" rIns="0" bIns="0" rtlCol="0" anchor="t"/>
          <a:lstStyle/>
          <a:p>
            <a:pPr indent="0" marL="0">
              <a:buNone/>
            </a:pPr>
            <a:r>
              <a:rPr lang="en-US" sz="1150" dirty="0">
                <a:solidFill>
                  <a:srgbClr val="64748B"/>
                </a:solidFill>
                <a:latin typeface="Calibri" pitchFamily="34" charset="0"/>
                <a:ea typeface="Calibri" pitchFamily="34" charset="-122"/>
                <a:cs typeface="Calibri" pitchFamily="34" charset="-120"/>
              </a:rPr>
              <a:t>Profit $59.6K  |  Target 13%</a:t>
            </a:r>
            <a:endParaRPr lang="en-US" sz="1150" dirty="0"/>
          </a:p>
        </p:txBody>
      </p:sp>
      <p:sp>
        <p:nvSpPr>
          <p:cNvPr id="20" name="Shape 16"/>
          <p:cNvSpPr/>
          <p:nvPr/>
        </p:nvSpPr>
        <p:spPr>
          <a:xfrm>
            <a:off x="8046720" y="1371600"/>
            <a:ext cx="3593592" cy="2240280"/>
          </a:xfrm>
          <a:prstGeom prst="roundRect">
            <a:avLst>
              <a:gd name="adj" fmla="val 3265"/>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21" name="Shape 17"/>
          <p:cNvSpPr/>
          <p:nvPr/>
        </p:nvSpPr>
        <p:spPr>
          <a:xfrm>
            <a:off x="8275320" y="1600200"/>
            <a:ext cx="548640" cy="548640"/>
          </a:xfrm>
          <a:prstGeom prst="ellipse">
            <a:avLst/>
          </a:prstGeom>
          <a:solidFill>
            <a:srgbClr val="16A34A"/>
          </a:solidFill>
          <a:ln w="6350">
            <a:solidFill>
              <a:srgbClr val="16A34A"/>
            </a:solidFill>
            <a:prstDash val="solid"/>
          </a:ln>
        </p:spPr>
      </p:sp>
      <p:pic>
        <p:nvPicPr>
          <p:cNvPr id="22" name="Image 2" descr="preencoded.png">    </p:cNvPr>
          <p:cNvPicPr>
            <a:picLocks noChangeAspect="1"/>
          </p:cNvPicPr>
          <p:nvPr/>
        </p:nvPicPr>
        <p:blipFill>
          <a:blip r:embed="rId3"/>
          <a:stretch>
            <a:fillRect/>
          </a:stretch>
        </p:blipFill>
        <p:spPr>
          <a:xfrm>
            <a:off x="8417966" y="1742846"/>
            <a:ext cx="263347" cy="263347"/>
          </a:xfrm>
          <a:prstGeom prst="rect">
            <a:avLst/>
          </a:prstGeom>
        </p:spPr>
      </p:pic>
      <p:sp>
        <p:nvSpPr>
          <p:cNvPr id="23" name="Text 18"/>
          <p:cNvSpPr txBox="1"/>
          <p:nvPr/>
        </p:nvSpPr>
        <p:spPr>
          <a:xfrm>
            <a:off x="9006840" y="1618488"/>
            <a:ext cx="2377440" cy="228600"/>
          </a:xfrm>
          <a:prstGeom prst="rect">
            <a:avLst/>
          </a:prstGeom>
          <a:noFill/>
          <a:ln/>
        </p:spPr>
        <p:txBody>
          <a:bodyPr wrap="square" lIns="0" tIns="0" rIns="0" bIns="0" rtlCol="0" anchor="t"/>
          <a:lstStyle/>
          <a:p>
            <a:pPr indent="0" marL="0">
              <a:buNone/>
            </a:pPr>
            <a:r>
              <a:rPr lang="en-US" sz="1100" b="1" spc="200" kern="0" dirty="0">
                <a:solidFill>
                  <a:srgbClr val="0E7C86"/>
                </a:solidFill>
                <a:latin typeface="Calibri" pitchFamily="34" charset="0"/>
                <a:ea typeface="Calibri" pitchFamily="34" charset="-122"/>
                <a:cs typeface="Calibri" pitchFamily="34" charset="-120"/>
              </a:rPr>
              <a:t>GROWTH</a:t>
            </a:r>
            <a:endParaRPr lang="en-US" sz="1100" dirty="0"/>
          </a:p>
        </p:txBody>
      </p:sp>
      <p:sp>
        <p:nvSpPr>
          <p:cNvPr id="24" name="Text 19"/>
          <p:cNvSpPr txBox="1"/>
          <p:nvPr/>
        </p:nvSpPr>
        <p:spPr>
          <a:xfrm>
            <a:off x="9006840" y="1847088"/>
            <a:ext cx="2468880" cy="320040"/>
          </a:xfrm>
          <a:prstGeom prst="rect">
            <a:avLst/>
          </a:prstGeom>
          <a:noFill/>
          <a:ln/>
        </p:spPr>
        <p:txBody>
          <a:bodyPr wrap="square" lIns="0" tIns="0" rIns="0" bIns="0" rtlCol="0" anchor="t"/>
          <a:lstStyle/>
          <a:p>
            <a:pPr indent="0" marL="0">
              <a:buNone/>
            </a:pPr>
            <a:r>
              <a:rPr lang="en-US" sz="1500" b="1" dirty="0">
                <a:solidFill>
                  <a:srgbClr val="0B1F33"/>
                </a:solidFill>
                <a:latin typeface="Calibri" pitchFamily="34" charset="0"/>
                <a:ea typeface="Calibri" pitchFamily="34" charset="-122"/>
                <a:cs typeface="Calibri" pitchFamily="34" charset="-120"/>
              </a:rPr>
              <a:t>Sales YoY %</a:t>
            </a:r>
            <a:endParaRPr lang="en-US" sz="1500" dirty="0"/>
          </a:p>
        </p:txBody>
      </p:sp>
      <p:sp>
        <p:nvSpPr>
          <p:cNvPr id="25" name="Text 20"/>
          <p:cNvSpPr txBox="1"/>
          <p:nvPr/>
        </p:nvSpPr>
        <p:spPr>
          <a:xfrm>
            <a:off x="8275320" y="2377440"/>
            <a:ext cx="3136392" cy="685800"/>
          </a:xfrm>
          <a:prstGeom prst="rect">
            <a:avLst/>
          </a:prstGeom>
          <a:noFill/>
          <a:ln/>
        </p:spPr>
        <p:txBody>
          <a:bodyPr wrap="square" lIns="0" tIns="0" rIns="0" bIns="0" rtlCol="0" anchor="t"/>
          <a:lstStyle/>
          <a:p>
            <a:pPr indent="0" marL="0">
              <a:buNone/>
            </a:pPr>
            <a:r>
              <a:rPr lang="en-US" sz="3800" b="1" dirty="0">
                <a:solidFill>
                  <a:srgbClr val="16A34A"/>
                </a:solidFill>
                <a:latin typeface="Cambria" pitchFamily="34" charset="0"/>
                <a:ea typeface="Cambria" pitchFamily="34" charset="-122"/>
                <a:cs typeface="Cambria" pitchFamily="34" charset="-120"/>
              </a:rPr>
              <a:t>+11.8%</a:t>
            </a:r>
            <a:endParaRPr lang="en-US" sz="3800" dirty="0"/>
          </a:p>
        </p:txBody>
      </p:sp>
      <p:sp>
        <p:nvSpPr>
          <p:cNvPr id="26" name="Text 21"/>
          <p:cNvSpPr txBox="1"/>
          <p:nvPr/>
        </p:nvSpPr>
        <p:spPr>
          <a:xfrm>
            <a:off x="8275320" y="3063240"/>
            <a:ext cx="3136392" cy="457200"/>
          </a:xfrm>
          <a:prstGeom prst="rect">
            <a:avLst/>
          </a:prstGeom>
          <a:noFill/>
          <a:ln/>
        </p:spPr>
        <p:txBody>
          <a:bodyPr wrap="square" lIns="0" tIns="0" rIns="0" bIns="0" rtlCol="0" anchor="t"/>
          <a:lstStyle/>
          <a:p>
            <a:pPr indent="0" marL="0">
              <a:buNone/>
            </a:pPr>
            <a:r>
              <a:rPr lang="en-US" sz="1150" dirty="0">
                <a:solidFill>
                  <a:srgbClr val="64748B"/>
                </a:solidFill>
                <a:latin typeface="Calibri" pitchFamily="34" charset="0"/>
                <a:ea typeface="Calibri" pitchFamily="34" charset="-122"/>
                <a:cs typeface="Calibri" pitchFamily="34" charset="-120"/>
              </a:rPr>
              <a:t>FY25 vs FY24</a:t>
            </a:r>
            <a:endParaRPr lang="en-US" sz="1150" dirty="0"/>
          </a:p>
        </p:txBody>
      </p:sp>
      <p:sp>
        <p:nvSpPr>
          <p:cNvPr id="27" name="Shape 22"/>
          <p:cNvSpPr/>
          <p:nvPr/>
        </p:nvSpPr>
        <p:spPr>
          <a:xfrm>
            <a:off x="548640" y="3794760"/>
            <a:ext cx="3593592" cy="2240280"/>
          </a:xfrm>
          <a:prstGeom prst="roundRect">
            <a:avLst>
              <a:gd name="adj" fmla="val 3265"/>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28" name="Shape 23"/>
          <p:cNvSpPr/>
          <p:nvPr/>
        </p:nvSpPr>
        <p:spPr>
          <a:xfrm>
            <a:off x="777240" y="4023360"/>
            <a:ext cx="548640" cy="548640"/>
          </a:xfrm>
          <a:prstGeom prst="ellipse">
            <a:avLst/>
          </a:prstGeom>
          <a:solidFill>
            <a:srgbClr val="0B1F33"/>
          </a:solidFill>
          <a:ln w="6350">
            <a:solidFill>
              <a:srgbClr val="0B1F33"/>
            </a:solidFill>
            <a:prstDash val="solid"/>
          </a:ln>
        </p:spPr>
      </p:sp>
      <p:pic>
        <p:nvPicPr>
          <p:cNvPr id="29" name="Image 3" descr="preencoded.png">    </p:cNvPr>
          <p:cNvPicPr>
            <a:picLocks noChangeAspect="1"/>
          </p:cNvPicPr>
          <p:nvPr/>
        </p:nvPicPr>
        <p:blipFill>
          <a:blip r:embed="rId4"/>
          <a:stretch>
            <a:fillRect/>
          </a:stretch>
        </p:blipFill>
        <p:spPr>
          <a:xfrm>
            <a:off x="919886" y="4166006"/>
            <a:ext cx="263347" cy="263347"/>
          </a:xfrm>
          <a:prstGeom prst="rect">
            <a:avLst/>
          </a:prstGeom>
        </p:spPr>
      </p:pic>
      <p:sp>
        <p:nvSpPr>
          <p:cNvPr id="30" name="Text 24"/>
          <p:cNvSpPr txBox="1"/>
          <p:nvPr/>
        </p:nvSpPr>
        <p:spPr>
          <a:xfrm>
            <a:off x="1508760" y="4041648"/>
            <a:ext cx="2377440" cy="228600"/>
          </a:xfrm>
          <a:prstGeom prst="rect">
            <a:avLst/>
          </a:prstGeom>
          <a:noFill/>
          <a:ln/>
        </p:spPr>
        <p:txBody>
          <a:bodyPr wrap="square" lIns="0" tIns="0" rIns="0" bIns="0" rtlCol="0" anchor="t"/>
          <a:lstStyle/>
          <a:p>
            <a:pPr indent="0" marL="0">
              <a:buNone/>
            </a:pPr>
            <a:r>
              <a:rPr lang="en-US" sz="1100" b="1" spc="200" kern="0" dirty="0">
                <a:solidFill>
                  <a:srgbClr val="0E7C86"/>
                </a:solidFill>
                <a:latin typeface="Calibri" pitchFamily="34" charset="0"/>
                <a:ea typeface="Calibri" pitchFamily="34" charset="-122"/>
                <a:cs typeface="Calibri" pitchFamily="34" charset="-120"/>
              </a:rPr>
              <a:t>RISK</a:t>
            </a:r>
            <a:endParaRPr lang="en-US" sz="1100" dirty="0"/>
          </a:p>
        </p:txBody>
      </p:sp>
      <p:sp>
        <p:nvSpPr>
          <p:cNvPr id="31" name="Text 25"/>
          <p:cNvSpPr txBox="1"/>
          <p:nvPr/>
        </p:nvSpPr>
        <p:spPr>
          <a:xfrm>
            <a:off x="1508760" y="4270248"/>
            <a:ext cx="2468880" cy="320040"/>
          </a:xfrm>
          <a:prstGeom prst="rect">
            <a:avLst/>
          </a:prstGeom>
          <a:noFill/>
          <a:ln/>
        </p:spPr>
        <p:txBody>
          <a:bodyPr wrap="square" lIns="0" tIns="0" rIns="0" bIns="0" rtlCol="0" anchor="t"/>
          <a:lstStyle/>
          <a:p>
            <a:pPr indent="0" marL="0">
              <a:buNone/>
            </a:pPr>
            <a:r>
              <a:rPr lang="en-US" sz="1500" b="1" dirty="0">
                <a:solidFill>
                  <a:srgbClr val="0B1F33"/>
                </a:solidFill>
                <a:latin typeface="Calibri" pitchFamily="34" charset="0"/>
                <a:ea typeface="Calibri" pitchFamily="34" charset="-122"/>
                <a:cs typeface="Calibri" pitchFamily="34" charset="-120"/>
              </a:rPr>
              <a:t>Loss-making orders</a:t>
            </a:r>
            <a:endParaRPr lang="en-US" sz="1500" dirty="0"/>
          </a:p>
        </p:txBody>
      </p:sp>
      <p:sp>
        <p:nvSpPr>
          <p:cNvPr id="32" name="Text 26"/>
          <p:cNvSpPr txBox="1"/>
          <p:nvPr/>
        </p:nvSpPr>
        <p:spPr>
          <a:xfrm>
            <a:off x="777240" y="4800600"/>
            <a:ext cx="3136392" cy="685800"/>
          </a:xfrm>
          <a:prstGeom prst="rect">
            <a:avLst/>
          </a:prstGeom>
          <a:noFill/>
          <a:ln/>
        </p:spPr>
        <p:txBody>
          <a:bodyPr wrap="square" lIns="0" tIns="0" rIns="0" bIns="0" rtlCol="0" anchor="t"/>
          <a:lstStyle/>
          <a:p>
            <a:pPr indent="0" marL="0">
              <a:buNone/>
            </a:pPr>
            <a:r>
              <a:rPr lang="en-US" sz="3800" b="1" dirty="0">
                <a:solidFill>
                  <a:srgbClr val="DC2626"/>
                </a:solidFill>
                <a:latin typeface="Cambria" pitchFamily="34" charset="0"/>
                <a:ea typeface="Cambria" pitchFamily="34" charset="-122"/>
                <a:cs typeface="Cambria" pitchFamily="34" charset="-120"/>
              </a:rPr>
              <a:t>17.4%</a:t>
            </a:r>
            <a:endParaRPr lang="en-US" sz="3800" dirty="0"/>
          </a:p>
        </p:txBody>
      </p:sp>
      <p:sp>
        <p:nvSpPr>
          <p:cNvPr id="33" name="Text 27"/>
          <p:cNvSpPr txBox="1"/>
          <p:nvPr/>
        </p:nvSpPr>
        <p:spPr>
          <a:xfrm>
            <a:off x="777240" y="5486400"/>
            <a:ext cx="3136392" cy="457200"/>
          </a:xfrm>
          <a:prstGeom prst="rect">
            <a:avLst/>
          </a:prstGeom>
          <a:noFill/>
          <a:ln/>
        </p:spPr>
        <p:txBody>
          <a:bodyPr wrap="square" lIns="0" tIns="0" rIns="0" bIns="0" rtlCol="0" anchor="t"/>
          <a:lstStyle/>
          <a:p>
            <a:pPr indent="0" marL="0">
              <a:buNone/>
            </a:pPr>
            <a:r>
              <a:rPr lang="en-US" sz="1150" dirty="0">
                <a:solidFill>
                  <a:srgbClr val="64748B"/>
                </a:solidFill>
                <a:latin typeface="Calibri" pitchFamily="34" charset="0"/>
                <a:ea typeface="Calibri" pitchFamily="34" charset="-122"/>
                <a:cs typeface="Calibri" pitchFamily="34" charset="-120"/>
              </a:rPr>
              <a:t>Share of orders with profit &lt; 0  |  Target &lt; 12%</a:t>
            </a:r>
            <a:endParaRPr lang="en-US" sz="1150" dirty="0"/>
          </a:p>
        </p:txBody>
      </p:sp>
      <p:sp>
        <p:nvSpPr>
          <p:cNvPr id="34" name="Shape 28"/>
          <p:cNvSpPr/>
          <p:nvPr/>
        </p:nvSpPr>
        <p:spPr>
          <a:xfrm>
            <a:off x="4297680" y="3794760"/>
            <a:ext cx="3593592" cy="2240280"/>
          </a:xfrm>
          <a:prstGeom prst="roundRect">
            <a:avLst>
              <a:gd name="adj" fmla="val 3265"/>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35" name="Shape 29"/>
          <p:cNvSpPr/>
          <p:nvPr/>
        </p:nvSpPr>
        <p:spPr>
          <a:xfrm>
            <a:off x="4526280" y="4023360"/>
            <a:ext cx="548640" cy="548640"/>
          </a:xfrm>
          <a:prstGeom prst="ellipse">
            <a:avLst/>
          </a:prstGeom>
          <a:solidFill>
            <a:srgbClr val="0B1F33"/>
          </a:solidFill>
          <a:ln w="6350">
            <a:solidFill>
              <a:srgbClr val="0B1F33"/>
            </a:solidFill>
            <a:prstDash val="solid"/>
          </a:ln>
        </p:spPr>
      </p:sp>
      <p:pic>
        <p:nvPicPr>
          <p:cNvPr id="36" name="Image 4" descr="preencoded.png">    </p:cNvPr>
          <p:cNvPicPr>
            <a:picLocks noChangeAspect="1"/>
          </p:cNvPicPr>
          <p:nvPr/>
        </p:nvPicPr>
        <p:blipFill>
          <a:blip r:embed="rId5"/>
          <a:stretch>
            <a:fillRect/>
          </a:stretch>
        </p:blipFill>
        <p:spPr>
          <a:xfrm>
            <a:off x="4668926" y="4166006"/>
            <a:ext cx="263347" cy="263347"/>
          </a:xfrm>
          <a:prstGeom prst="rect">
            <a:avLst/>
          </a:prstGeom>
        </p:spPr>
      </p:pic>
      <p:sp>
        <p:nvSpPr>
          <p:cNvPr id="37" name="Text 30"/>
          <p:cNvSpPr txBox="1"/>
          <p:nvPr/>
        </p:nvSpPr>
        <p:spPr>
          <a:xfrm>
            <a:off x="5257800" y="4041648"/>
            <a:ext cx="2377440" cy="228600"/>
          </a:xfrm>
          <a:prstGeom prst="rect">
            <a:avLst/>
          </a:prstGeom>
          <a:noFill/>
          <a:ln/>
        </p:spPr>
        <p:txBody>
          <a:bodyPr wrap="square" lIns="0" tIns="0" rIns="0" bIns="0" rtlCol="0" anchor="t"/>
          <a:lstStyle/>
          <a:p>
            <a:pPr indent="0" marL="0">
              <a:buNone/>
            </a:pPr>
            <a:r>
              <a:rPr lang="en-US" sz="1100" b="1" spc="200" kern="0" dirty="0">
                <a:solidFill>
                  <a:srgbClr val="0E7C86"/>
                </a:solidFill>
                <a:latin typeface="Calibri" pitchFamily="34" charset="0"/>
                <a:ea typeface="Calibri" pitchFamily="34" charset="-122"/>
                <a:cs typeface="Calibri" pitchFamily="34" charset="-120"/>
              </a:rPr>
              <a:t>EFFICIENCY</a:t>
            </a:r>
            <a:endParaRPr lang="en-US" sz="1100" dirty="0"/>
          </a:p>
        </p:txBody>
      </p:sp>
      <p:sp>
        <p:nvSpPr>
          <p:cNvPr id="38" name="Text 31"/>
          <p:cNvSpPr txBox="1"/>
          <p:nvPr/>
        </p:nvSpPr>
        <p:spPr>
          <a:xfrm>
            <a:off x="5257800" y="4270248"/>
            <a:ext cx="2468880" cy="320040"/>
          </a:xfrm>
          <a:prstGeom prst="rect">
            <a:avLst/>
          </a:prstGeom>
          <a:noFill/>
          <a:ln/>
        </p:spPr>
        <p:txBody>
          <a:bodyPr wrap="square" lIns="0" tIns="0" rIns="0" bIns="0" rtlCol="0" anchor="t"/>
          <a:lstStyle/>
          <a:p>
            <a:pPr indent="0" marL="0">
              <a:buNone/>
            </a:pPr>
            <a:r>
              <a:rPr lang="en-US" sz="1500" b="1" dirty="0">
                <a:solidFill>
                  <a:srgbClr val="0B1F33"/>
                </a:solidFill>
                <a:latin typeface="Calibri" pitchFamily="34" charset="0"/>
                <a:ea typeface="Calibri" pitchFamily="34" charset="-122"/>
                <a:cs typeface="Calibri" pitchFamily="34" charset="-120"/>
              </a:rPr>
              <a:t>Avg. shipping days</a:t>
            </a:r>
            <a:endParaRPr lang="en-US" sz="1500" dirty="0"/>
          </a:p>
        </p:txBody>
      </p:sp>
      <p:sp>
        <p:nvSpPr>
          <p:cNvPr id="39" name="Text 32"/>
          <p:cNvSpPr txBox="1"/>
          <p:nvPr/>
        </p:nvSpPr>
        <p:spPr>
          <a:xfrm>
            <a:off x="4526280" y="4800600"/>
            <a:ext cx="3136392" cy="685800"/>
          </a:xfrm>
          <a:prstGeom prst="rect">
            <a:avLst/>
          </a:prstGeom>
          <a:noFill/>
          <a:ln/>
        </p:spPr>
        <p:txBody>
          <a:bodyPr wrap="square" lIns="0" tIns="0" rIns="0" bIns="0" rtlCol="0" anchor="t"/>
          <a:lstStyle/>
          <a:p>
            <a:pPr indent="0" marL="0">
              <a:buNone/>
            </a:pPr>
            <a:r>
              <a:rPr lang="en-US" sz="3800" b="1" dirty="0">
                <a:solidFill>
                  <a:srgbClr val="F59E0B"/>
                </a:solidFill>
                <a:latin typeface="Cambria" pitchFamily="34" charset="0"/>
                <a:ea typeface="Cambria" pitchFamily="34" charset="-122"/>
                <a:cs typeface="Cambria" pitchFamily="34" charset="-120"/>
              </a:rPr>
              <a:t>4.5 days</a:t>
            </a:r>
            <a:endParaRPr lang="en-US" sz="3800" dirty="0"/>
          </a:p>
        </p:txBody>
      </p:sp>
      <p:sp>
        <p:nvSpPr>
          <p:cNvPr id="40" name="Text 33"/>
          <p:cNvSpPr txBox="1"/>
          <p:nvPr/>
        </p:nvSpPr>
        <p:spPr>
          <a:xfrm>
            <a:off x="4526280" y="5486400"/>
            <a:ext cx="3136392" cy="457200"/>
          </a:xfrm>
          <a:prstGeom prst="rect">
            <a:avLst/>
          </a:prstGeom>
          <a:noFill/>
          <a:ln/>
        </p:spPr>
        <p:txBody>
          <a:bodyPr wrap="square" lIns="0" tIns="0" rIns="0" bIns="0" rtlCol="0" anchor="t"/>
          <a:lstStyle/>
          <a:p>
            <a:pPr indent="0" marL="0">
              <a:buNone/>
            </a:pPr>
            <a:r>
              <a:rPr lang="en-US" sz="1150" dirty="0">
                <a:solidFill>
                  <a:srgbClr val="64748B"/>
                </a:solidFill>
                <a:latin typeface="Calibri" pitchFamily="34" charset="0"/>
                <a:ea typeface="Calibri" pitchFamily="34" charset="-122"/>
                <a:cs typeface="Calibri" pitchFamily="34" charset="-120"/>
              </a:rPr>
              <a:t>Order date to ship date  |  Target ≤ 4</a:t>
            </a:r>
            <a:endParaRPr lang="en-US" sz="1150" dirty="0"/>
          </a:p>
        </p:txBody>
      </p:sp>
      <p:sp>
        <p:nvSpPr>
          <p:cNvPr id="41" name="Shape 34"/>
          <p:cNvSpPr/>
          <p:nvPr/>
        </p:nvSpPr>
        <p:spPr>
          <a:xfrm>
            <a:off x="8046720" y="3794760"/>
            <a:ext cx="3593592" cy="2240280"/>
          </a:xfrm>
          <a:prstGeom prst="roundRect">
            <a:avLst>
              <a:gd name="adj" fmla="val 3265"/>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42" name="Shape 35"/>
          <p:cNvSpPr/>
          <p:nvPr/>
        </p:nvSpPr>
        <p:spPr>
          <a:xfrm>
            <a:off x="8275320" y="4023360"/>
            <a:ext cx="548640" cy="548640"/>
          </a:xfrm>
          <a:prstGeom prst="ellipse">
            <a:avLst/>
          </a:prstGeom>
          <a:solidFill>
            <a:srgbClr val="0B1F33"/>
          </a:solidFill>
          <a:ln w="6350">
            <a:solidFill>
              <a:srgbClr val="0B1F33"/>
            </a:solidFill>
            <a:prstDash val="solid"/>
          </a:ln>
        </p:spPr>
      </p:sp>
      <p:pic>
        <p:nvPicPr>
          <p:cNvPr id="43" name="Image 5" descr="preencoded.png">    </p:cNvPr>
          <p:cNvPicPr>
            <a:picLocks noChangeAspect="1"/>
          </p:cNvPicPr>
          <p:nvPr/>
        </p:nvPicPr>
        <p:blipFill>
          <a:blip r:embed="rId6"/>
          <a:stretch>
            <a:fillRect/>
          </a:stretch>
        </p:blipFill>
        <p:spPr>
          <a:xfrm>
            <a:off x="8417966" y="4166006"/>
            <a:ext cx="263347" cy="263347"/>
          </a:xfrm>
          <a:prstGeom prst="rect">
            <a:avLst/>
          </a:prstGeom>
        </p:spPr>
      </p:pic>
      <p:sp>
        <p:nvSpPr>
          <p:cNvPr id="44" name="Text 36"/>
          <p:cNvSpPr txBox="1"/>
          <p:nvPr/>
        </p:nvSpPr>
        <p:spPr>
          <a:xfrm>
            <a:off x="9006840" y="4041648"/>
            <a:ext cx="2377440" cy="228600"/>
          </a:xfrm>
          <a:prstGeom prst="rect">
            <a:avLst/>
          </a:prstGeom>
          <a:noFill/>
          <a:ln/>
        </p:spPr>
        <p:txBody>
          <a:bodyPr wrap="square" lIns="0" tIns="0" rIns="0" bIns="0" rtlCol="0" anchor="t"/>
          <a:lstStyle/>
          <a:p>
            <a:pPr indent="0" marL="0">
              <a:buNone/>
            </a:pPr>
            <a:r>
              <a:rPr lang="en-US" sz="1100" b="1" spc="200" kern="0" dirty="0">
                <a:solidFill>
                  <a:srgbClr val="0E7C86"/>
                </a:solidFill>
                <a:latin typeface="Calibri" pitchFamily="34" charset="0"/>
                <a:ea typeface="Calibri" pitchFamily="34" charset="-122"/>
                <a:cs typeface="Calibri" pitchFamily="34" charset="-120"/>
              </a:rPr>
              <a:t>COMPLIANCE</a:t>
            </a:r>
            <a:endParaRPr lang="en-US" sz="1100" dirty="0"/>
          </a:p>
        </p:txBody>
      </p:sp>
      <p:sp>
        <p:nvSpPr>
          <p:cNvPr id="45" name="Text 37"/>
          <p:cNvSpPr txBox="1"/>
          <p:nvPr/>
        </p:nvSpPr>
        <p:spPr>
          <a:xfrm>
            <a:off x="9006840" y="4270248"/>
            <a:ext cx="2468880" cy="320040"/>
          </a:xfrm>
          <a:prstGeom prst="rect">
            <a:avLst/>
          </a:prstGeom>
          <a:noFill/>
          <a:ln/>
        </p:spPr>
        <p:txBody>
          <a:bodyPr wrap="square" lIns="0" tIns="0" rIns="0" bIns="0" rtlCol="0" anchor="t"/>
          <a:lstStyle/>
          <a:p>
            <a:pPr indent="0" marL="0">
              <a:buNone/>
            </a:pPr>
            <a:r>
              <a:rPr lang="en-US" sz="1500" b="1" dirty="0">
                <a:solidFill>
                  <a:srgbClr val="0B1F33"/>
                </a:solidFill>
                <a:latin typeface="Calibri" pitchFamily="34" charset="0"/>
                <a:ea typeface="Calibri" pitchFamily="34" charset="-122"/>
                <a:cs typeface="Calibri" pitchFamily="34" charset="-120"/>
              </a:rPr>
              <a:t>On-time delivery %</a:t>
            </a:r>
            <a:endParaRPr lang="en-US" sz="1500" dirty="0"/>
          </a:p>
        </p:txBody>
      </p:sp>
      <p:sp>
        <p:nvSpPr>
          <p:cNvPr id="46" name="Text 38"/>
          <p:cNvSpPr txBox="1"/>
          <p:nvPr/>
        </p:nvSpPr>
        <p:spPr>
          <a:xfrm>
            <a:off x="8275320" y="4800600"/>
            <a:ext cx="3136392" cy="685800"/>
          </a:xfrm>
          <a:prstGeom prst="rect">
            <a:avLst/>
          </a:prstGeom>
          <a:noFill/>
          <a:ln/>
        </p:spPr>
        <p:txBody>
          <a:bodyPr wrap="square" lIns="0" tIns="0" rIns="0" bIns="0" rtlCol="0" anchor="t"/>
          <a:lstStyle/>
          <a:p>
            <a:pPr indent="0" marL="0">
              <a:buNone/>
            </a:pPr>
            <a:r>
              <a:rPr lang="en-US" sz="3800" b="1" dirty="0">
                <a:solidFill>
                  <a:srgbClr val="DC2626"/>
                </a:solidFill>
                <a:latin typeface="Cambria" pitchFamily="34" charset="0"/>
                <a:ea typeface="Cambria" pitchFamily="34" charset="-122"/>
                <a:cs typeface="Cambria" pitchFamily="34" charset="-120"/>
              </a:rPr>
              <a:t>75.1%</a:t>
            </a:r>
            <a:endParaRPr lang="en-US" sz="3800" dirty="0"/>
          </a:p>
        </p:txBody>
      </p:sp>
      <p:sp>
        <p:nvSpPr>
          <p:cNvPr id="47" name="Text 39"/>
          <p:cNvSpPr txBox="1"/>
          <p:nvPr/>
        </p:nvSpPr>
        <p:spPr>
          <a:xfrm>
            <a:off x="8275320" y="5486400"/>
            <a:ext cx="3136392" cy="457200"/>
          </a:xfrm>
          <a:prstGeom prst="rect">
            <a:avLst/>
          </a:prstGeom>
          <a:noFill/>
          <a:ln/>
        </p:spPr>
        <p:txBody>
          <a:bodyPr wrap="square" lIns="0" tIns="0" rIns="0" bIns="0" rtlCol="0" anchor="t"/>
          <a:lstStyle/>
          <a:p>
            <a:pPr indent="0" marL="0">
              <a:buNone/>
            </a:pPr>
            <a:r>
              <a:rPr lang="en-US" sz="1150" dirty="0">
                <a:solidFill>
                  <a:srgbClr val="64748B"/>
                </a:solidFill>
                <a:latin typeface="Calibri" pitchFamily="34" charset="0"/>
                <a:ea typeface="Calibri" pitchFamily="34" charset="-122"/>
                <a:cs typeface="Calibri" pitchFamily="34" charset="-120"/>
              </a:rPr>
              <a:t>Shipped within 5 days  |  SLA ≥ 85%</a:t>
            </a:r>
            <a:endParaRPr lang="en-US" sz="1150" dirty="0"/>
          </a:p>
        </p:txBody>
      </p:sp>
      <p:sp>
        <p:nvSpPr>
          <p:cNvPr id="48" name="Text 40"/>
          <p:cNvSpPr txBox="1"/>
          <p:nvPr/>
        </p:nvSpPr>
        <p:spPr>
          <a:xfrm>
            <a:off x="548640" y="6144768"/>
            <a:ext cx="9144000" cy="228600"/>
          </a:xfrm>
          <a:prstGeom prst="rect">
            <a:avLst/>
          </a:prstGeom>
          <a:noFill/>
          <a:ln/>
        </p:spPr>
        <p:txBody>
          <a:bodyPr wrap="square" lIns="0" tIns="0" rIns="0" bIns="0" rtlCol="0" anchor="t"/>
          <a:lstStyle/>
          <a:p>
            <a:pPr indent="0" marL="0">
              <a:buNone/>
            </a:pPr>
            <a:r>
              <a:rPr lang="en-US" sz="1100" i="1" dirty="0">
                <a:solidFill>
                  <a:srgbClr val="64748B"/>
                </a:solidFill>
                <a:latin typeface="Calibri" pitchFamily="34" charset="0"/>
                <a:ea typeface="Calibri" pitchFamily="34" charset="-122"/>
                <a:cs typeface="Calibri" pitchFamily="34" charset="-120"/>
              </a:rPr>
              <a:t>Red = below target, amber = watch, green = on track. Targets are illustrative management assumptions.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6F9"/>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28600"/>
          </a:xfrm>
          <a:prstGeom prst="rect">
            <a:avLst/>
          </a:prstGeom>
          <a:noFill/>
          <a:ln/>
        </p:spPr>
        <p:txBody>
          <a:bodyPr wrap="square" lIns="0" tIns="0" rIns="0" bIns="0" rtlCol="0" anchor="t"/>
          <a:lstStyle/>
          <a:p>
            <a:pPr indent="0" marL="0">
              <a:buNone/>
            </a:pPr>
            <a:r>
              <a:rPr lang="en-US" sz="1100" b="1" spc="300" kern="0" dirty="0">
                <a:solidFill>
                  <a:srgbClr val="0E7C86"/>
                </a:solidFill>
                <a:latin typeface="Calibri" pitchFamily="34" charset="0"/>
                <a:ea typeface="Calibri" pitchFamily="34" charset="-122"/>
                <a:cs typeface="Calibri" pitchFamily="34" charset="-120"/>
              </a:rPr>
              <a:t>4  DASHBOARD DESIGN</a:t>
            </a:r>
            <a:endParaRPr lang="en-US" sz="1100" dirty="0"/>
          </a:p>
        </p:txBody>
      </p:sp>
      <p:sp>
        <p:nvSpPr>
          <p:cNvPr id="3" name="Text 1"/>
          <p:cNvSpPr txBox="1"/>
          <p:nvPr/>
        </p:nvSpPr>
        <p:spPr>
          <a:xfrm>
            <a:off x="548640" y="530352"/>
            <a:ext cx="11064240" cy="54864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A professional layout that guides the eye</a:t>
            </a:r>
            <a:endParaRPr lang="en-US" sz="2800" dirty="0"/>
          </a:p>
        </p:txBody>
      </p:sp>
      <p:sp>
        <p:nvSpPr>
          <p:cNvPr id="4" name="Text 2"/>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Executive Business Intelligence Dashboard</a:t>
            </a:r>
            <a:endParaRPr lang="en-US" sz="1000" dirty="0"/>
          </a:p>
        </p:txBody>
      </p:sp>
      <p:sp>
        <p:nvSpPr>
          <p:cNvPr id="5" name="Text 3"/>
          <p:cNvSpPr txBox="1"/>
          <p:nvPr/>
        </p:nvSpPr>
        <p:spPr>
          <a:xfrm>
            <a:off x="11091672" y="6510528"/>
            <a:ext cx="548640" cy="228600"/>
          </a:xfrm>
          <a:prstGeom prst="rect">
            <a:avLst/>
          </a:prstGeom>
          <a:noFill/>
          <a:ln/>
        </p:spPr>
        <p:txBody>
          <a:bodyPr wrap="square" lIns="0" tIns="0" rIns="0" bIns="0" rtlCol="0" anchor="t"/>
          <a:lstStyle/>
          <a:p>
            <a:pPr algn="r" indent="0" marL="0">
              <a:buNone/>
            </a:pPr>
            <a:r>
              <a:rPr lang="en-US" sz="1000" dirty="0">
                <a:solidFill>
                  <a:srgbClr val="64748B"/>
                </a:solidFill>
                <a:latin typeface="Calibri" pitchFamily="34" charset="0"/>
                <a:ea typeface="Calibri" pitchFamily="34" charset="-122"/>
                <a:cs typeface="Calibri" pitchFamily="34" charset="-120"/>
              </a:rPr>
              <a:t>7</a:t>
            </a:r>
            <a:endParaRPr lang="en-US" sz="1000" dirty="0"/>
          </a:p>
        </p:txBody>
      </p:sp>
      <p:sp>
        <p:nvSpPr>
          <p:cNvPr id="6" name="Shape 4"/>
          <p:cNvSpPr/>
          <p:nvPr/>
        </p:nvSpPr>
        <p:spPr>
          <a:xfrm>
            <a:off x="548640" y="1371600"/>
            <a:ext cx="6766560" cy="4846320"/>
          </a:xfrm>
          <a:prstGeom prst="roundRect">
            <a:avLst>
              <a:gd name="adj" fmla="val 1509"/>
            </a:avLst>
          </a:prstGeom>
          <a:solidFill>
            <a:srgbClr val="FFFFFF"/>
          </a:solidFill>
          <a:ln w="12700">
            <a:solidFill>
              <a:srgbClr val="D9E1E8"/>
            </a:solidFill>
            <a:prstDash val="solid"/>
          </a:ln>
          <a:effectLst>
            <a:outerShdw sx="100000" sy="100000" kx="0" ky="0" algn="bl" rotWithShape="0" blurRad="101600" dist="25400" dir="5400000">
              <a:srgbClr val="000000">
                <a:alpha val="10000"/>
              </a:srgbClr>
            </a:outerShdw>
          </a:effectLst>
        </p:spPr>
      </p:sp>
      <p:sp>
        <p:nvSpPr>
          <p:cNvPr id="7" name="Shape 5"/>
          <p:cNvSpPr/>
          <p:nvPr/>
        </p:nvSpPr>
        <p:spPr>
          <a:xfrm>
            <a:off x="731520" y="1554480"/>
            <a:ext cx="1325880" cy="4480560"/>
          </a:xfrm>
          <a:prstGeom prst="roundRect">
            <a:avLst>
              <a:gd name="adj" fmla="val 4138"/>
            </a:avLst>
          </a:prstGeom>
          <a:solidFill>
            <a:srgbClr val="E2E8F0"/>
          </a:solidFill>
          <a:ln w="12700">
            <a:solidFill>
              <a:srgbClr val="E2E8F0"/>
            </a:solidFill>
            <a:prstDash val="solid"/>
          </a:ln>
        </p:spPr>
      </p:sp>
      <p:sp>
        <p:nvSpPr>
          <p:cNvPr id="8" name="Text 6"/>
          <p:cNvSpPr txBox="1"/>
          <p:nvPr/>
        </p:nvSpPr>
        <p:spPr>
          <a:xfrm>
            <a:off x="731520" y="1554480"/>
            <a:ext cx="1325880" cy="4480560"/>
          </a:xfrm>
          <a:prstGeom prst="rect">
            <a:avLst/>
          </a:prstGeom>
          <a:noFill/>
          <a:ln/>
        </p:spPr>
        <p:txBody>
          <a:bodyPr wrap="square" lIns="0" tIns="0" rIns="0" bIns="0" rtlCol="0" anchor="ctr"/>
          <a:lstStyle/>
          <a:p>
            <a:pPr algn="ctr" indent="0" marL="0">
              <a:buNone/>
            </a:pPr>
            <a:r>
              <a:rPr lang="en-US" sz="1200" b="1" dirty="0">
                <a:solidFill>
                  <a:srgbClr val="0B1F33"/>
                </a:solidFill>
                <a:latin typeface="Calibri" pitchFamily="34" charset="0"/>
                <a:ea typeface="Calibri" pitchFamily="34" charset="-122"/>
                <a:cs typeface="Calibri" pitchFamily="34" charset="-120"/>
              </a:rPr>
              <a:t>SIDE</a:t>
            </a:r>
            <a:endParaRPr lang="en-US" sz="1200" dirty="0"/>
          </a:p>
          <a:p>
            <a:pPr algn="ctr" indent="0" marL="0">
              <a:buNone/>
            </a:pPr>
            <a:r>
              <a:rPr lang="en-US" sz="1200" b="1" dirty="0">
                <a:solidFill>
                  <a:srgbClr val="0B1F33"/>
                </a:solidFill>
                <a:latin typeface="Calibri" pitchFamily="34" charset="0"/>
                <a:ea typeface="Calibri" pitchFamily="34" charset="-122"/>
                <a:cs typeface="Calibri" pitchFamily="34" charset="-120"/>
              </a:rPr>
              <a:t>Filters &amp;</a:t>
            </a:r>
            <a:endParaRPr lang="en-US" sz="1200" dirty="0"/>
          </a:p>
          <a:p>
            <a:pPr algn="ctr" indent="0" marL="0">
              <a:buNone/>
            </a:pPr>
            <a:r>
              <a:rPr lang="en-US" sz="1200" b="1" dirty="0">
                <a:solidFill>
                  <a:srgbClr val="0B1F33"/>
                </a:solidFill>
                <a:latin typeface="Calibri" pitchFamily="34" charset="0"/>
                <a:ea typeface="Calibri" pitchFamily="34" charset="-122"/>
                <a:cs typeface="Calibri" pitchFamily="34" charset="-120"/>
              </a:rPr>
              <a:t>Slicers</a:t>
            </a:r>
            <a:endParaRPr lang="en-US" sz="1200" dirty="0"/>
          </a:p>
        </p:txBody>
      </p:sp>
      <p:sp>
        <p:nvSpPr>
          <p:cNvPr id="9" name="Shape 7"/>
          <p:cNvSpPr/>
          <p:nvPr/>
        </p:nvSpPr>
        <p:spPr>
          <a:xfrm>
            <a:off x="2194560" y="1554480"/>
            <a:ext cx="777240" cy="868680"/>
          </a:xfrm>
          <a:prstGeom prst="roundRect">
            <a:avLst>
              <a:gd name="adj" fmla="val 7059"/>
            </a:avLst>
          </a:prstGeom>
          <a:solidFill>
            <a:srgbClr val="D6EEF0"/>
          </a:solidFill>
          <a:ln w="12700">
            <a:solidFill>
              <a:srgbClr val="D6EEF0"/>
            </a:solidFill>
            <a:prstDash val="solid"/>
          </a:ln>
        </p:spPr>
      </p:sp>
      <p:sp>
        <p:nvSpPr>
          <p:cNvPr id="10" name="Text 8"/>
          <p:cNvSpPr txBox="1"/>
          <p:nvPr/>
        </p:nvSpPr>
        <p:spPr>
          <a:xfrm>
            <a:off x="2194560" y="1554480"/>
            <a:ext cx="777240" cy="868680"/>
          </a:xfrm>
          <a:prstGeom prst="rect">
            <a:avLst/>
          </a:prstGeom>
          <a:noFill/>
          <a:ln/>
        </p:spPr>
        <p:txBody>
          <a:bodyPr wrap="square" lIns="0" tIns="0" rIns="0" bIns="0" rtlCol="0" anchor="ctr"/>
          <a:lstStyle/>
          <a:p>
            <a:pPr algn="ctr" indent="0" marL="0">
              <a:buNone/>
            </a:pPr>
            <a:r>
              <a:rPr lang="en-US" sz="1200" b="1" dirty="0">
                <a:solidFill>
                  <a:srgbClr val="0E7C86"/>
                </a:solidFill>
                <a:latin typeface="Calibri" pitchFamily="34" charset="0"/>
                <a:ea typeface="Calibri" pitchFamily="34" charset="-122"/>
                <a:cs typeface="Calibri" pitchFamily="34" charset="-120"/>
              </a:rPr>
              <a:t>KPI</a:t>
            </a:r>
            <a:endParaRPr lang="en-US" sz="1200" dirty="0"/>
          </a:p>
        </p:txBody>
      </p:sp>
      <p:sp>
        <p:nvSpPr>
          <p:cNvPr id="11" name="Shape 9"/>
          <p:cNvSpPr/>
          <p:nvPr/>
        </p:nvSpPr>
        <p:spPr>
          <a:xfrm>
            <a:off x="3044952" y="1554480"/>
            <a:ext cx="777240" cy="868680"/>
          </a:xfrm>
          <a:prstGeom prst="roundRect">
            <a:avLst>
              <a:gd name="adj" fmla="val 7059"/>
            </a:avLst>
          </a:prstGeom>
          <a:solidFill>
            <a:srgbClr val="D6EEF0"/>
          </a:solidFill>
          <a:ln w="12700">
            <a:solidFill>
              <a:srgbClr val="D6EEF0"/>
            </a:solidFill>
            <a:prstDash val="solid"/>
          </a:ln>
        </p:spPr>
      </p:sp>
      <p:sp>
        <p:nvSpPr>
          <p:cNvPr id="12" name="Text 10"/>
          <p:cNvSpPr txBox="1"/>
          <p:nvPr/>
        </p:nvSpPr>
        <p:spPr>
          <a:xfrm>
            <a:off x="3044952" y="1554480"/>
            <a:ext cx="777240" cy="868680"/>
          </a:xfrm>
          <a:prstGeom prst="rect">
            <a:avLst/>
          </a:prstGeom>
          <a:noFill/>
          <a:ln/>
        </p:spPr>
        <p:txBody>
          <a:bodyPr wrap="square" lIns="0" tIns="0" rIns="0" bIns="0" rtlCol="0" anchor="ctr"/>
          <a:lstStyle/>
          <a:p>
            <a:pPr algn="ctr" indent="0" marL="0">
              <a:buNone/>
            </a:pPr>
            <a:r>
              <a:rPr lang="en-US" sz="1200" b="1" dirty="0">
                <a:solidFill>
                  <a:srgbClr val="0E7C86"/>
                </a:solidFill>
                <a:latin typeface="Calibri" pitchFamily="34" charset="0"/>
                <a:ea typeface="Calibri" pitchFamily="34" charset="-122"/>
                <a:cs typeface="Calibri" pitchFamily="34" charset="-120"/>
              </a:rPr>
              <a:t>KPI</a:t>
            </a:r>
            <a:endParaRPr lang="en-US" sz="1200" dirty="0"/>
          </a:p>
        </p:txBody>
      </p:sp>
      <p:sp>
        <p:nvSpPr>
          <p:cNvPr id="13" name="Shape 11"/>
          <p:cNvSpPr/>
          <p:nvPr/>
        </p:nvSpPr>
        <p:spPr>
          <a:xfrm>
            <a:off x="3895344" y="1554480"/>
            <a:ext cx="777240" cy="868680"/>
          </a:xfrm>
          <a:prstGeom prst="roundRect">
            <a:avLst>
              <a:gd name="adj" fmla="val 7059"/>
            </a:avLst>
          </a:prstGeom>
          <a:solidFill>
            <a:srgbClr val="D6EEF0"/>
          </a:solidFill>
          <a:ln w="12700">
            <a:solidFill>
              <a:srgbClr val="D6EEF0"/>
            </a:solidFill>
            <a:prstDash val="solid"/>
          </a:ln>
        </p:spPr>
      </p:sp>
      <p:sp>
        <p:nvSpPr>
          <p:cNvPr id="14" name="Text 12"/>
          <p:cNvSpPr txBox="1"/>
          <p:nvPr/>
        </p:nvSpPr>
        <p:spPr>
          <a:xfrm>
            <a:off x="3895344" y="1554480"/>
            <a:ext cx="777240" cy="868680"/>
          </a:xfrm>
          <a:prstGeom prst="rect">
            <a:avLst/>
          </a:prstGeom>
          <a:noFill/>
          <a:ln/>
        </p:spPr>
        <p:txBody>
          <a:bodyPr wrap="square" lIns="0" tIns="0" rIns="0" bIns="0" rtlCol="0" anchor="ctr"/>
          <a:lstStyle/>
          <a:p>
            <a:pPr algn="ctr" indent="0" marL="0">
              <a:buNone/>
            </a:pPr>
            <a:r>
              <a:rPr lang="en-US" sz="1200" b="1" dirty="0">
                <a:solidFill>
                  <a:srgbClr val="0E7C86"/>
                </a:solidFill>
                <a:latin typeface="Calibri" pitchFamily="34" charset="0"/>
                <a:ea typeface="Calibri" pitchFamily="34" charset="-122"/>
                <a:cs typeface="Calibri" pitchFamily="34" charset="-120"/>
              </a:rPr>
              <a:t>KPI</a:t>
            </a:r>
            <a:endParaRPr lang="en-US" sz="1200" dirty="0"/>
          </a:p>
        </p:txBody>
      </p:sp>
      <p:sp>
        <p:nvSpPr>
          <p:cNvPr id="15" name="Shape 13"/>
          <p:cNvSpPr/>
          <p:nvPr/>
        </p:nvSpPr>
        <p:spPr>
          <a:xfrm>
            <a:off x="4745736" y="1554480"/>
            <a:ext cx="777240" cy="868680"/>
          </a:xfrm>
          <a:prstGeom prst="roundRect">
            <a:avLst>
              <a:gd name="adj" fmla="val 7059"/>
            </a:avLst>
          </a:prstGeom>
          <a:solidFill>
            <a:srgbClr val="D6EEF0"/>
          </a:solidFill>
          <a:ln w="12700">
            <a:solidFill>
              <a:srgbClr val="D6EEF0"/>
            </a:solidFill>
            <a:prstDash val="solid"/>
          </a:ln>
        </p:spPr>
      </p:sp>
      <p:sp>
        <p:nvSpPr>
          <p:cNvPr id="16" name="Text 14"/>
          <p:cNvSpPr txBox="1"/>
          <p:nvPr/>
        </p:nvSpPr>
        <p:spPr>
          <a:xfrm>
            <a:off x="4745736" y="1554480"/>
            <a:ext cx="777240" cy="868680"/>
          </a:xfrm>
          <a:prstGeom prst="rect">
            <a:avLst/>
          </a:prstGeom>
          <a:noFill/>
          <a:ln/>
        </p:spPr>
        <p:txBody>
          <a:bodyPr wrap="square" lIns="0" tIns="0" rIns="0" bIns="0" rtlCol="0" anchor="ctr"/>
          <a:lstStyle/>
          <a:p>
            <a:pPr algn="ctr" indent="0" marL="0">
              <a:buNone/>
            </a:pPr>
            <a:r>
              <a:rPr lang="en-US" sz="1200" b="1" dirty="0">
                <a:solidFill>
                  <a:srgbClr val="0E7C86"/>
                </a:solidFill>
                <a:latin typeface="Calibri" pitchFamily="34" charset="0"/>
                <a:ea typeface="Calibri" pitchFamily="34" charset="-122"/>
                <a:cs typeface="Calibri" pitchFamily="34" charset="-120"/>
              </a:rPr>
              <a:t>KPI</a:t>
            </a:r>
            <a:endParaRPr lang="en-US" sz="1200" dirty="0"/>
          </a:p>
        </p:txBody>
      </p:sp>
      <p:sp>
        <p:nvSpPr>
          <p:cNvPr id="17" name="Shape 15"/>
          <p:cNvSpPr/>
          <p:nvPr/>
        </p:nvSpPr>
        <p:spPr>
          <a:xfrm>
            <a:off x="5596128" y="1554480"/>
            <a:ext cx="777240" cy="868680"/>
          </a:xfrm>
          <a:prstGeom prst="roundRect">
            <a:avLst>
              <a:gd name="adj" fmla="val 7059"/>
            </a:avLst>
          </a:prstGeom>
          <a:solidFill>
            <a:srgbClr val="D6EEF0"/>
          </a:solidFill>
          <a:ln w="12700">
            <a:solidFill>
              <a:srgbClr val="D6EEF0"/>
            </a:solidFill>
            <a:prstDash val="solid"/>
          </a:ln>
        </p:spPr>
      </p:sp>
      <p:sp>
        <p:nvSpPr>
          <p:cNvPr id="18" name="Text 16"/>
          <p:cNvSpPr txBox="1"/>
          <p:nvPr/>
        </p:nvSpPr>
        <p:spPr>
          <a:xfrm>
            <a:off x="5596128" y="1554480"/>
            <a:ext cx="777240" cy="868680"/>
          </a:xfrm>
          <a:prstGeom prst="rect">
            <a:avLst/>
          </a:prstGeom>
          <a:noFill/>
          <a:ln/>
        </p:spPr>
        <p:txBody>
          <a:bodyPr wrap="square" lIns="0" tIns="0" rIns="0" bIns="0" rtlCol="0" anchor="ctr"/>
          <a:lstStyle/>
          <a:p>
            <a:pPr algn="ctr" indent="0" marL="0">
              <a:buNone/>
            </a:pPr>
            <a:r>
              <a:rPr lang="en-US" sz="1200" b="1" dirty="0">
                <a:solidFill>
                  <a:srgbClr val="0E7C86"/>
                </a:solidFill>
                <a:latin typeface="Calibri" pitchFamily="34" charset="0"/>
                <a:ea typeface="Calibri" pitchFamily="34" charset="-122"/>
                <a:cs typeface="Calibri" pitchFamily="34" charset="-120"/>
              </a:rPr>
              <a:t>KPI</a:t>
            </a:r>
            <a:endParaRPr lang="en-US" sz="1200" dirty="0"/>
          </a:p>
        </p:txBody>
      </p:sp>
      <p:sp>
        <p:nvSpPr>
          <p:cNvPr id="19" name="Shape 17"/>
          <p:cNvSpPr/>
          <p:nvPr/>
        </p:nvSpPr>
        <p:spPr>
          <a:xfrm>
            <a:off x="6446520" y="1554480"/>
            <a:ext cx="777240" cy="868680"/>
          </a:xfrm>
          <a:prstGeom prst="roundRect">
            <a:avLst>
              <a:gd name="adj" fmla="val 7059"/>
            </a:avLst>
          </a:prstGeom>
          <a:solidFill>
            <a:srgbClr val="D6EEF0"/>
          </a:solidFill>
          <a:ln w="12700">
            <a:solidFill>
              <a:srgbClr val="D6EEF0"/>
            </a:solidFill>
            <a:prstDash val="solid"/>
          </a:ln>
        </p:spPr>
      </p:sp>
      <p:sp>
        <p:nvSpPr>
          <p:cNvPr id="20" name="Text 18"/>
          <p:cNvSpPr txBox="1"/>
          <p:nvPr/>
        </p:nvSpPr>
        <p:spPr>
          <a:xfrm>
            <a:off x="6446520" y="1554480"/>
            <a:ext cx="777240" cy="868680"/>
          </a:xfrm>
          <a:prstGeom prst="rect">
            <a:avLst/>
          </a:prstGeom>
          <a:noFill/>
          <a:ln/>
        </p:spPr>
        <p:txBody>
          <a:bodyPr wrap="square" lIns="0" tIns="0" rIns="0" bIns="0" rtlCol="0" anchor="ctr"/>
          <a:lstStyle/>
          <a:p>
            <a:pPr algn="ctr" indent="0" marL="0">
              <a:buNone/>
            </a:pPr>
            <a:r>
              <a:rPr lang="en-US" sz="1200" b="1" dirty="0">
                <a:solidFill>
                  <a:srgbClr val="0E7C86"/>
                </a:solidFill>
                <a:latin typeface="Calibri" pitchFamily="34" charset="0"/>
                <a:ea typeface="Calibri" pitchFamily="34" charset="-122"/>
                <a:cs typeface="Calibri" pitchFamily="34" charset="-120"/>
              </a:rPr>
              <a:t>KPI</a:t>
            </a:r>
            <a:endParaRPr lang="en-US" sz="1200" dirty="0"/>
          </a:p>
        </p:txBody>
      </p:sp>
      <p:sp>
        <p:nvSpPr>
          <p:cNvPr id="21" name="Shape 19"/>
          <p:cNvSpPr/>
          <p:nvPr/>
        </p:nvSpPr>
        <p:spPr>
          <a:xfrm>
            <a:off x="2194560" y="2560320"/>
            <a:ext cx="3108960" cy="1874520"/>
          </a:xfrm>
          <a:prstGeom prst="roundRect">
            <a:avLst>
              <a:gd name="adj" fmla="val 2927"/>
            </a:avLst>
          </a:prstGeom>
          <a:solidFill>
            <a:srgbClr val="FEF0CF"/>
          </a:solidFill>
          <a:ln w="12700">
            <a:solidFill>
              <a:srgbClr val="FEF0CF"/>
            </a:solidFill>
            <a:prstDash val="solid"/>
          </a:ln>
        </p:spPr>
      </p:sp>
      <p:sp>
        <p:nvSpPr>
          <p:cNvPr id="22" name="Text 20"/>
          <p:cNvSpPr txBox="1"/>
          <p:nvPr/>
        </p:nvSpPr>
        <p:spPr>
          <a:xfrm>
            <a:off x="2194560" y="2560320"/>
            <a:ext cx="3108960" cy="1874520"/>
          </a:xfrm>
          <a:prstGeom prst="rect">
            <a:avLst/>
          </a:prstGeom>
          <a:noFill/>
          <a:ln/>
        </p:spPr>
        <p:txBody>
          <a:bodyPr wrap="square" lIns="0" tIns="0" rIns="0" bIns="0" rtlCol="0" anchor="ctr"/>
          <a:lstStyle/>
          <a:p>
            <a:pPr algn="ctr" indent="0" marL="0">
              <a:buNone/>
            </a:pPr>
            <a:r>
              <a:rPr lang="en-US" sz="1200" b="1" dirty="0">
                <a:solidFill>
                  <a:srgbClr val="8A5A00"/>
                </a:solidFill>
                <a:latin typeface="Calibri" pitchFamily="34" charset="0"/>
                <a:ea typeface="Calibri" pitchFamily="34" charset="-122"/>
                <a:cs typeface="Calibri" pitchFamily="34" charset="-120"/>
              </a:rPr>
              <a:t>MIDDLE</a:t>
            </a:r>
            <a:endParaRPr lang="en-US" sz="1200" dirty="0"/>
          </a:p>
          <a:p>
            <a:pPr algn="ctr" indent="0" marL="0">
              <a:buNone/>
            </a:pPr>
            <a:r>
              <a:rPr lang="en-US" sz="1200" b="1" dirty="0">
                <a:solidFill>
                  <a:srgbClr val="8A5A00"/>
                </a:solidFill>
                <a:latin typeface="Calibri" pitchFamily="34" charset="0"/>
                <a:ea typeface="Calibri" pitchFamily="34" charset="-122"/>
                <a:cs typeface="Calibri" pitchFamily="34" charset="-120"/>
              </a:rPr>
              <a:t>Trend over time</a:t>
            </a:r>
            <a:endParaRPr lang="en-US" sz="1200" dirty="0"/>
          </a:p>
        </p:txBody>
      </p:sp>
      <p:sp>
        <p:nvSpPr>
          <p:cNvPr id="23" name="Shape 21"/>
          <p:cNvSpPr/>
          <p:nvPr/>
        </p:nvSpPr>
        <p:spPr>
          <a:xfrm>
            <a:off x="5422392" y="2560320"/>
            <a:ext cx="1709928" cy="1874520"/>
          </a:xfrm>
          <a:prstGeom prst="roundRect">
            <a:avLst>
              <a:gd name="adj" fmla="val 3209"/>
            </a:avLst>
          </a:prstGeom>
          <a:solidFill>
            <a:srgbClr val="FEF0CF"/>
          </a:solidFill>
          <a:ln w="12700">
            <a:solidFill>
              <a:srgbClr val="FEF0CF"/>
            </a:solidFill>
            <a:prstDash val="solid"/>
          </a:ln>
        </p:spPr>
      </p:sp>
      <p:sp>
        <p:nvSpPr>
          <p:cNvPr id="24" name="Text 22"/>
          <p:cNvSpPr txBox="1"/>
          <p:nvPr/>
        </p:nvSpPr>
        <p:spPr>
          <a:xfrm>
            <a:off x="5422392" y="2560320"/>
            <a:ext cx="1709928" cy="1874520"/>
          </a:xfrm>
          <a:prstGeom prst="rect">
            <a:avLst/>
          </a:prstGeom>
          <a:noFill/>
          <a:ln/>
        </p:spPr>
        <p:txBody>
          <a:bodyPr wrap="square" lIns="0" tIns="0" rIns="0" bIns="0" rtlCol="0" anchor="ctr"/>
          <a:lstStyle/>
          <a:p>
            <a:pPr algn="ctr" indent="0" marL="0">
              <a:buNone/>
            </a:pPr>
            <a:r>
              <a:rPr lang="en-US" sz="1200" b="1" dirty="0">
                <a:solidFill>
                  <a:srgbClr val="8A5A00"/>
                </a:solidFill>
                <a:latin typeface="Calibri" pitchFamily="34" charset="0"/>
                <a:ea typeface="Calibri" pitchFamily="34" charset="-122"/>
                <a:cs typeface="Calibri" pitchFamily="34" charset="-120"/>
              </a:rPr>
              <a:t>MIDDLE</a:t>
            </a:r>
            <a:endParaRPr lang="en-US" sz="1200" dirty="0"/>
          </a:p>
          <a:p>
            <a:pPr algn="ctr" indent="0" marL="0">
              <a:buNone/>
            </a:pPr>
            <a:r>
              <a:rPr lang="en-US" sz="1200" b="1" dirty="0">
                <a:solidFill>
                  <a:srgbClr val="8A5A00"/>
                </a:solidFill>
                <a:latin typeface="Calibri" pitchFamily="34" charset="0"/>
                <a:ea typeface="Calibri" pitchFamily="34" charset="-122"/>
                <a:cs typeface="Calibri" pitchFamily="34" charset="-120"/>
              </a:rPr>
              <a:t>Comparison</a:t>
            </a:r>
            <a:endParaRPr lang="en-US" sz="1200" dirty="0"/>
          </a:p>
        </p:txBody>
      </p:sp>
      <p:sp>
        <p:nvSpPr>
          <p:cNvPr id="25" name="Shape 23"/>
          <p:cNvSpPr/>
          <p:nvPr/>
        </p:nvSpPr>
        <p:spPr>
          <a:xfrm>
            <a:off x="2194560" y="4572000"/>
            <a:ext cx="4937760" cy="1463040"/>
          </a:xfrm>
          <a:prstGeom prst="roundRect">
            <a:avLst>
              <a:gd name="adj" fmla="val 3750"/>
            </a:avLst>
          </a:prstGeom>
          <a:solidFill>
            <a:srgbClr val="E4E9F7"/>
          </a:solidFill>
          <a:ln w="12700">
            <a:solidFill>
              <a:srgbClr val="E4E9F7"/>
            </a:solidFill>
            <a:prstDash val="solid"/>
          </a:ln>
        </p:spPr>
      </p:sp>
      <p:sp>
        <p:nvSpPr>
          <p:cNvPr id="26" name="Text 24"/>
          <p:cNvSpPr txBox="1"/>
          <p:nvPr/>
        </p:nvSpPr>
        <p:spPr>
          <a:xfrm>
            <a:off x="2194560" y="4572000"/>
            <a:ext cx="4937760" cy="1463040"/>
          </a:xfrm>
          <a:prstGeom prst="rect">
            <a:avLst/>
          </a:prstGeom>
          <a:noFill/>
          <a:ln/>
        </p:spPr>
        <p:txBody>
          <a:bodyPr wrap="square" lIns="0" tIns="0" rIns="0" bIns="0" rtlCol="0" anchor="ctr"/>
          <a:lstStyle/>
          <a:p>
            <a:pPr algn="ctr" indent="0" marL="0">
              <a:buNone/>
            </a:pPr>
            <a:r>
              <a:rPr lang="en-US" sz="1200" b="1" dirty="0">
                <a:solidFill>
                  <a:srgbClr val="2F3C7E"/>
                </a:solidFill>
                <a:latin typeface="Calibri" pitchFamily="34" charset="0"/>
                <a:ea typeface="Calibri" pitchFamily="34" charset="-122"/>
                <a:cs typeface="Calibri" pitchFamily="34" charset="-120"/>
              </a:rPr>
              <a:t>BOTTOM</a:t>
            </a:r>
            <a:endParaRPr lang="en-US" sz="1200" dirty="0"/>
          </a:p>
          <a:p>
            <a:pPr algn="ctr" indent="0" marL="0">
              <a:buNone/>
            </a:pPr>
            <a:r>
              <a:rPr lang="en-US" sz="1200" b="1" dirty="0">
                <a:solidFill>
                  <a:srgbClr val="2F3C7E"/>
                </a:solidFill>
                <a:latin typeface="Calibri" pitchFamily="34" charset="0"/>
                <a:ea typeface="Calibri" pitchFamily="34" charset="-122"/>
                <a:cs typeface="Calibri" pitchFamily="34" charset="-120"/>
              </a:rPr>
              <a:t>Detailed analysis / table</a:t>
            </a:r>
            <a:endParaRPr lang="en-US" sz="1200" dirty="0"/>
          </a:p>
        </p:txBody>
      </p:sp>
      <p:sp>
        <p:nvSpPr>
          <p:cNvPr id="27" name="Shape 25"/>
          <p:cNvSpPr/>
          <p:nvPr/>
        </p:nvSpPr>
        <p:spPr>
          <a:xfrm>
            <a:off x="7589520" y="1371600"/>
            <a:ext cx="4050792" cy="1097280"/>
          </a:xfrm>
          <a:prstGeom prst="roundRect">
            <a:avLst>
              <a:gd name="adj" fmla="val 6667"/>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28" name="Shape 26"/>
          <p:cNvSpPr/>
          <p:nvPr/>
        </p:nvSpPr>
        <p:spPr>
          <a:xfrm>
            <a:off x="7818120" y="1645920"/>
            <a:ext cx="548640" cy="548640"/>
          </a:xfrm>
          <a:prstGeom prst="ellipse">
            <a:avLst/>
          </a:prstGeom>
          <a:solidFill>
            <a:srgbClr val="0E7C86"/>
          </a:solidFill>
          <a:ln w="12700">
            <a:solidFill>
              <a:srgbClr val="0E7C86"/>
            </a:solidFill>
            <a:prstDash val="solid"/>
          </a:ln>
        </p:spPr>
      </p:sp>
      <p:sp>
        <p:nvSpPr>
          <p:cNvPr id="29" name="Text 27"/>
          <p:cNvSpPr txBox="1"/>
          <p:nvPr/>
        </p:nvSpPr>
        <p:spPr>
          <a:xfrm>
            <a:off x="7818120" y="16459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30" name="Text 28"/>
          <p:cNvSpPr txBox="1"/>
          <p:nvPr/>
        </p:nvSpPr>
        <p:spPr>
          <a:xfrm>
            <a:off x="8549640" y="1508760"/>
            <a:ext cx="2926080" cy="274320"/>
          </a:xfrm>
          <a:prstGeom prst="rect">
            <a:avLst/>
          </a:prstGeom>
          <a:noFill/>
          <a:ln/>
        </p:spPr>
        <p:txBody>
          <a:bodyPr wrap="square" lIns="0" tIns="0" rIns="0" bIns="0" rtlCol="0" anchor="t"/>
          <a:lstStyle/>
          <a:p>
            <a:pPr indent="0" marL="0">
              <a:buNone/>
            </a:pPr>
            <a:r>
              <a:rPr lang="en-US" sz="1500" b="1" dirty="0">
                <a:solidFill>
                  <a:srgbClr val="0B1F33"/>
                </a:solidFill>
                <a:latin typeface="Calibri" pitchFamily="34" charset="0"/>
                <a:ea typeface="Calibri" pitchFamily="34" charset="-122"/>
                <a:cs typeface="Calibri" pitchFamily="34" charset="-120"/>
              </a:rPr>
              <a:t>KPI cards</a:t>
            </a:r>
            <a:endParaRPr lang="en-US" sz="1500" dirty="0"/>
          </a:p>
        </p:txBody>
      </p:sp>
      <p:sp>
        <p:nvSpPr>
          <p:cNvPr id="31" name="Text 29"/>
          <p:cNvSpPr txBox="1"/>
          <p:nvPr/>
        </p:nvSpPr>
        <p:spPr>
          <a:xfrm>
            <a:off x="8549640" y="1801368"/>
            <a:ext cx="2971800" cy="640080"/>
          </a:xfrm>
          <a:prstGeom prst="rect">
            <a:avLst/>
          </a:prstGeom>
          <a:noFill/>
          <a:ln/>
        </p:spPr>
        <p:txBody>
          <a:bodyPr wrap="square" lIns="0" tIns="0" rIns="0" bIns="0" rtlCol="0" anchor="t"/>
          <a:lstStyle/>
          <a:p>
            <a:pPr indent="0" marL="0">
              <a:buNone/>
            </a:pPr>
            <a:r>
              <a:rPr lang="en-US" sz="1150" dirty="0">
                <a:solidFill>
                  <a:srgbClr val="64748B"/>
                </a:solidFill>
                <a:latin typeface="Calibri" pitchFamily="34" charset="0"/>
                <a:ea typeface="Calibri" pitchFamily="34" charset="-122"/>
                <a:cs typeface="Calibri" pitchFamily="34" charset="-120"/>
              </a:rPr>
              <a:t>Six headline numbers with colour-coded status and change vs. last year.</a:t>
            </a:r>
            <a:endParaRPr lang="en-US" sz="1150" dirty="0"/>
          </a:p>
        </p:txBody>
      </p:sp>
      <p:sp>
        <p:nvSpPr>
          <p:cNvPr id="32" name="Shape 30"/>
          <p:cNvSpPr/>
          <p:nvPr/>
        </p:nvSpPr>
        <p:spPr>
          <a:xfrm>
            <a:off x="7589520" y="2606040"/>
            <a:ext cx="4050792" cy="1097280"/>
          </a:xfrm>
          <a:prstGeom prst="roundRect">
            <a:avLst>
              <a:gd name="adj" fmla="val 6667"/>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33" name="Shape 31"/>
          <p:cNvSpPr/>
          <p:nvPr/>
        </p:nvSpPr>
        <p:spPr>
          <a:xfrm>
            <a:off x="7818120" y="2880360"/>
            <a:ext cx="548640" cy="548640"/>
          </a:xfrm>
          <a:prstGeom prst="ellipse">
            <a:avLst/>
          </a:prstGeom>
          <a:solidFill>
            <a:srgbClr val="F59E0B"/>
          </a:solidFill>
          <a:ln w="12700">
            <a:solidFill>
              <a:srgbClr val="F59E0B"/>
            </a:solidFill>
            <a:prstDash val="solid"/>
          </a:ln>
        </p:spPr>
      </p:sp>
      <p:sp>
        <p:nvSpPr>
          <p:cNvPr id="34" name="Text 32"/>
          <p:cNvSpPr txBox="1"/>
          <p:nvPr/>
        </p:nvSpPr>
        <p:spPr>
          <a:xfrm>
            <a:off x="7818120" y="28803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35" name="Text 33"/>
          <p:cNvSpPr txBox="1"/>
          <p:nvPr/>
        </p:nvSpPr>
        <p:spPr>
          <a:xfrm>
            <a:off x="8549640" y="2743200"/>
            <a:ext cx="2926080" cy="274320"/>
          </a:xfrm>
          <a:prstGeom prst="rect">
            <a:avLst/>
          </a:prstGeom>
          <a:noFill/>
          <a:ln/>
        </p:spPr>
        <p:txBody>
          <a:bodyPr wrap="square" lIns="0" tIns="0" rIns="0" bIns="0" rtlCol="0" anchor="t"/>
          <a:lstStyle/>
          <a:p>
            <a:pPr indent="0" marL="0">
              <a:buNone/>
            </a:pPr>
            <a:r>
              <a:rPr lang="en-US" sz="1500" b="1" dirty="0">
                <a:solidFill>
                  <a:srgbClr val="0B1F33"/>
                </a:solidFill>
                <a:latin typeface="Calibri" pitchFamily="34" charset="0"/>
                <a:ea typeface="Calibri" pitchFamily="34" charset="-122"/>
                <a:cs typeface="Calibri" pitchFamily="34" charset="-120"/>
              </a:rPr>
              <a:t>Trends &amp; comparisons</a:t>
            </a:r>
            <a:endParaRPr lang="en-US" sz="1500" dirty="0"/>
          </a:p>
        </p:txBody>
      </p:sp>
      <p:sp>
        <p:nvSpPr>
          <p:cNvPr id="36" name="Text 34"/>
          <p:cNvSpPr txBox="1"/>
          <p:nvPr/>
        </p:nvSpPr>
        <p:spPr>
          <a:xfrm>
            <a:off x="8549640" y="3035808"/>
            <a:ext cx="2971800" cy="640080"/>
          </a:xfrm>
          <a:prstGeom prst="rect">
            <a:avLst/>
          </a:prstGeom>
          <a:noFill/>
          <a:ln/>
        </p:spPr>
        <p:txBody>
          <a:bodyPr wrap="square" lIns="0" tIns="0" rIns="0" bIns="0" rtlCol="0" anchor="t"/>
          <a:lstStyle/>
          <a:p>
            <a:pPr indent="0" marL="0">
              <a:buNone/>
            </a:pPr>
            <a:r>
              <a:rPr lang="en-US" sz="1150" dirty="0">
                <a:solidFill>
                  <a:srgbClr val="64748B"/>
                </a:solidFill>
                <a:latin typeface="Calibri" pitchFamily="34" charset="0"/>
                <a:ea typeface="Calibri" pitchFamily="34" charset="-122"/>
                <a:cs typeface="Calibri" pitchFamily="34" charset="-120"/>
              </a:rPr>
              <a:t>Revenue vs. margin over time, and margin by discount band to explain the cause.</a:t>
            </a:r>
            <a:endParaRPr lang="en-US" sz="1150" dirty="0"/>
          </a:p>
        </p:txBody>
      </p:sp>
      <p:sp>
        <p:nvSpPr>
          <p:cNvPr id="37" name="Shape 35"/>
          <p:cNvSpPr/>
          <p:nvPr/>
        </p:nvSpPr>
        <p:spPr>
          <a:xfrm>
            <a:off x="7589520" y="3840480"/>
            <a:ext cx="4050792" cy="1097280"/>
          </a:xfrm>
          <a:prstGeom prst="roundRect">
            <a:avLst>
              <a:gd name="adj" fmla="val 6667"/>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38" name="Shape 36"/>
          <p:cNvSpPr/>
          <p:nvPr/>
        </p:nvSpPr>
        <p:spPr>
          <a:xfrm>
            <a:off x="7818120" y="4114800"/>
            <a:ext cx="548640" cy="548640"/>
          </a:xfrm>
          <a:prstGeom prst="ellipse">
            <a:avLst/>
          </a:prstGeom>
          <a:solidFill>
            <a:srgbClr val="2F3C7E"/>
          </a:solidFill>
          <a:ln w="12700">
            <a:solidFill>
              <a:srgbClr val="2F3C7E"/>
            </a:solidFill>
            <a:prstDash val="solid"/>
          </a:ln>
        </p:spPr>
      </p:sp>
      <p:sp>
        <p:nvSpPr>
          <p:cNvPr id="39" name="Text 37"/>
          <p:cNvSpPr txBox="1"/>
          <p:nvPr/>
        </p:nvSpPr>
        <p:spPr>
          <a:xfrm>
            <a:off x="7818120" y="411480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40" name="Text 38"/>
          <p:cNvSpPr txBox="1"/>
          <p:nvPr/>
        </p:nvSpPr>
        <p:spPr>
          <a:xfrm>
            <a:off x="8549640" y="3977640"/>
            <a:ext cx="2926080" cy="274320"/>
          </a:xfrm>
          <a:prstGeom prst="rect">
            <a:avLst/>
          </a:prstGeom>
          <a:noFill/>
          <a:ln/>
        </p:spPr>
        <p:txBody>
          <a:bodyPr wrap="square" lIns="0" tIns="0" rIns="0" bIns="0" rtlCol="0" anchor="t"/>
          <a:lstStyle/>
          <a:p>
            <a:pPr indent="0" marL="0">
              <a:buNone/>
            </a:pPr>
            <a:r>
              <a:rPr lang="en-US" sz="1500" b="1" dirty="0">
                <a:solidFill>
                  <a:srgbClr val="0B1F33"/>
                </a:solidFill>
                <a:latin typeface="Calibri" pitchFamily="34" charset="0"/>
                <a:ea typeface="Calibri" pitchFamily="34" charset="-122"/>
                <a:cs typeface="Calibri" pitchFamily="34" charset="-120"/>
              </a:rPr>
              <a:t>Detailed analysis</a:t>
            </a:r>
            <a:endParaRPr lang="en-US" sz="1500" dirty="0"/>
          </a:p>
        </p:txBody>
      </p:sp>
      <p:sp>
        <p:nvSpPr>
          <p:cNvPr id="41" name="Text 39"/>
          <p:cNvSpPr txBox="1"/>
          <p:nvPr/>
        </p:nvSpPr>
        <p:spPr>
          <a:xfrm>
            <a:off x="8549640" y="4270248"/>
            <a:ext cx="2971800" cy="640080"/>
          </a:xfrm>
          <a:prstGeom prst="rect">
            <a:avLst/>
          </a:prstGeom>
          <a:noFill/>
          <a:ln/>
        </p:spPr>
        <p:txBody>
          <a:bodyPr wrap="square" lIns="0" tIns="0" rIns="0" bIns="0" rtlCol="0" anchor="t"/>
          <a:lstStyle/>
          <a:p>
            <a:pPr indent="0" marL="0">
              <a:buNone/>
            </a:pPr>
            <a:r>
              <a:rPr lang="en-US" sz="1150" dirty="0">
                <a:solidFill>
                  <a:srgbClr val="64748B"/>
                </a:solidFill>
                <a:latin typeface="Calibri" pitchFamily="34" charset="0"/>
                <a:ea typeface="Calibri" pitchFamily="34" charset="-122"/>
                <a:cs typeface="Calibri" pitchFamily="34" charset="-120"/>
              </a:rPr>
              <a:t>Region × category heat-map table for drilling into problem areas.</a:t>
            </a:r>
            <a:endParaRPr lang="en-US" sz="1150" dirty="0"/>
          </a:p>
        </p:txBody>
      </p:sp>
      <p:sp>
        <p:nvSpPr>
          <p:cNvPr id="42" name="Shape 40"/>
          <p:cNvSpPr/>
          <p:nvPr/>
        </p:nvSpPr>
        <p:spPr>
          <a:xfrm>
            <a:off x="7589520" y="5074920"/>
            <a:ext cx="4050792" cy="1097280"/>
          </a:xfrm>
          <a:prstGeom prst="roundRect">
            <a:avLst>
              <a:gd name="adj" fmla="val 6667"/>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43" name="Shape 41"/>
          <p:cNvSpPr/>
          <p:nvPr/>
        </p:nvSpPr>
        <p:spPr>
          <a:xfrm>
            <a:off x="7818120" y="5349240"/>
            <a:ext cx="548640" cy="548640"/>
          </a:xfrm>
          <a:prstGeom prst="ellipse">
            <a:avLst/>
          </a:prstGeom>
          <a:solidFill>
            <a:srgbClr val="0B1F33"/>
          </a:solidFill>
          <a:ln w="12700">
            <a:solidFill>
              <a:srgbClr val="0B1F33"/>
            </a:solidFill>
            <a:prstDash val="solid"/>
          </a:ln>
        </p:spPr>
      </p:sp>
      <p:sp>
        <p:nvSpPr>
          <p:cNvPr id="44" name="Text 42"/>
          <p:cNvSpPr txBox="1"/>
          <p:nvPr/>
        </p:nvSpPr>
        <p:spPr>
          <a:xfrm>
            <a:off x="7818120" y="534924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45" name="Text 43"/>
          <p:cNvSpPr txBox="1"/>
          <p:nvPr/>
        </p:nvSpPr>
        <p:spPr>
          <a:xfrm>
            <a:off x="8549640" y="5212080"/>
            <a:ext cx="2926080" cy="274320"/>
          </a:xfrm>
          <a:prstGeom prst="rect">
            <a:avLst/>
          </a:prstGeom>
          <a:noFill/>
          <a:ln/>
        </p:spPr>
        <p:txBody>
          <a:bodyPr wrap="square" lIns="0" tIns="0" rIns="0" bIns="0" rtlCol="0" anchor="t"/>
          <a:lstStyle/>
          <a:p>
            <a:pPr indent="0" marL="0">
              <a:buNone/>
            </a:pPr>
            <a:r>
              <a:rPr lang="en-US" sz="1500" b="1" dirty="0">
                <a:solidFill>
                  <a:srgbClr val="0B1F33"/>
                </a:solidFill>
                <a:latin typeface="Calibri" pitchFamily="34" charset="0"/>
                <a:ea typeface="Calibri" pitchFamily="34" charset="-122"/>
                <a:cs typeface="Calibri" pitchFamily="34" charset="-120"/>
              </a:rPr>
              <a:t>Filters &amp; slicers</a:t>
            </a:r>
            <a:endParaRPr lang="en-US" sz="1500" dirty="0"/>
          </a:p>
        </p:txBody>
      </p:sp>
      <p:sp>
        <p:nvSpPr>
          <p:cNvPr id="46" name="Text 44"/>
          <p:cNvSpPr txBox="1"/>
          <p:nvPr/>
        </p:nvSpPr>
        <p:spPr>
          <a:xfrm>
            <a:off x="8549640" y="5504688"/>
            <a:ext cx="2971800" cy="640080"/>
          </a:xfrm>
          <a:prstGeom prst="rect">
            <a:avLst/>
          </a:prstGeom>
          <a:noFill/>
          <a:ln/>
        </p:spPr>
        <p:txBody>
          <a:bodyPr wrap="square" lIns="0" tIns="0" rIns="0" bIns="0" rtlCol="0" anchor="t"/>
          <a:lstStyle/>
          <a:p>
            <a:pPr indent="0" marL="0">
              <a:buNone/>
            </a:pPr>
            <a:r>
              <a:rPr lang="en-US" sz="1150" dirty="0">
                <a:solidFill>
                  <a:srgbClr val="64748B"/>
                </a:solidFill>
                <a:latin typeface="Calibri" pitchFamily="34" charset="0"/>
                <a:ea typeface="Calibri" pitchFamily="34" charset="-122"/>
                <a:cs typeface="Calibri" pitchFamily="34" charset="-120"/>
              </a:rPr>
              <a:t>Year, region, category and segment so managers can self-serve.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6F9"/>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28600"/>
          </a:xfrm>
          <a:prstGeom prst="rect">
            <a:avLst/>
          </a:prstGeom>
          <a:noFill/>
          <a:ln/>
        </p:spPr>
        <p:txBody>
          <a:bodyPr wrap="square" lIns="0" tIns="0" rIns="0" bIns="0" rtlCol="0" anchor="t"/>
          <a:lstStyle/>
          <a:p>
            <a:pPr indent="0" marL="0">
              <a:buNone/>
            </a:pPr>
            <a:r>
              <a:rPr lang="en-US" sz="1100" b="1" spc="300" kern="0" dirty="0">
                <a:solidFill>
                  <a:srgbClr val="0E7C86"/>
                </a:solidFill>
                <a:latin typeface="Calibri" pitchFamily="34" charset="0"/>
                <a:ea typeface="Calibri" pitchFamily="34" charset="-122"/>
                <a:cs typeface="Calibri" pitchFamily="34" charset="-120"/>
              </a:rPr>
              <a:t>4  DASHBOARD DESIGN</a:t>
            </a:r>
            <a:endParaRPr lang="en-US" sz="1100" dirty="0"/>
          </a:p>
        </p:txBody>
      </p:sp>
      <p:sp>
        <p:nvSpPr>
          <p:cNvPr id="3" name="Text 1"/>
          <p:cNvSpPr txBox="1"/>
          <p:nvPr/>
        </p:nvSpPr>
        <p:spPr>
          <a:xfrm>
            <a:off x="548640" y="530352"/>
            <a:ext cx="11064240" cy="548640"/>
          </a:xfrm>
          <a:prstGeom prst="rect">
            <a:avLst/>
          </a:prstGeom>
          <a:noFill/>
          <a:ln/>
        </p:spPr>
        <p:txBody>
          <a:bodyPr wrap="square" lIns="0" tIns="0" rIns="0" bIns="0" rtlCol="0" anchor="ctr"/>
          <a:lstStyle/>
          <a:p>
            <a:pPr indent="0" marL="0">
              <a:buNone/>
            </a:pPr>
            <a:r>
              <a:rPr lang="en-US" sz="2600" b="1" dirty="0">
                <a:solidFill>
                  <a:srgbClr val="0B1F33"/>
                </a:solidFill>
                <a:latin typeface="Cambria" pitchFamily="34" charset="0"/>
                <a:ea typeface="Cambria" pitchFamily="34" charset="-122"/>
                <a:cs typeface="Cambria" pitchFamily="34" charset="-120"/>
              </a:rPr>
              <a:t>Executive overview dashboard (FY2025 view)</a:t>
            </a:r>
            <a:endParaRPr lang="en-US" sz="2600" dirty="0"/>
          </a:p>
        </p:txBody>
      </p:sp>
      <p:sp>
        <p:nvSpPr>
          <p:cNvPr id="4" name="Text 2"/>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Executive Business Intelligence Dashboard</a:t>
            </a:r>
            <a:endParaRPr lang="en-US" sz="1000" dirty="0"/>
          </a:p>
        </p:txBody>
      </p:sp>
      <p:sp>
        <p:nvSpPr>
          <p:cNvPr id="5" name="Text 3"/>
          <p:cNvSpPr txBox="1"/>
          <p:nvPr/>
        </p:nvSpPr>
        <p:spPr>
          <a:xfrm>
            <a:off x="11091672" y="6510528"/>
            <a:ext cx="548640" cy="228600"/>
          </a:xfrm>
          <a:prstGeom prst="rect">
            <a:avLst/>
          </a:prstGeom>
          <a:noFill/>
          <a:ln/>
        </p:spPr>
        <p:txBody>
          <a:bodyPr wrap="square" lIns="0" tIns="0" rIns="0" bIns="0" rtlCol="0" anchor="t"/>
          <a:lstStyle/>
          <a:p>
            <a:pPr algn="r" indent="0" marL="0">
              <a:buNone/>
            </a:pPr>
            <a:r>
              <a:rPr lang="en-US" sz="1000" dirty="0">
                <a:solidFill>
                  <a:srgbClr val="64748B"/>
                </a:solidFill>
                <a:latin typeface="Calibri" pitchFamily="34" charset="0"/>
                <a:ea typeface="Calibri" pitchFamily="34" charset="-122"/>
                <a:cs typeface="Calibri" pitchFamily="34" charset="-120"/>
              </a:rPr>
              <a:t>8</a:t>
            </a:r>
            <a:endParaRPr lang="en-US" sz="1000" dirty="0"/>
          </a:p>
        </p:txBody>
      </p:sp>
      <p:pic>
        <p:nvPicPr>
          <p:cNvPr id="6" name="Image 0" descr="Executive Business Intelligence dashboard with KPI cards, sales trend, category, region, discount, heat-map, delivery and key insights panels">    </p:cNvPr>
          <p:cNvPicPr>
            <a:picLocks noChangeAspect="1"/>
          </p:cNvPicPr>
          <p:nvPr/>
        </p:nvPicPr>
        <p:blipFill>
          <a:blip r:embed="rId1"/>
          <a:stretch>
            <a:fillRect/>
          </a:stretch>
        </p:blipFill>
        <p:spPr>
          <a:xfrm>
            <a:off x="1340968" y="1097280"/>
            <a:ext cx="9509760" cy="53492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6F9"/>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28600"/>
          </a:xfrm>
          <a:prstGeom prst="rect">
            <a:avLst/>
          </a:prstGeom>
          <a:noFill/>
          <a:ln/>
        </p:spPr>
        <p:txBody>
          <a:bodyPr wrap="square" lIns="0" tIns="0" rIns="0" bIns="0" rtlCol="0" anchor="t"/>
          <a:lstStyle/>
          <a:p>
            <a:pPr indent="0" marL="0">
              <a:buNone/>
            </a:pPr>
            <a:r>
              <a:rPr lang="en-US" sz="1100" b="1" spc="300" kern="0" dirty="0">
                <a:solidFill>
                  <a:srgbClr val="0E7C86"/>
                </a:solidFill>
                <a:latin typeface="Calibri" pitchFamily="34" charset="0"/>
                <a:ea typeface="Calibri" pitchFamily="34" charset="-122"/>
                <a:cs typeface="Calibri" pitchFamily="34" charset="-120"/>
              </a:rPr>
              <a:t>5  WHAT HAPPENED?</a:t>
            </a:r>
            <a:endParaRPr lang="en-US" sz="1100" dirty="0"/>
          </a:p>
        </p:txBody>
      </p:sp>
      <p:sp>
        <p:nvSpPr>
          <p:cNvPr id="3" name="Text 1"/>
          <p:cNvSpPr txBox="1"/>
          <p:nvPr/>
        </p:nvSpPr>
        <p:spPr>
          <a:xfrm>
            <a:off x="548640" y="530352"/>
            <a:ext cx="11064240" cy="54864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Revenue nearly doubled, but margin slipped every year</a:t>
            </a:r>
            <a:endParaRPr lang="en-US" sz="2800" dirty="0"/>
          </a:p>
        </p:txBody>
      </p:sp>
      <p:sp>
        <p:nvSpPr>
          <p:cNvPr id="4" name="Text 2"/>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Executive Business Intelligence Dashboard</a:t>
            </a:r>
            <a:endParaRPr lang="en-US" sz="1000" dirty="0"/>
          </a:p>
        </p:txBody>
      </p:sp>
      <p:sp>
        <p:nvSpPr>
          <p:cNvPr id="5" name="Text 3"/>
          <p:cNvSpPr txBox="1"/>
          <p:nvPr/>
        </p:nvSpPr>
        <p:spPr>
          <a:xfrm>
            <a:off x="11091672" y="6510528"/>
            <a:ext cx="548640" cy="228600"/>
          </a:xfrm>
          <a:prstGeom prst="rect">
            <a:avLst/>
          </a:prstGeom>
          <a:noFill/>
          <a:ln/>
        </p:spPr>
        <p:txBody>
          <a:bodyPr wrap="square" lIns="0" tIns="0" rIns="0" bIns="0" rtlCol="0" anchor="t"/>
          <a:lstStyle/>
          <a:p>
            <a:pPr algn="r" indent="0" marL="0">
              <a:buNone/>
            </a:pPr>
            <a:r>
              <a:rPr lang="en-US" sz="1000" dirty="0">
                <a:solidFill>
                  <a:srgbClr val="64748B"/>
                </a:solidFill>
                <a:latin typeface="Calibri" pitchFamily="34" charset="0"/>
                <a:ea typeface="Calibri" pitchFamily="34" charset="-122"/>
                <a:cs typeface="Calibri" pitchFamily="34" charset="-120"/>
              </a:rPr>
              <a:t>9</a:t>
            </a:r>
            <a:endParaRPr lang="en-US" sz="1000" dirty="0"/>
          </a:p>
        </p:txBody>
      </p:sp>
      <p:sp>
        <p:nvSpPr>
          <p:cNvPr id="6" name="Shape 4"/>
          <p:cNvSpPr/>
          <p:nvPr/>
        </p:nvSpPr>
        <p:spPr>
          <a:xfrm>
            <a:off x="548640" y="1371600"/>
            <a:ext cx="7223760" cy="4846320"/>
          </a:xfrm>
          <a:prstGeom prst="roundRect">
            <a:avLst>
              <a:gd name="adj" fmla="val 1509"/>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7" name="Text 5"/>
          <p:cNvSpPr txBox="1"/>
          <p:nvPr/>
        </p:nvSpPr>
        <p:spPr>
          <a:xfrm>
            <a:off x="822960" y="1554480"/>
            <a:ext cx="6400800" cy="274320"/>
          </a:xfrm>
          <a:prstGeom prst="rect">
            <a:avLst/>
          </a:prstGeom>
          <a:noFill/>
          <a:ln/>
        </p:spPr>
        <p:txBody>
          <a:bodyPr wrap="square" lIns="0" tIns="0" rIns="0" bIns="0" rtlCol="0" anchor="t"/>
          <a:lstStyle/>
          <a:p>
            <a:pPr indent="0" marL="0">
              <a:buNone/>
            </a:pPr>
            <a:r>
              <a:rPr lang="en-US" sz="1500" b="1" dirty="0">
                <a:solidFill>
                  <a:srgbClr val="0B1F33"/>
                </a:solidFill>
                <a:latin typeface="Calibri" pitchFamily="34" charset="0"/>
                <a:ea typeface="Calibri" pitchFamily="34" charset="-122"/>
                <a:cs typeface="Calibri" pitchFamily="34" charset="-120"/>
              </a:rPr>
              <a:t>Annual revenue ($K) and profit margin (%)</a:t>
            </a:r>
            <a:endParaRPr lang="en-US" sz="1500" dirty="0"/>
          </a:p>
        </p:txBody>
      </p:sp>
      <p:graphicFrame>
        <p:nvGraphicFramePr>
          <p:cNvPr id="8" name="Chart 0" descr=""/>
          <p:cNvGraphicFramePr/>
          <p:nvPr/>
        </p:nvGraphicFramePr>
        <p:xfrm>
          <a:off x="731520" y="1920240"/>
          <a:ext cx="6858000" cy="416052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8046720" y="1371600"/>
            <a:ext cx="3593592" cy="1463040"/>
          </a:xfrm>
          <a:prstGeom prst="roundRect">
            <a:avLst>
              <a:gd name="adj" fmla="val 5000"/>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10" name="Text 7"/>
          <p:cNvSpPr txBox="1"/>
          <p:nvPr/>
        </p:nvSpPr>
        <p:spPr>
          <a:xfrm>
            <a:off x="8275320" y="1508760"/>
            <a:ext cx="3200400" cy="640080"/>
          </a:xfrm>
          <a:prstGeom prst="rect">
            <a:avLst/>
          </a:prstGeom>
          <a:noFill/>
          <a:ln/>
        </p:spPr>
        <p:txBody>
          <a:bodyPr wrap="square" lIns="0" tIns="0" rIns="0" bIns="0" rtlCol="0" anchor="t"/>
          <a:lstStyle/>
          <a:p>
            <a:pPr indent="0" marL="0">
              <a:buNone/>
            </a:pPr>
            <a:r>
              <a:rPr lang="en-US" sz="3600" b="1" dirty="0">
                <a:solidFill>
                  <a:srgbClr val="0E7C86"/>
                </a:solidFill>
                <a:latin typeface="Cambria" pitchFamily="34" charset="0"/>
                <a:ea typeface="Cambria" pitchFamily="34" charset="-122"/>
                <a:cs typeface="Cambria" pitchFamily="34" charset="-120"/>
              </a:rPr>
              <a:t>+93%</a:t>
            </a:r>
            <a:endParaRPr lang="en-US" sz="3600" dirty="0"/>
          </a:p>
        </p:txBody>
      </p:sp>
      <p:sp>
        <p:nvSpPr>
          <p:cNvPr id="11" name="Text 8"/>
          <p:cNvSpPr txBox="1"/>
          <p:nvPr/>
        </p:nvSpPr>
        <p:spPr>
          <a:xfrm>
            <a:off x="8275320" y="2194560"/>
            <a:ext cx="3200400" cy="59436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Revenue FY22 → FY25 ($272.6K → $526.5K)</a:t>
            </a:r>
            <a:endParaRPr lang="en-US" sz="1250" dirty="0"/>
          </a:p>
        </p:txBody>
      </p:sp>
      <p:sp>
        <p:nvSpPr>
          <p:cNvPr id="12" name="Shape 9"/>
          <p:cNvSpPr/>
          <p:nvPr/>
        </p:nvSpPr>
        <p:spPr>
          <a:xfrm>
            <a:off x="8046720" y="3017520"/>
            <a:ext cx="3593592" cy="1463040"/>
          </a:xfrm>
          <a:prstGeom prst="roundRect">
            <a:avLst>
              <a:gd name="adj" fmla="val 5000"/>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13" name="Text 10"/>
          <p:cNvSpPr txBox="1"/>
          <p:nvPr/>
        </p:nvSpPr>
        <p:spPr>
          <a:xfrm>
            <a:off x="8275320" y="3154680"/>
            <a:ext cx="3200400" cy="640080"/>
          </a:xfrm>
          <a:prstGeom prst="rect">
            <a:avLst/>
          </a:prstGeom>
          <a:noFill/>
          <a:ln/>
        </p:spPr>
        <p:txBody>
          <a:bodyPr wrap="square" lIns="0" tIns="0" rIns="0" bIns="0" rtlCol="0" anchor="t"/>
          <a:lstStyle/>
          <a:p>
            <a:pPr indent="0" marL="0">
              <a:buNone/>
            </a:pPr>
            <a:r>
              <a:rPr lang="en-US" sz="3600" b="1" dirty="0">
                <a:solidFill>
                  <a:srgbClr val="F59E0B"/>
                </a:solidFill>
                <a:latin typeface="Cambria" pitchFamily="34" charset="0"/>
                <a:ea typeface="Cambria" pitchFamily="34" charset="-122"/>
                <a:cs typeface="Cambria" pitchFamily="34" charset="-120"/>
              </a:rPr>
              <a:t>+68%</a:t>
            </a:r>
            <a:endParaRPr lang="en-US" sz="3600" dirty="0"/>
          </a:p>
        </p:txBody>
      </p:sp>
      <p:sp>
        <p:nvSpPr>
          <p:cNvPr id="14" name="Text 11"/>
          <p:cNvSpPr txBox="1"/>
          <p:nvPr/>
        </p:nvSpPr>
        <p:spPr>
          <a:xfrm>
            <a:off x="8275320" y="3840480"/>
            <a:ext cx="3200400" cy="59436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Profit grew far slower ($35.5K → $59.6K)</a:t>
            </a:r>
            <a:endParaRPr lang="en-US" sz="1250" dirty="0"/>
          </a:p>
        </p:txBody>
      </p:sp>
      <p:sp>
        <p:nvSpPr>
          <p:cNvPr id="15" name="Shape 12"/>
          <p:cNvSpPr/>
          <p:nvPr/>
        </p:nvSpPr>
        <p:spPr>
          <a:xfrm>
            <a:off x="8046720" y="4663440"/>
            <a:ext cx="3593592" cy="1463040"/>
          </a:xfrm>
          <a:prstGeom prst="roundRect">
            <a:avLst>
              <a:gd name="adj" fmla="val 5000"/>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16" name="Text 13"/>
          <p:cNvSpPr txBox="1"/>
          <p:nvPr/>
        </p:nvSpPr>
        <p:spPr>
          <a:xfrm>
            <a:off x="8275320" y="4800600"/>
            <a:ext cx="3200400" cy="640080"/>
          </a:xfrm>
          <a:prstGeom prst="rect">
            <a:avLst/>
          </a:prstGeom>
          <a:noFill/>
          <a:ln/>
        </p:spPr>
        <p:txBody>
          <a:bodyPr wrap="square" lIns="0" tIns="0" rIns="0" bIns="0" rtlCol="0" anchor="t"/>
          <a:lstStyle/>
          <a:p>
            <a:pPr indent="0" marL="0">
              <a:buNone/>
            </a:pPr>
            <a:r>
              <a:rPr lang="en-US" sz="3600" b="1" dirty="0">
                <a:solidFill>
                  <a:srgbClr val="DC2626"/>
                </a:solidFill>
                <a:latin typeface="Cambria" pitchFamily="34" charset="0"/>
                <a:ea typeface="Cambria" pitchFamily="34" charset="-122"/>
                <a:cs typeface="Cambria" pitchFamily="34" charset="-120"/>
              </a:rPr>
              <a:t>-1.7 pts</a:t>
            </a:r>
            <a:endParaRPr lang="en-US" sz="3600" dirty="0"/>
          </a:p>
        </p:txBody>
      </p:sp>
      <p:sp>
        <p:nvSpPr>
          <p:cNvPr id="17" name="Text 14"/>
          <p:cNvSpPr txBox="1"/>
          <p:nvPr/>
        </p:nvSpPr>
        <p:spPr>
          <a:xfrm>
            <a:off x="8275320" y="5486400"/>
            <a:ext cx="3200400" cy="59436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Margin fell from 13.0% to 11.3%, below the 13% target</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6F9"/>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28600"/>
          </a:xfrm>
          <a:prstGeom prst="rect">
            <a:avLst/>
          </a:prstGeom>
          <a:noFill/>
          <a:ln/>
        </p:spPr>
        <p:txBody>
          <a:bodyPr wrap="square" lIns="0" tIns="0" rIns="0" bIns="0" rtlCol="0" anchor="t"/>
          <a:lstStyle/>
          <a:p>
            <a:pPr indent="0" marL="0">
              <a:buNone/>
            </a:pPr>
            <a:r>
              <a:rPr lang="en-US" sz="1100" b="1" spc="300" kern="0" dirty="0">
                <a:solidFill>
                  <a:srgbClr val="0E7C86"/>
                </a:solidFill>
                <a:latin typeface="Calibri" pitchFamily="34" charset="0"/>
                <a:ea typeface="Calibri" pitchFamily="34" charset="-122"/>
                <a:cs typeface="Calibri" pitchFamily="34" charset="-120"/>
              </a:rPr>
              <a:t>6  WHY DID IT HAPPEN?</a:t>
            </a:r>
            <a:endParaRPr lang="en-US" sz="1100" dirty="0"/>
          </a:p>
        </p:txBody>
      </p:sp>
      <p:sp>
        <p:nvSpPr>
          <p:cNvPr id="3" name="Text 1"/>
          <p:cNvSpPr txBox="1"/>
          <p:nvPr/>
        </p:nvSpPr>
        <p:spPr>
          <a:xfrm>
            <a:off x="548640" y="530352"/>
            <a:ext cx="11064240" cy="54864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Heavy discounting turns sales into losses</a:t>
            </a:r>
            <a:endParaRPr lang="en-US" sz="2800" dirty="0"/>
          </a:p>
        </p:txBody>
      </p:sp>
      <p:sp>
        <p:nvSpPr>
          <p:cNvPr id="4" name="Text 2"/>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Executive Business Intelligence Dashboard</a:t>
            </a:r>
            <a:endParaRPr lang="en-US" sz="1000" dirty="0"/>
          </a:p>
        </p:txBody>
      </p:sp>
      <p:sp>
        <p:nvSpPr>
          <p:cNvPr id="5" name="Text 3"/>
          <p:cNvSpPr txBox="1"/>
          <p:nvPr/>
        </p:nvSpPr>
        <p:spPr>
          <a:xfrm>
            <a:off x="11091672" y="6510528"/>
            <a:ext cx="548640" cy="228600"/>
          </a:xfrm>
          <a:prstGeom prst="rect">
            <a:avLst/>
          </a:prstGeom>
          <a:noFill/>
          <a:ln/>
        </p:spPr>
        <p:txBody>
          <a:bodyPr wrap="square" lIns="0" tIns="0" rIns="0" bIns="0" rtlCol="0" anchor="t"/>
          <a:lstStyle/>
          <a:p>
            <a:pPr algn="r" indent="0" marL="0">
              <a:buNone/>
            </a:pPr>
            <a:r>
              <a:rPr lang="en-US" sz="1000" dirty="0">
                <a:solidFill>
                  <a:srgbClr val="64748B"/>
                </a:solidFill>
                <a:latin typeface="Calibri" pitchFamily="34" charset="0"/>
                <a:ea typeface="Calibri" pitchFamily="34" charset="-122"/>
                <a:cs typeface="Calibri" pitchFamily="34" charset="-120"/>
              </a:rPr>
              <a:t>10</a:t>
            </a:r>
            <a:endParaRPr lang="en-US" sz="1000" dirty="0"/>
          </a:p>
        </p:txBody>
      </p:sp>
      <p:sp>
        <p:nvSpPr>
          <p:cNvPr id="6" name="Shape 4"/>
          <p:cNvSpPr/>
          <p:nvPr/>
        </p:nvSpPr>
        <p:spPr>
          <a:xfrm>
            <a:off x="548640" y="1371600"/>
            <a:ext cx="5577840" cy="3749040"/>
          </a:xfrm>
          <a:prstGeom prst="roundRect">
            <a:avLst>
              <a:gd name="adj" fmla="val 1951"/>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7" name="Text 5"/>
          <p:cNvSpPr txBox="1"/>
          <p:nvPr/>
        </p:nvSpPr>
        <p:spPr>
          <a:xfrm>
            <a:off x="777240" y="1508760"/>
            <a:ext cx="5120640" cy="274320"/>
          </a:xfrm>
          <a:prstGeom prst="rect">
            <a:avLst/>
          </a:prstGeom>
          <a:noFill/>
          <a:ln/>
        </p:spPr>
        <p:txBody>
          <a:bodyPr wrap="square" lIns="0" tIns="0" rIns="0" bIns="0" rtlCol="0" anchor="t"/>
          <a:lstStyle/>
          <a:p>
            <a:pPr indent="0" marL="0">
              <a:buNone/>
            </a:pPr>
            <a:r>
              <a:rPr lang="en-US" sz="1500" b="1" dirty="0">
                <a:solidFill>
                  <a:srgbClr val="0B1F33"/>
                </a:solidFill>
                <a:latin typeface="Calibri" pitchFamily="34" charset="0"/>
                <a:ea typeface="Calibri" pitchFamily="34" charset="-122"/>
                <a:cs typeface="Calibri" pitchFamily="34" charset="-120"/>
              </a:rPr>
              <a:t>Profit margin (%) by discount band</a:t>
            </a:r>
            <a:endParaRPr lang="en-US" sz="1500" dirty="0"/>
          </a:p>
        </p:txBody>
      </p:sp>
      <p:graphicFrame>
        <p:nvGraphicFramePr>
          <p:cNvPr id="8" name="Chart 0" descr=""/>
          <p:cNvGraphicFramePr/>
          <p:nvPr/>
        </p:nvGraphicFramePr>
        <p:xfrm>
          <a:off x="685800" y="1828800"/>
          <a:ext cx="5303520" cy="320040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6355080" y="1371600"/>
            <a:ext cx="5285232" cy="3749040"/>
          </a:xfrm>
          <a:prstGeom prst="roundRect">
            <a:avLst>
              <a:gd name="adj" fmla="val 1951"/>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10" name="Text 7"/>
          <p:cNvSpPr txBox="1"/>
          <p:nvPr/>
        </p:nvSpPr>
        <p:spPr>
          <a:xfrm>
            <a:off x="6583680" y="1508760"/>
            <a:ext cx="4846320" cy="457200"/>
          </a:xfrm>
          <a:prstGeom prst="rect">
            <a:avLst/>
          </a:prstGeom>
          <a:noFill/>
          <a:ln/>
        </p:spPr>
        <p:txBody>
          <a:bodyPr wrap="square" lIns="0" tIns="0" rIns="0" bIns="0" rtlCol="0" anchor="t"/>
          <a:lstStyle/>
          <a:p>
            <a:pPr indent="0" marL="0">
              <a:buNone/>
            </a:pPr>
            <a:r>
              <a:rPr lang="en-US" sz="1500" b="1" dirty="0">
                <a:solidFill>
                  <a:srgbClr val="0B1F33"/>
                </a:solidFill>
                <a:latin typeface="Calibri" pitchFamily="34" charset="0"/>
                <a:ea typeface="Calibri" pitchFamily="34" charset="-122"/>
                <a:cs typeface="Calibri" pitchFamily="34" charset="-120"/>
              </a:rPr>
              <a:t>Share of orders with 30%+ discount in Furniture (Central + South)</a:t>
            </a:r>
            <a:endParaRPr lang="en-US" sz="1500" dirty="0"/>
          </a:p>
        </p:txBody>
      </p:sp>
      <p:graphicFrame>
        <p:nvGraphicFramePr>
          <p:cNvPr id="11" name="Chart 1" descr=""/>
          <p:cNvGraphicFramePr/>
          <p:nvPr/>
        </p:nvGraphicFramePr>
        <p:xfrm>
          <a:off x="6492240" y="2011680"/>
          <a:ext cx="5029200" cy="3017520"/>
        </p:xfrm>
        <a:graphic xmlns:a="http://schemas.openxmlformats.org/drawingml/2006/main">
          <a:graphicData uri="http://schemas.openxmlformats.org/drawingml/2006/chart">
            <c:chart xmlns:c="http://schemas.openxmlformats.org/drawingml/2006/chart" r:id="rId2"/>
          </a:graphicData>
        </a:graphic>
      </p:graphicFrame>
      <p:sp>
        <p:nvSpPr>
          <p:cNvPr id="12" name="Shape 8"/>
          <p:cNvSpPr/>
          <p:nvPr/>
        </p:nvSpPr>
        <p:spPr>
          <a:xfrm>
            <a:off x="548640" y="5349240"/>
            <a:ext cx="11091672" cy="868680"/>
          </a:xfrm>
          <a:prstGeom prst="roundRect">
            <a:avLst>
              <a:gd name="adj" fmla="val 8421"/>
            </a:avLst>
          </a:prstGeom>
          <a:solidFill>
            <a:srgbClr val="0B1F33"/>
          </a:solidFill>
          <a:ln w="12700">
            <a:solidFill>
              <a:srgbClr val="0B1F33"/>
            </a:solidFill>
            <a:prstDash val="solid"/>
          </a:ln>
        </p:spPr>
      </p:sp>
      <p:sp>
        <p:nvSpPr>
          <p:cNvPr id="13" name="Shape 9"/>
          <p:cNvSpPr/>
          <p:nvPr/>
        </p:nvSpPr>
        <p:spPr>
          <a:xfrm>
            <a:off x="777240" y="5504688"/>
            <a:ext cx="548640" cy="548640"/>
          </a:xfrm>
          <a:prstGeom prst="ellipse">
            <a:avLst/>
          </a:prstGeom>
          <a:solidFill>
            <a:srgbClr val="F59E0B"/>
          </a:solidFill>
          <a:ln w="6350">
            <a:solidFill>
              <a:srgbClr val="F59E0B"/>
            </a:solidFill>
            <a:prstDash val="solid"/>
          </a:ln>
        </p:spPr>
      </p:sp>
      <p:pic>
        <p:nvPicPr>
          <p:cNvPr id="14" name="Image 0" descr="preencoded.png">    </p:cNvPr>
          <p:cNvPicPr>
            <a:picLocks noChangeAspect="1"/>
          </p:cNvPicPr>
          <p:nvPr/>
        </p:nvPicPr>
        <p:blipFill>
          <a:blip r:embed="rId3"/>
          <a:stretch>
            <a:fillRect/>
          </a:stretch>
        </p:blipFill>
        <p:spPr>
          <a:xfrm>
            <a:off x="919886" y="5647334"/>
            <a:ext cx="263347" cy="263347"/>
          </a:xfrm>
          <a:prstGeom prst="rect">
            <a:avLst/>
          </a:prstGeom>
        </p:spPr>
      </p:pic>
      <p:sp>
        <p:nvSpPr>
          <p:cNvPr id="15" name="Text 10"/>
          <p:cNvSpPr txBox="1"/>
          <p:nvPr/>
        </p:nvSpPr>
        <p:spPr>
          <a:xfrm>
            <a:off x="1554480" y="5394960"/>
            <a:ext cx="9875520" cy="77724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Orders with 30%+ discount are 15% of all orders, but 84% of them lose money. Margin shrinks to 4% at a 20% discount and turns negative beyond it.</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6F9"/>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28600"/>
          </a:xfrm>
          <a:prstGeom prst="rect">
            <a:avLst/>
          </a:prstGeom>
          <a:noFill/>
          <a:ln/>
        </p:spPr>
        <p:txBody>
          <a:bodyPr wrap="square" lIns="0" tIns="0" rIns="0" bIns="0" rtlCol="0" anchor="t"/>
          <a:lstStyle/>
          <a:p>
            <a:pPr indent="0" marL="0">
              <a:buNone/>
            </a:pPr>
            <a:r>
              <a:rPr lang="en-US" sz="1100" b="1" spc="300" kern="0" dirty="0">
                <a:solidFill>
                  <a:srgbClr val="0E7C86"/>
                </a:solidFill>
                <a:latin typeface="Calibri" pitchFamily="34" charset="0"/>
                <a:ea typeface="Calibri" pitchFamily="34" charset="-122"/>
                <a:cs typeface="Calibri" pitchFamily="34" charset="-120"/>
              </a:rPr>
              <a:t>6  WHY DID IT HAPPEN?</a:t>
            </a:r>
            <a:endParaRPr lang="en-US" sz="1100" dirty="0"/>
          </a:p>
        </p:txBody>
      </p:sp>
      <p:sp>
        <p:nvSpPr>
          <p:cNvPr id="3" name="Text 1"/>
          <p:cNvSpPr txBox="1"/>
          <p:nvPr/>
        </p:nvSpPr>
        <p:spPr>
          <a:xfrm>
            <a:off x="548640" y="530352"/>
            <a:ext cx="11064240" cy="54864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Furniture in Central and South is the weak spot</a:t>
            </a:r>
            <a:endParaRPr lang="en-US" sz="2800" dirty="0"/>
          </a:p>
        </p:txBody>
      </p:sp>
      <p:sp>
        <p:nvSpPr>
          <p:cNvPr id="4" name="Text 2"/>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Executive Business Intelligence Dashboard</a:t>
            </a:r>
            <a:endParaRPr lang="en-US" sz="1000" dirty="0"/>
          </a:p>
        </p:txBody>
      </p:sp>
      <p:sp>
        <p:nvSpPr>
          <p:cNvPr id="5" name="Text 3"/>
          <p:cNvSpPr txBox="1"/>
          <p:nvPr/>
        </p:nvSpPr>
        <p:spPr>
          <a:xfrm>
            <a:off x="11091672" y="6510528"/>
            <a:ext cx="548640" cy="228600"/>
          </a:xfrm>
          <a:prstGeom prst="rect">
            <a:avLst/>
          </a:prstGeom>
          <a:noFill/>
          <a:ln/>
        </p:spPr>
        <p:txBody>
          <a:bodyPr wrap="square" lIns="0" tIns="0" rIns="0" bIns="0" rtlCol="0" anchor="t"/>
          <a:lstStyle/>
          <a:p>
            <a:pPr algn="r" indent="0" marL="0">
              <a:buNone/>
            </a:pPr>
            <a:r>
              <a:rPr lang="en-US" sz="1000" dirty="0">
                <a:solidFill>
                  <a:srgbClr val="64748B"/>
                </a:solidFill>
                <a:latin typeface="Calibri" pitchFamily="34" charset="0"/>
                <a:ea typeface="Calibri" pitchFamily="34" charset="-122"/>
                <a:cs typeface="Calibri" pitchFamily="34" charset="-120"/>
              </a:rPr>
              <a:t>11</a:t>
            </a:r>
            <a:endParaRPr lang="en-US" sz="1000" dirty="0"/>
          </a:p>
        </p:txBody>
      </p:sp>
      <p:sp>
        <p:nvSpPr>
          <p:cNvPr id="6" name="Shape 4"/>
          <p:cNvSpPr/>
          <p:nvPr/>
        </p:nvSpPr>
        <p:spPr>
          <a:xfrm>
            <a:off x="548640" y="1371600"/>
            <a:ext cx="6949440" cy="4846320"/>
          </a:xfrm>
          <a:prstGeom prst="roundRect">
            <a:avLst>
              <a:gd name="adj" fmla="val 1509"/>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7" name="Text 5"/>
          <p:cNvSpPr txBox="1"/>
          <p:nvPr/>
        </p:nvSpPr>
        <p:spPr>
          <a:xfrm>
            <a:off x="822960" y="1554480"/>
            <a:ext cx="6400800" cy="274320"/>
          </a:xfrm>
          <a:prstGeom prst="rect">
            <a:avLst/>
          </a:prstGeom>
          <a:noFill/>
          <a:ln/>
        </p:spPr>
        <p:txBody>
          <a:bodyPr wrap="square" lIns="0" tIns="0" rIns="0" bIns="0" rtlCol="0" anchor="t"/>
          <a:lstStyle/>
          <a:p>
            <a:pPr indent="0" marL="0">
              <a:buNone/>
            </a:pPr>
            <a:r>
              <a:rPr lang="en-US" sz="1500" b="1" dirty="0">
                <a:solidFill>
                  <a:srgbClr val="0B1F33"/>
                </a:solidFill>
                <a:latin typeface="Calibri" pitchFamily="34" charset="0"/>
                <a:ea typeface="Calibri" pitchFamily="34" charset="-122"/>
                <a:cs typeface="Calibri" pitchFamily="34" charset="-120"/>
              </a:rPr>
              <a:t>Profit margin (%) by region and category, FY22–FY25</a:t>
            </a:r>
            <a:endParaRPr lang="en-US" sz="15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22960" y="2011680"/>
          <a:ext cx="6400800" cy="914400"/>
        </p:xfrm>
        <a:graphic>
          <a:graphicData uri="http://schemas.openxmlformats.org/drawingml/2006/table">
            <a:tbl>
              <a:tblPr/>
              <a:tblGrid>
                <a:gridCol w="1463040"/>
                <a:gridCol w="1280160"/>
                <a:gridCol w="1463040"/>
                <a:gridCol w="1280160"/>
                <a:gridCol w="914400"/>
              </a:tblGrid>
              <a:tr h="566928">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Region</a:t>
                      </a:r>
                      <a:endParaRPr lang="en-US" sz="1300" dirty="0">
                        <a:latin typeface="Calibri" charset="0"/>
                        <a:ea typeface="Calibri" charset="0"/>
                        <a:cs typeface="Calibri"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B1F33"/>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Furniture</a:t>
                      </a:r>
                      <a:endParaRPr lang="en-US" sz="1300" dirty="0">
                        <a:latin typeface="Calibri" charset="0"/>
                        <a:ea typeface="Calibri" charset="0"/>
                        <a:cs typeface="Calibri"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B1F33"/>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Office Supplies</a:t>
                      </a:r>
                      <a:endParaRPr lang="en-US" sz="1300" dirty="0">
                        <a:latin typeface="Calibri" charset="0"/>
                        <a:ea typeface="Calibri" charset="0"/>
                        <a:cs typeface="Calibri"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B1F33"/>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Technology</a:t>
                      </a:r>
                      <a:endParaRPr lang="en-US" sz="1300" dirty="0">
                        <a:latin typeface="Calibri" charset="0"/>
                        <a:ea typeface="Calibri" charset="0"/>
                        <a:cs typeface="Calibri"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B1F33"/>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All</a:t>
                      </a:r>
                      <a:endParaRPr lang="en-US" sz="1300" dirty="0">
                        <a:latin typeface="Calibri" charset="0"/>
                        <a:ea typeface="Calibri" charset="0"/>
                        <a:cs typeface="Calibri"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B1F33"/>
                    </a:solidFill>
                  </a:tcPr>
                </a:tc>
              </a:tr>
              <a:tr h="566928">
                <a:tc>
                  <a:txBody>
                    <a:bodyPr/>
                    <a:lstStyle/>
                    <a:p>
                      <a:pPr algn="l" indent="0" marL="0">
                        <a:buNone/>
                      </a:pPr>
                      <a:r>
                        <a:rPr lang="en-US" sz="1400" b="1" dirty="0">
                          <a:solidFill>
                            <a:srgbClr val="1F2937"/>
                          </a:solidFill>
                          <a:latin typeface="Calibri" pitchFamily="34" charset="0"/>
                          <a:ea typeface="Calibri" pitchFamily="34" charset="-122"/>
                          <a:cs typeface="Calibri" pitchFamily="34" charset="-120"/>
                        </a:rPr>
                        <a:t>West</a:t>
                      </a:r>
                      <a:endParaRPr lang="en-US" sz="1400" dirty="0">
                        <a:latin typeface="Calibri" charset="0"/>
                        <a:ea typeface="Calibri" charset="0"/>
                        <a:cs typeface="Calibri"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a:txBody>
                    <a:bodyPr/>
                    <a:lstStyle/>
                    <a:p>
                      <a:pPr algn="ctr" indent="0" marL="0">
                        <a:buNone/>
                      </a:pPr>
                      <a:r>
                        <a:rPr lang="en-US" sz="1400" b="1" dirty="0">
                          <a:solidFill>
                            <a:srgbClr val="9B1C1C"/>
                          </a:solidFill>
                          <a:latin typeface="Calibri" pitchFamily="34" charset="0"/>
                          <a:ea typeface="Calibri" pitchFamily="34" charset="-122"/>
                          <a:cs typeface="Calibri" pitchFamily="34" charset="-120"/>
                        </a:rPr>
                        <a:t>7.1%</a:t>
                      </a:r>
                      <a:endParaRPr lang="en-US" sz="1400" dirty="0">
                        <a:latin typeface="Calibri" charset="0"/>
                        <a:ea typeface="Calibri" charset="0"/>
                        <a:cs typeface="Calibri"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DE2E2"/>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13.2%</a:t>
                      </a:r>
                      <a:endParaRPr lang="en-US" sz="1400" dirty="0">
                        <a:latin typeface="Calibri" charset="0"/>
                        <a:ea typeface="Calibri" charset="0"/>
                        <a:cs typeface="Calibri"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CF3E3"/>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16.0%</a:t>
                      </a:r>
                      <a:endParaRPr lang="en-US" sz="1400" dirty="0">
                        <a:latin typeface="Calibri" charset="0"/>
                        <a:ea typeface="Calibri" charset="0"/>
                        <a:cs typeface="Calibri"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CF3E3"/>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12.1%</a:t>
                      </a:r>
                      <a:endParaRPr lang="en-US" sz="1400" dirty="0">
                        <a:latin typeface="Calibri" charset="0"/>
                        <a:ea typeface="Calibri" charset="0"/>
                        <a:cs typeface="Calibri"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EF0CF"/>
                    </a:solidFill>
                  </a:tcPr>
                </a:tc>
              </a:tr>
              <a:tr h="566928">
                <a:tc>
                  <a:txBody>
                    <a:bodyPr/>
                    <a:lstStyle/>
                    <a:p>
                      <a:pPr algn="l" indent="0" marL="0">
                        <a:buNone/>
                      </a:pPr>
                      <a:r>
                        <a:rPr lang="en-US" sz="1400" b="1" dirty="0">
                          <a:solidFill>
                            <a:srgbClr val="1F2937"/>
                          </a:solidFill>
                          <a:latin typeface="Calibri" pitchFamily="34" charset="0"/>
                          <a:ea typeface="Calibri" pitchFamily="34" charset="-122"/>
                          <a:cs typeface="Calibri" pitchFamily="34" charset="-120"/>
                        </a:rPr>
                        <a:t>East</a:t>
                      </a:r>
                      <a:endParaRPr lang="en-US" sz="1400" dirty="0">
                        <a:latin typeface="Calibri" charset="0"/>
                        <a:ea typeface="Calibri" charset="0"/>
                        <a:cs typeface="Calibri"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8.2%</a:t>
                      </a:r>
                      <a:endParaRPr lang="en-US" sz="1400" dirty="0">
                        <a:latin typeface="Calibri" charset="0"/>
                        <a:ea typeface="Calibri" charset="0"/>
                        <a:cs typeface="Calibri"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EF0CF"/>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12.8%</a:t>
                      </a:r>
                      <a:endParaRPr lang="en-US" sz="1400" dirty="0">
                        <a:latin typeface="Calibri" charset="0"/>
                        <a:ea typeface="Calibri" charset="0"/>
                        <a:cs typeface="Calibri"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EF0CF"/>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16.1%</a:t>
                      </a:r>
                      <a:endParaRPr lang="en-US" sz="1400" dirty="0">
                        <a:latin typeface="Calibri" charset="0"/>
                        <a:ea typeface="Calibri" charset="0"/>
                        <a:cs typeface="Calibri"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CF3E3"/>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12.4%</a:t>
                      </a:r>
                      <a:endParaRPr lang="en-US" sz="1400" dirty="0">
                        <a:latin typeface="Calibri" charset="0"/>
                        <a:ea typeface="Calibri" charset="0"/>
                        <a:cs typeface="Calibri"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EF0CF"/>
                    </a:solidFill>
                  </a:tcPr>
                </a:tc>
              </a:tr>
              <a:tr h="566928">
                <a:tc>
                  <a:txBody>
                    <a:bodyPr/>
                    <a:lstStyle/>
                    <a:p>
                      <a:pPr algn="l" indent="0" marL="0">
                        <a:buNone/>
                      </a:pPr>
                      <a:r>
                        <a:rPr lang="en-US" sz="1400" b="1" dirty="0">
                          <a:solidFill>
                            <a:srgbClr val="1F2937"/>
                          </a:solidFill>
                          <a:latin typeface="Calibri" pitchFamily="34" charset="0"/>
                          <a:ea typeface="Calibri" pitchFamily="34" charset="-122"/>
                          <a:cs typeface="Calibri" pitchFamily="34" charset="-120"/>
                        </a:rPr>
                        <a:t>Central</a:t>
                      </a:r>
                      <a:endParaRPr lang="en-US" sz="1400" dirty="0">
                        <a:latin typeface="Calibri" charset="0"/>
                        <a:ea typeface="Calibri" charset="0"/>
                        <a:cs typeface="Calibri"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a:txBody>
                    <a:bodyPr/>
                    <a:lstStyle/>
                    <a:p>
                      <a:pPr algn="ctr" indent="0" marL="0">
                        <a:buNone/>
                      </a:pPr>
                      <a:r>
                        <a:rPr lang="en-US" sz="1400" b="1" dirty="0">
                          <a:solidFill>
                            <a:srgbClr val="9B1C1C"/>
                          </a:solidFill>
                          <a:latin typeface="Calibri" pitchFamily="34" charset="0"/>
                          <a:ea typeface="Calibri" pitchFamily="34" charset="-122"/>
                          <a:cs typeface="Calibri" pitchFamily="34" charset="-120"/>
                        </a:rPr>
                        <a:t>4.9%</a:t>
                      </a:r>
                      <a:endParaRPr lang="en-US" sz="1400" dirty="0">
                        <a:latin typeface="Calibri" charset="0"/>
                        <a:ea typeface="Calibri" charset="0"/>
                        <a:cs typeface="Calibri"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DE2E2"/>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12.4%</a:t>
                      </a:r>
                      <a:endParaRPr lang="en-US" sz="1400" dirty="0">
                        <a:latin typeface="Calibri" charset="0"/>
                        <a:ea typeface="Calibri" charset="0"/>
                        <a:cs typeface="Calibri"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EF0CF"/>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15.6%</a:t>
                      </a:r>
                      <a:endParaRPr lang="en-US" sz="1400" dirty="0">
                        <a:latin typeface="Calibri" charset="0"/>
                        <a:ea typeface="Calibri" charset="0"/>
                        <a:cs typeface="Calibri"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CF3E3"/>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11.1%</a:t>
                      </a:r>
                      <a:endParaRPr lang="en-US" sz="1400" dirty="0">
                        <a:latin typeface="Calibri" charset="0"/>
                        <a:ea typeface="Calibri" charset="0"/>
                        <a:cs typeface="Calibri"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EF0CF"/>
                    </a:solidFill>
                  </a:tcPr>
                </a:tc>
              </a:tr>
              <a:tr h="566928">
                <a:tc>
                  <a:txBody>
                    <a:bodyPr/>
                    <a:lstStyle/>
                    <a:p>
                      <a:pPr algn="l" indent="0" marL="0">
                        <a:buNone/>
                      </a:pPr>
                      <a:r>
                        <a:rPr lang="en-US" sz="1400" b="1" dirty="0">
                          <a:solidFill>
                            <a:srgbClr val="1F2937"/>
                          </a:solidFill>
                          <a:latin typeface="Calibri" pitchFamily="34" charset="0"/>
                          <a:ea typeface="Calibri" pitchFamily="34" charset="-122"/>
                          <a:cs typeface="Calibri" pitchFamily="34" charset="-120"/>
                        </a:rPr>
                        <a:t>South</a:t>
                      </a:r>
                      <a:endParaRPr lang="en-US" sz="1400" dirty="0">
                        <a:latin typeface="Calibri" charset="0"/>
                        <a:ea typeface="Calibri" charset="0"/>
                        <a:cs typeface="Calibri"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a:txBody>
                    <a:bodyPr/>
                    <a:lstStyle/>
                    <a:p>
                      <a:pPr algn="ctr" indent="0" marL="0">
                        <a:buNone/>
                      </a:pPr>
                      <a:r>
                        <a:rPr lang="en-US" sz="1400" b="1" dirty="0">
                          <a:solidFill>
                            <a:srgbClr val="9B1C1C"/>
                          </a:solidFill>
                          <a:latin typeface="Calibri" pitchFamily="34" charset="0"/>
                          <a:ea typeface="Calibri" pitchFamily="34" charset="-122"/>
                          <a:cs typeface="Calibri" pitchFamily="34" charset="-120"/>
                        </a:rPr>
                        <a:t>5.1%</a:t>
                      </a:r>
                      <a:endParaRPr lang="en-US" sz="1400" dirty="0">
                        <a:latin typeface="Calibri" charset="0"/>
                        <a:ea typeface="Calibri" charset="0"/>
                        <a:cs typeface="Calibri"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DE2E2"/>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12.8%</a:t>
                      </a:r>
                      <a:endParaRPr lang="en-US" sz="1400" dirty="0">
                        <a:latin typeface="Calibri" charset="0"/>
                        <a:ea typeface="Calibri" charset="0"/>
                        <a:cs typeface="Calibri"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EF0CF"/>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15.9%</a:t>
                      </a:r>
                      <a:endParaRPr lang="en-US" sz="1400" dirty="0">
                        <a:latin typeface="Calibri" charset="0"/>
                        <a:ea typeface="Calibri" charset="0"/>
                        <a:cs typeface="Calibri"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CF3E3"/>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11.2%</a:t>
                      </a:r>
                      <a:endParaRPr lang="en-US" sz="1400" dirty="0">
                        <a:latin typeface="Calibri" charset="0"/>
                        <a:ea typeface="Calibri" charset="0"/>
                        <a:cs typeface="Calibri"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EF0CF"/>
                    </a:solidFill>
                  </a:tcPr>
                </a:tc>
              </a:tr>
              <a:tr h="566928">
                <a:tc>
                  <a:txBody>
                    <a:bodyPr/>
                    <a:lstStyle/>
                    <a:p>
                      <a:pPr algn="l" indent="0" marL="0">
                        <a:buNone/>
                      </a:pPr>
                      <a:r>
                        <a:rPr lang="en-US" sz="1400" b="1" dirty="0">
                          <a:solidFill>
                            <a:srgbClr val="1F2937"/>
                          </a:solidFill>
                          <a:latin typeface="Calibri" pitchFamily="34" charset="0"/>
                          <a:ea typeface="Calibri" pitchFamily="34" charset="-122"/>
                          <a:cs typeface="Calibri" pitchFamily="34" charset="-120"/>
                        </a:rPr>
                        <a:t>All regions</a:t>
                      </a:r>
                      <a:endParaRPr lang="en-US" sz="1400" dirty="0">
                        <a:latin typeface="Calibri" charset="0"/>
                        <a:ea typeface="Calibri" charset="0"/>
                        <a:cs typeface="Calibri"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3F6F9"/>
                    </a:solidFill>
                  </a:tcPr>
                </a:tc>
                <a:tc>
                  <a:txBody>
                    <a:bodyPr/>
                    <a:lstStyle/>
                    <a:p>
                      <a:pPr algn="ctr" indent="0" marL="0">
                        <a:buNone/>
                      </a:pPr>
                      <a:r>
                        <a:rPr lang="en-US" sz="1400" b="1" dirty="0">
                          <a:solidFill>
                            <a:srgbClr val="1F2937"/>
                          </a:solidFill>
                          <a:latin typeface="Calibri" pitchFamily="34" charset="0"/>
                          <a:ea typeface="Calibri" pitchFamily="34" charset="-122"/>
                          <a:cs typeface="Calibri" pitchFamily="34" charset="-120"/>
                        </a:rPr>
                        <a:t>6.6%</a:t>
                      </a:r>
                      <a:endParaRPr lang="en-US" sz="1400" dirty="0">
                        <a:latin typeface="Calibri" charset="0"/>
                        <a:ea typeface="Calibri" charset="0"/>
                        <a:cs typeface="Calibri"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DE2E2"/>
                    </a:solidFill>
                  </a:tcPr>
                </a:tc>
                <a:tc>
                  <a:txBody>
                    <a:bodyPr/>
                    <a:lstStyle/>
                    <a:p>
                      <a:pPr algn="ctr" indent="0" marL="0">
                        <a:buNone/>
                      </a:pPr>
                      <a:r>
                        <a:rPr lang="en-US" sz="1400" b="1" dirty="0">
                          <a:solidFill>
                            <a:srgbClr val="1F2937"/>
                          </a:solidFill>
                          <a:latin typeface="Calibri" pitchFamily="34" charset="0"/>
                          <a:ea typeface="Calibri" pitchFamily="34" charset="-122"/>
                          <a:cs typeface="Calibri" pitchFamily="34" charset="-120"/>
                        </a:rPr>
                        <a:t>12.8%</a:t>
                      </a:r>
                      <a:endParaRPr lang="en-US" sz="1400" dirty="0">
                        <a:latin typeface="Calibri" charset="0"/>
                        <a:ea typeface="Calibri" charset="0"/>
                        <a:cs typeface="Calibri"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EF0CF"/>
                    </a:solidFill>
                  </a:tcPr>
                </a:tc>
                <a:tc>
                  <a:txBody>
                    <a:bodyPr/>
                    <a:lstStyle/>
                    <a:p>
                      <a:pPr algn="ctr" indent="0" marL="0">
                        <a:buNone/>
                      </a:pPr>
                      <a:r>
                        <a:rPr lang="en-US" sz="1400" b="1" dirty="0">
                          <a:solidFill>
                            <a:srgbClr val="1F2937"/>
                          </a:solidFill>
                          <a:latin typeface="Calibri" pitchFamily="34" charset="0"/>
                          <a:ea typeface="Calibri" pitchFamily="34" charset="-122"/>
                          <a:cs typeface="Calibri" pitchFamily="34" charset="-120"/>
                        </a:rPr>
                        <a:t>15.9%</a:t>
                      </a:r>
                      <a:endParaRPr lang="en-US" sz="1400" dirty="0">
                        <a:latin typeface="Calibri" charset="0"/>
                        <a:ea typeface="Calibri" charset="0"/>
                        <a:cs typeface="Calibri"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CF3E3"/>
                    </a:solidFill>
                  </a:tcPr>
                </a:tc>
                <a:tc>
                  <a:txBody>
                    <a:bodyPr/>
                    <a:lstStyle/>
                    <a:p>
                      <a:pPr algn="ctr" indent="0" marL="0">
                        <a:buNone/>
                      </a:pPr>
                      <a:r>
                        <a:rPr lang="en-US" sz="1400" b="1" dirty="0">
                          <a:solidFill>
                            <a:srgbClr val="1F2937"/>
                          </a:solidFill>
                          <a:latin typeface="Calibri" pitchFamily="34" charset="0"/>
                          <a:ea typeface="Calibri" pitchFamily="34" charset="-122"/>
                          <a:cs typeface="Calibri" pitchFamily="34" charset="-120"/>
                        </a:rPr>
                        <a:t>11.8%</a:t>
                      </a:r>
                      <a:endParaRPr lang="en-US" sz="1400" dirty="0">
                        <a:latin typeface="Calibri" charset="0"/>
                        <a:ea typeface="Calibri" charset="0"/>
                        <a:cs typeface="Calibri"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EF0CF"/>
                    </a:solidFill>
                  </a:tcPr>
                </a:tc>
              </a:tr>
            </a:tbl>
          </a:graphicData>
        </a:graphic>
      </p:graphicFrame>
      <p:sp>
        <p:nvSpPr>
          <p:cNvPr id="9" name="Text 6"/>
          <p:cNvSpPr txBox="1"/>
          <p:nvPr/>
        </p:nvSpPr>
        <p:spPr>
          <a:xfrm>
            <a:off x="822960" y="5486400"/>
            <a:ext cx="6400800" cy="274320"/>
          </a:xfrm>
          <a:prstGeom prst="rect">
            <a:avLst/>
          </a:prstGeom>
          <a:noFill/>
          <a:ln/>
        </p:spPr>
        <p:txBody>
          <a:bodyPr wrap="square" lIns="0" tIns="0" rIns="0" bIns="0" rtlCol="0" anchor="t"/>
          <a:lstStyle/>
          <a:p>
            <a:pPr indent="0" marL="0">
              <a:buNone/>
            </a:pPr>
            <a:r>
              <a:rPr lang="en-US" sz="1100" i="1" dirty="0">
                <a:solidFill>
                  <a:srgbClr val="64748B"/>
                </a:solidFill>
                <a:latin typeface="Calibri" pitchFamily="34" charset="0"/>
                <a:ea typeface="Calibri" pitchFamily="34" charset="-122"/>
                <a:cs typeface="Calibri" pitchFamily="34" charset="-120"/>
              </a:rPr>
              <a:t>Red &lt; 8%   |   Amber 8–13%   |   Green &gt; 13%</a:t>
            </a:r>
            <a:endParaRPr lang="en-US" sz="1100" dirty="0"/>
          </a:p>
        </p:txBody>
      </p:sp>
      <p:sp>
        <p:nvSpPr>
          <p:cNvPr id="10" name="Shape 7"/>
          <p:cNvSpPr/>
          <p:nvPr/>
        </p:nvSpPr>
        <p:spPr>
          <a:xfrm>
            <a:off x="7772400" y="1371600"/>
            <a:ext cx="3867912" cy="1463040"/>
          </a:xfrm>
          <a:prstGeom prst="roundRect">
            <a:avLst>
              <a:gd name="adj" fmla="val 5000"/>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11" name="Shape 8"/>
          <p:cNvSpPr/>
          <p:nvPr/>
        </p:nvSpPr>
        <p:spPr>
          <a:xfrm>
            <a:off x="8001000" y="1783080"/>
            <a:ext cx="594360" cy="594360"/>
          </a:xfrm>
          <a:prstGeom prst="ellipse">
            <a:avLst/>
          </a:prstGeom>
          <a:solidFill>
            <a:srgbClr val="DC2626"/>
          </a:solidFill>
          <a:ln w="6350">
            <a:solidFill>
              <a:srgbClr val="DC2626"/>
            </a:solidFill>
            <a:prstDash val="solid"/>
          </a:ln>
        </p:spPr>
      </p:sp>
      <p:pic>
        <p:nvPicPr>
          <p:cNvPr id="12" name="Image 0" descr="preencoded.png">    </p:cNvPr>
          <p:cNvPicPr>
            <a:picLocks noChangeAspect="1"/>
          </p:cNvPicPr>
          <p:nvPr/>
        </p:nvPicPr>
        <p:blipFill>
          <a:blip r:embed="rId1"/>
          <a:stretch>
            <a:fillRect/>
          </a:stretch>
        </p:blipFill>
        <p:spPr>
          <a:xfrm>
            <a:off x="8155534" y="1937614"/>
            <a:ext cx="285293" cy="285293"/>
          </a:xfrm>
          <a:prstGeom prst="rect">
            <a:avLst/>
          </a:prstGeom>
        </p:spPr>
      </p:pic>
      <p:sp>
        <p:nvSpPr>
          <p:cNvPr id="13" name="Text 9"/>
          <p:cNvSpPr txBox="1"/>
          <p:nvPr/>
        </p:nvSpPr>
        <p:spPr>
          <a:xfrm>
            <a:off x="8823960" y="1554480"/>
            <a:ext cx="2651760" cy="109728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Furniture margin is 6.6% vs. 15.9% for Technology, despite similar sales.</a:t>
            </a:r>
            <a:endParaRPr lang="en-US" sz="1300" dirty="0"/>
          </a:p>
        </p:txBody>
      </p:sp>
      <p:sp>
        <p:nvSpPr>
          <p:cNvPr id="14" name="Shape 10"/>
          <p:cNvSpPr/>
          <p:nvPr/>
        </p:nvSpPr>
        <p:spPr>
          <a:xfrm>
            <a:off x="7772400" y="3017520"/>
            <a:ext cx="3867912" cy="1463040"/>
          </a:xfrm>
          <a:prstGeom prst="roundRect">
            <a:avLst>
              <a:gd name="adj" fmla="val 5000"/>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15" name="Shape 11"/>
          <p:cNvSpPr/>
          <p:nvPr/>
        </p:nvSpPr>
        <p:spPr>
          <a:xfrm>
            <a:off x="8001000" y="3429000"/>
            <a:ext cx="594360" cy="594360"/>
          </a:xfrm>
          <a:prstGeom prst="ellipse">
            <a:avLst/>
          </a:prstGeom>
          <a:solidFill>
            <a:srgbClr val="DC2626"/>
          </a:solidFill>
          <a:ln w="6350">
            <a:solidFill>
              <a:srgbClr val="DC2626"/>
            </a:solidFill>
            <a:prstDash val="solid"/>
          </a:ln>
        </p:spPr>
      </p:sp>
      <p:pic>
        <p:nvPicPr>
          <p:cNvPr id="16" name="Image 1" descr="preencoded.png">    </p:cNvPr>
          <p:cNvPicPr>
            <a:picLocks noChangeAspect="1"/>
          </p:cNvPicPr>
          <p:nvPr/>
        </p:nvPicPr>
        <p:blipFill>
          <a:blip r:embed="rId2"/>
          <a:stretch>
            <a:fillRect/>
          </a:stretch>
        </p:blipFill>
        <p:spPr>
          <a:xfrm>
            <a:off x="8155534" y="3583534"/>
            <a:ext cx="285293" cy="285293"/>
          </a:xfrm>
          <a:prstGeom prst="rect">
            <a:avLst/>
          </a:prstGeom>
        </p:spPr>
      </p:pic>
      <p:sp>
        <p:nvSpPr>
          <p:cNvPr id="17" name="Text 12"/>
          <p:cNvSpPr txBox="1"/>
          <p:nvPr/>
        </p:nvSpPr>
        <p:spPr>
          <a:xfrm>
            <a:off x="8823960" y="3200400"/>
            <a:ext cx="2651760" cy="109728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In Central and South, Furniture margin fell from 8.9% (FY22) to 2.2% (FY25).</a:t>
            </a:r>
            <a:endParaRPr lang="en-US" sz="1300" dirty="0"/>
          </a:p>
        </p:txBody>
      </p:sp>
      <p:sp>
        <p:nvSpPr>
          <p:cNvPr id="18" name="Shape 13"/>
          <p:cNvSpPr/>
          <p:nvPr/>
        </p:nvSpPr>
        <p:spPr>
          <a:xfrm>
            <a:off x="7772400" y="4663440"/>
            <a:ext cx="3867912" cy="1463040"/>
          </a:xfrm>
          <a:prstGeom prst="roundRect">
            <a:avLst>
              <a:gd name="adj" fmla="val 5000"/>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19" name="Shape 14"/>
          <p:cNvSpPr/>
          <p:nvPr/>
        </p:nvSpPr>
        <p:spPr>
          <a:xfrm>
            <a:off x="8001000" y="5074920"/>
            <a:ext cx="594360" cy="594360"/>
          </a:xfrm>
          <a:prstGeom prst="ellipse">
            <a:avLst/>
          </a:prstGeom>
          <a:solidFill>
            <a:srgbClr val="0E7C86"/>
          </a:solidFill>
          <a:ln w="6350">
            <a:solidFill>
              <a:srgbClr val="0E7C86"/>
            </a:solidFill>
            <a:prstDash val="solid"/>
          </a:ln>
        </p:spPr>
      </p:sp>
      <p:pic>
        <p:nvPicPr>
          <p:cNvPr id="20" name="Image 2" descr="preencoded.png">    </p:cNvPr>
          <p:cNvPicPr>
            <a:picLocks noChangeAspect="1"/>
          </p:cNvPicPr>
          <p:nvPr/>
        </p:nvPicPr>
        <p:blipFill>
          <a:blip r:embed="rId3"/>
          <a:stretch>
            <a:fillRect/>
          </a:stretch>
        </p:blipFill>
        <p:spPr>
          <a:xfrm>
            <a:off x="8155534" y="5229454"/>
            <a:ext cx="285293" cy="285293"/>
          </a:xfrm>
          <a:prstGeom prst="rect">
            <a:avLst/>
          </a:prstGeom>
        </p:spPr>
      </p:pic>
      <p:sp>
        <p:nvSpPr>
          <p:cNvPr id="21" name="Text 15"/>
          <p:cNvSpPr txBox="1"/>
          <p:nvPr/>
        </p:nvSpPr>
        <p:spPr>
          <a:xfrm>
            <a:off x="8823960" y="4846320"/>
            <a:ext cx="2651760" cy="109728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Office Supplies and Technology are stable, so the problem is specific, not company-wide.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6F9"/>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28600"/>
          </a:xfrm>
          <a:prstGeom prst="rect">
            <a:avLst/>
          </a:prstGeom>
          <a:noFill/>
          <a:ln/>
        </p:spPr>
        <p:txBody>
          <a:bodyPr wrap="square" lIns="0" tIns="0" rIns="0" bIns="0" rtlCol="0" anchor="t"/>
          <a:lstStyle/>
          <a:p>
            <a:pPr indent="0" marL="0">
              <a:buNone/>
            </a:pPr>
            <a:r>
              <a:rPr lang="en-US" sz="1100" b="1" spc="300" kern="0" dirty="0">
                <a:solidFill>
                  <a:srgbClr val="0E7C86"/>
                </a:solidFill>
                <a:latin typeface="Calibri" pitchFamily="34" charset="0"/>
                <a:ea typeface="Calibri" pitchFamily="34" charset="-122"/>
                <a:cs typeface="Calibri" pitchFamily="34" charset="-120"/>
              </a:rPr>
              <a:t>6  WHY DID IT HAPPEN?</a:t>
            </a:r>
            <a:endParaRPr lang="en-US" sz="1100" dirty="0"/>
          </a:p>
        </p:txBody>
      </p:sp>
      <p:sp>
        <p:nvSpPr>
          <p:cNvPr id="3" name="Text 1"/>
          <p:cNvSpPr txBox="1"/>
          <p:nvPr/>
        </p:nvSpPr>
        <p:spPr>
          <a:xfrm>
            <a:off x="548640" y="530352"/>
            <a:ext cx="11064240" cy="54864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Risk and delivery problems sit in the same regions</a:t>
            </a:r>
            <a:endParaRPr lang="en-US" sz="2800" dirty="0"/>
          </a:p>
        </p:txBody>
      </p:sp>
      <p:sp>
        <p:nvSpPr>
          <p:cNvPr id="4" name="Text 2"/>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Executive Business Intelligence Dashboard</a:t>
            </a:r>
            <a:endParaRPr lang="en-US" sz="1000" dirty="0"/>
          </a:p>
        </p:txBody>
      </p:sp>
      <p:sp>
        <p:nvSpPr>
          <p:cNvPr id="5" name="Text 3"/>
          <p:cNvSpPr txBox="1"/>
          <p:nvPr/>
        </p:nvSpPr>
        <p:spPr>
          <a:xfrm>
            <a:off x="11091672" y="6510528"/>
            <a:ext cx="548640" cy="228600"/>
          </a:xfrm>
          <a:prstGeom prst="rect">
            <a:avLst/>
          </a:prstGeom>
          <a:noFill/>
          <a:ln/>
        </p:spPr>
        <p:txBody>
          <a:bodyPr wrap="square" lIns="0" tIns="0" rIns="0" bIns="0" rtlCol="0" anchor="t"/>
          <a:lstStyle/>
          <a:p>
            <a:pPr algn="r" indent="0" marL="0">
              <a:buNone/>
            </a:pPr>
            <a:r>
              <a:rPr lang="en-US" sz="1000" dirty="0">
                <a:solidFill>
                  <a:srgbClr val="64748B"/>
                </a:solidFill>
                <a:latin typeface="Calibri" pitchFamily="34" charset="0"/>
                <a:ea typeface="Calibri" pitchFamily="34" charset="-122"/>
                <a:cs typeface="Calibri" pitchFamily="34" charset="-120"/>
              </a:rPr>
              <a:t>12</a:t>
            </a:r>
            <a:endParaRPr lang="en-US" sz="1000" dirty="0"/>
          </a:p>
        </p:txBody>
      </p:sp>
      <p:sp>
        <p:nvSpPr>
          <p:cNvPr id="6" name="Shape 4"/>
          <p:cNvSpPr/>
          <p:nvPr/>
        </p:nvSpPr>
        <p:spPr>
          <a:xfrm>
            <a:off x="548640" y="1371600"/>
            <a:ext cx="5577840" cy="3794760"/>
          </a:xfrm>
          <a:prstGeom prst="roundRect">
            <a:avLst>
              <a:gd name="adj" fmla="val 1928"/>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7" name="Text 5"/>
          <p:cNvSpPr txBox="1"/>
          <p:nvPr/>
        </p:nvSpPr>
        <p:spPr>
          <a:xfrm>
            <a:off x="777240" y="1508760"/>
            <a:ext cx="5120640" cy="274320"/>
          </a:xfrm>
          <a:prstGeom prst="rect">
            <a:avLst/>
          </a:prstGeom>
          <a:noFill/>
          <a:ln/>
        </p:spPr>
        <p:txBody>
          <a:bodyPr wrap="square" lIns="0" tIns="0" rIns="0" bIns="0" rtlCol="0" anchor="t"/>
          <a:lstStyle/>
          <a:p>
            <a:pPr indent="0" marL="0">
              <a:buNone/>
            </a:pPr>
            <a:r>
              <a:rPr lang="en-US" sz="1500" b="1" dirty="0">
                <a:solidFill>
                  <a:srgbClr val="0B1F33"/>
                </a:solidFill>
                <a:latin typeface="Calibri" pitchFamily="34" charset="0"/>
                <a:ea typeface="Calibri" pitchFamily="34" charset="-122"/>
                <a:cs typeface="Calibri" pitchFamily="34" charset="-120"/>
              </a:rPr>
              <a:t>On-time delivery % by region (FY25), SLA 85%</a:t>
            </a:r>
            <a:endParaRPr lang="en-US" sz="1500" dirty="0"/>
          </a:p>
        </p:txBody>
      </p:sp>
      <p:graphicFrame>
        <p:nvGraphicFramePr>
          <p:cNvPr id="8" name="Chart 0" descr=""/>
          <p:cNvGraphicFramePr/>
          <p:nvPr/>
        </p:nvGraphicFramePr>
        <p:xfrm>
          <a:off x="685800" y="1828800"/>
          <a:ext cx="5303520" cy="324612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6355080" y="1371600"/>
            <a:ext cx="5285232" cy="3794760"/>
          </a:xfrm>
          <a:prstGeom prst="roundRect">
            <a:avLst>
              <a:gd name="adj" fmla="val 1928"/>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10" name="Text 7"/>
          <p:cNvSpPr txBox="1"/>
          <p:nvPr/>
        </p:nvSpPr>
        <p:spPr>
          <a:xfrm>
            <a:off x="6583680" y="1508760"/>
            <a:ext cx="4846320" cy="274320"/>
          </a:xfrm>
          <a:prstGeom prst="rect">
            <a:avLst/>
          </a:prstGeom>
          <a:noFill/>
          <a:ln/>
        </p:spPr>
        <p:txBody>
          <a:bodyPr wrap="square" lIns="0" tIns="0" rIns="0" bIns="0" rtlCol="0" anchor="t"/>
          <a:lstStyle/>
          <a:p>
            <a:pPr indent="0" marL="0">
              <a:buNone/>
            </a:pPr>
            <a:r>
              <a:rPr lang="en-US" sz="1500" b="1" dirty="0">
                <a:solidFill>
                  <a:srgbClr val="0B1F33"/>
                </a:solidFill>
                <a:latin typeface="Calibri" pitchFamily="34" charset="0"/>
                <a:ea typeface="Calibri" pitchFamily="34" charset="-122"/>
                <a:cs typeface="Calibri" pitchFamily="34" charset="-120"/>
              </a:rPr>
              <a:t>Loss-making orders (% of all orders)</a:t>
            </a:r>
            <a:endParaRPr lang="en-US" sz="1500" dirty="0"/>
          </a:p>
        </p:txBody>
      </p:sp>
      <p:graphicFrame>
        <p:nvGraphicFramePr>
          <p:cNvPr id="11" name="Chart 1" descr=""/>
          <p:cNvGraphicFramePr/>
          <p:nvPr/>
        </p:nvGraphicFramePr>
        <p:xfrm>
          <a:off x="6492240" y="1828800"/>
          <a:ext cx="5029200" cy="3246120"/>
        </p:xfrm>
        <a:graphic xmlns:a="http://schemas.openxmlformats.org/drawingml/2006/main">
          <a:graphicData uri="http://schemas.openxmlformats.org/drawingml/2006/chart">
            <c:chart xmlns:c="http://schemas.openxmlformats.org/drawingml/2006/chart" r:id="rId2"/>
          </a:graphicData>
        </a:graphic>
      </p:graphicFrame>
      <p:sp>
        <p:nvSpPr>
          <p:cNvPr id="12" name="Shape 8"/>
          <p:cNvSpPr/>
          <p:nvPr/>
        </p:nvSpPr>
        <p:spPr>
          <a:xfrm>
            <a:off x="548640" y="5440680"/>
            <a:ext cx="11091672" cy="777240"/>
          </a:xfrm>
          <a:prstGeom prst="roundRect">
            <a:avLst>
              <a:gd name="adj" fmla="val 9412"/>
            </a:avLst>
          </a:prstGeom>
          <a:solidFill>
            <a:srgbClr val="0B1F33"/>
          </a:solidFill>
          <a:ln w="12700">
            <a:solidFill>
              <a:srgbClr val="0B1F33"/>
            </a:solidFill>
            <a:prstDash val="solid"/>
          </a:ln>
        </p:spPr>
      </p:sp>
      <p:sp>
        <p:nvSpPr>
          <p:cNvPr id="13" name="Text 9"/>
          <p:cNvSpPr txBox="1"/>
          <p:nvPr/>
        </p:nvSpPr>
        <p:spPr>
          <a:xfrm>
            <a:off x="822960" y="5440680"/>
            <a:ext cx="10607040" cy="77724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Central and South ship in 5.5 and 5.2 days on average vs. 3.7 in the West. Slow delivery, deep discounts and thin margins cluster in the same regions.</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6F9"/>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28600"/>
          </a:xfrm>
          <a:prstGeom prst="rect">
            <a:avLst/>
          </a:prstGeom>
          <a:noFill/>
          <a:ln/>
        </p:spPr>
        <p:txBody>
          <a:bodyPr wrap="square" lIns="0" tIns="0" rIns="0" bIns="0" rtlCol="0" anchor="t"/>
          <a:lstStyle/>
          <a:p>
            <a:pPr indent="0" marL="0">
              <a:buNone/>
            </a:pPr>
            <a:r>
              <a:rPr lang="en-US" sz="1100" b="1" spc="300" kern="0" dirty="0">
                <a:solidFill>
                  <a:srgbClr val="0E7C86"/>
                </a:solidFill>
                <a:latin typeface="Calibri" pitchFamily="34" charset="0"/>
                <a:ea typeface="Calibri" pitchFamily="34" charset="-122"/>
                <a:cs typeface="Calibri" pitchFamily="34" charset="-120"/>
              </a:rPr>
              <a:t>STORYTELLING</a:t>
            </a:r>
            <a:endParaRPr lang="en-US" sz="1100" dirty="0"/>
          </a:p>
        </p:txBody>
      </p:sp>
      <p:sp>
        <p:nvSpPr>
          <p:cNvPr id="3" name="Text 1"/>
          <p:cNvSpPr txBox="1"/>
          <p:nvPr/>
        </p:nvSpPr>
        <p:spPr>
          <a:xfrm>
            <a:off x="548640" y="530352"/>
            <a:ext cx="11064240" cy="54864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The story in one page: what, why and what next</a:t>
            </a:r>
            <a:endParaRPr lang="en-US" sz="2800" dirty="0"/>
          </a:p>
        </p:txBody>
      </p:sp>
      <p:sp>
        <p:nvSpPr>
          <p:cNvPr id="4" name="Text 2"/>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Executive Business Intelligence Dashboard</a:t>
            </a:r>
            <a:endParaRPr lang="en-US" sz="1000" dirty="0"/>
          </a:p>
        </p:txBody>
      </p:sp>
      <p:sp>
        <p:nvSpPr>
          <p:cNvPr id="5" name="Text 3"/>
          <p:cNvSpPr txBox="1"/>
          <p:nvPr/>
        </p:nvSpPr>
        <p:spPr>
          <a:xfrm>
            <a:off x="11091672" y="6510528"/>
            <a:ext cx="548640" cy="228600"/>
          </a:xfrm>
          <a:prstGeom prst="rect">
            <a:avLst/>
          </a:prstGeom>
          <a:noFill/>
          <a:ln/>
        </p:spPr>
        <p:txBody>
          <a:bodyPr wrap="square" lIns="0" tIns="0" rIns="0" bIns="0" rtlCol="0" anchor="t"/>
          <a:lstStyle/>
          <a:p>
            <a:pPr algn="r" indent="0" marL="0">
              <a:buNone/>
            </a:pPr>
            <a:r>
              <a:rPr lang="en-US" sz="1000" dirty="0">
                <a:solidFill>
                  <a:srgbClr val="64748B"/>
                </a:solidFill>
                <a:latin typeface="Calibri" pitchFamily="34" charset="0"/>
                <a:ea typeface="Calibri" pitchFamily="34" charset="-122"/>
                <a:cs typeface="Calibri" pitchFamily="34" charset="-120"/>
              </a:rPr>
              <a:t>13</a:t>
            </a:r>
            <a:endParaRPr lang="en-US" sz="1000" dirty="0"/>
          </a:p>
        </p:txBody>
      </p:sp>
      <p:sp>
        <p:nvSpPr>
          <p:cNvPr id="6" name="Shape 4"/>
          <p:cNvSpPr/>
          <p:nvPr/>
        </p:nvSpPr>
        <p:spPr>
          <a:xfrm>
            <a:off x="548640" y="1371600"/>
            <a:ext cx="3593592" cy="4846320"/>
          </a:xfrm>
          <a:prstGeom prst="roundRect">
            <a:avLst>
              <a:gd name="adj" fmla="val 2036"/>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7" name="Shape 5"/>
          <p:cNvSpPr/>
          <p:nvPr/>
        </p:nvSpPr>
        <p:spPr>
          <a:xfrm>
            <a:off x="822960" y="1645920"/>
            <a:ext cx="685800" cy="685800"/>
          </a:xfrm>
          <a:prstGeom prst="ellipse">
            <a:avLst/>
          </a:prstGeom>
          <a:solidFill>
            <a:srgbClr val="0E7C86"/>
          </a:solidFill>
          <a:ln w="6350">
            <a:solidFill>
              <a:srgbClr val="0E7C86"/>
            </a:solidFill>
            <a:prstDash val="solid"/>
          </a:ln>
        </p:spPr>
      </p:sp>
      <p:pic>
        <p:nvPicPr>
          <p:cNvPr id="8" name="Image 0" descr="preencoded.png">    </p:cNvPr>
          <p:cNvPicPr>
            <a:picLocks noChangeAspect="1"/>
          </p:cNvPicPr>
          <p:nvPr/>
        </p:nvPicPr>
        <p:blipFill>
          <a:blip r:embed="rId1"/>
          <a:stretch>
            <a:fillRect/>
          </a:stretch>
        </p:blipFill>
        <p:spPr>
          <a:xfrm>
            <a:off x="1001268" y="1824228"/>
            <a:ext cx="329184" cy="329184"/>
          </a:xfrm>
          <a:prstGeom prst="rect">
            <a:avLst/>
          </a:prstGeom>
        </p:spPr>
      </p:pic>
      <p:sp>
        <p:nvSpPr>
          <p:cNvPr id="9" name="Text 6"/>
          <p:cNvSpPr txBox="1"/>
          <p:nvPr/>
        </p:nvSpPr>
        <p:spPr>
          <a:xfrm>
            <a:off x="1645920" y="1645920"/>
            <a:ext cx="2313432" cy="685800"/>
          </a:xfrm>
          <a:prstGeom prst="rect">
            <a:avLst/>
          </a:prstGeom>
          <a:noFill/>
          <a:ln/>
        </p:spPr>
        <p:txBody>
          <a:bodyPr wrap="square" lIns="0" tIns="0" rIns="0" bIns="0" rtlCol="0" anchor="ctr"/>
          <a:lstStyle/>
          <a:p>
            <a:pPr indent="0" marL="0">
              <a:buNone/>
            </a:pPr>
            <a:r>
              <a:rPr lang="en-US" sz="1700" b="1" spc="100" kern="0" dirty="0">
                <a:solidFill>
                  <a:srgbClr val="0B1F33"/>
                </a:solidFill>
                <a:latin typeface="Calibri" pitchFamily="34" charset="0"/>
                <a:ea typeface="Calibri" pitchFamily="34" charset="-122"/>
                <a:cs typeface="Calibri" pitchFamily="34" charset="-120"/>
              </a:rPr>
              <a:t>WHAT HAPPENED</a:t>
            </a:r>
            <a:endParaRPr lang="en-US" sz="1700" dirty="0"/>
          </a:p>
        </p:txBody>
      </p:sp>
      <p:sp>
        <p:nvSpPr>
          <p:cNvPr id="10" name="Text 7"/>
          <p:cNvSpPr txBox="1"/>
          <p:nvPr/>
        </p:nvSpPr>
        <p:spPr>
          <a:xfrm>
            <a:off x="822960" y="2606040"/>
            <a:ext cx="3044952" cy="21031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F2937"/>
                </a:solidFill>
                <a:latin typeface="Calibri" pitchFamily="34" charset="0"/>
                <a:ea typeface="Calibri" pitchFamily="34" charset="-122"/>
                <a:cs typeface="Calibri" pitchFamily="34" charset="-120"/>
              </a:rPr>
              <a:t>Revenue +93% since FY22</a:t>
            </a:r>
            <a:endParaRPr lang="en-US" sz="1600" dirty="0"/>
          </a:p>
          <a:p>
            <a:pPr marL="342900" indent="-342900">
              <a:spcAft>
                <a:spcPts val="1000"/>
              </a:spcAft>
              <a:buSzPct val="100000"/>
              <a:buChar char="•"/>
            </a:pPr>
            <a:r>
              <a:rPr lang="en-US" sz="1600" dirty="0">
                <a:solidFill>
                  <a:srgbClr val="1F2937"/>
                </a:solidFill>
                <a:latin typeface="Calibri" pitchFamily="34" charset="0"/>
                <a:ea typeface="Calibri" pitchFamily="34" charset="-122"/>
                <a:cs typeface="Calibri" pitchFamily="34" charset="-120"/>
              </a:rPr>
              <a:t>Profit only +68%</a:t>
            </a:r>
            <a:endParaRPr lang="en-US" sz="1600" dirty="0"/>
          </a:p>
          <a:p>
            <a:pPr marL="342900" indent="-342900">
              <a:spcAft>
                <a:spcPts val="1000"/>
              </a:spcAft>
              <a:buSzPct val="100000"/>
              <a:buChar char="•"/>
            </a:pPr>
            <a:r>
              <a:rPr lang="en-US" sz="1600" dirty="0">
                <a:solidFill>
                  <a:srgbClr val="1F2937"/>
                </a:solidFill>
                <a:latin typeface="Calibri" pitchFamily="34" charset="0"/>
                <a:ea typeface="Calibri" pitchFamily="34" charset="-122"/>
                <a:cs typeface="Calibri" pitchFamily="34" charset="-120"/>
              </a:rPr>
              <a:t>Margin down from 13.0% to 11.3%</a:t>
            </a:r>
            <a:endParaRPr lang="en-US" sz="1600" dirty="0"/>
          </a:p>
          <a:p>
            <a:pPr marL="342900" indent="-342900">
              <a:spcAft>
                <a:spcPts val="1000"/>
              </a:spcAft>
              <a:buSzPct val="100000"/>
              <a:buChar char="•"/>
            </a:pPr>
            <a:r>
              <a:rPr lang="en-US" sz="1600" dirty="0">
                <a:solidFill>
                  <a:srgbClr val="1F2937"/>
                </a:solidFill>
                <a:latin typeface="Calibri" pitchFamily="34" charset="0"/>
                <a:ea typeface="Calibri" pitchFamily="34" charset="-122"/>
                <a:cs typeface="Calibri" pitchFamily="34" charset="-120"/>
              </a:rPr>
              <a:t>Loss-making orders up to 17%</a:t>
            </a:r>
            <a:endParaRPr lang="en-US" sz="1600" dirty="0"/>
          </a:p>
        </p:txBody>
      </p:sp>
      <p:sp>
        <p:nvSpPr>
          <p:cNvPr id="11" name="Shape 8"/>
          <p:cNvSpPr/>
          <p:nvPr/>
        </p:nvSpPr>
        <p:spPr>
          <a:xfrm>
            <a:off x="777240" y="4892040"/>
            <a:ext cx="3136392" cy="1097280"/>
          </a:xfrm>
          <a:prstGeom prst="roundRect">
            <a:avLst>
              <a:gd name="adj" fmla="val 6667"/>
            </a:avLst>
          </a:prstGeom>
          <a:solidFill>
            <a:srgbClr val="F3F6F9"/>
          </a:solidFill>
          <a:ln w="12700">
            <a:solidFill>
              <a:srgbClr val="F3F6F9"/>
            </a:solidFill>
            <a:prstDash val="solid"/>
          </a:ln>
        </p:spPr>
      </p:sp>
      <p:sp>
        <p:nvSpPr>
          <p:cNvPr id="12" name="Text 9"/>
          <p:cNvSpPr txBox="1"/>
          <p:nvPr/>
        </p:nvSpPr>
        <p:spPr>
          <a:xfrm>
            <a:off x="777240" y="4956048"/>
            <a:ext cx="3136392" cy="594360"/>
          </a:xfrm>
          <a:prstGeom prst="rect">
            <a:avLst/>
          </a:prstGeom>
          <a:noFill/>
          <a:ln/>
        </p:spPr>
        <p:txBody>
          <a:bodyPr wrap="square" lIns="0" tIns="0" rIns="0" bIns="0" rtlCol="0" anchor="ctr"/>
          <a:lstStyle/>
          <a:p>
            <a:pPr algn="ctr" indent="0" marL="0">
              <a:buNone/>
            </a:pPr>
            <a:r>
              <a:rPr lang="en-US" sz="3000" b="1" dirty="0">
                <a:solidFill>
                  <a:srgbClr val="0E7C86"/>
                </a:solidFill>
                <a:latin typeface="Cambria" pitchFamily="34" charset="0"/>
                <a:ea typeface="Cambria" pitchFamily="34" charset="-122"/>
                <a:cs typeface="Cambria" pitchFamily="34" charset="-120"/>
              </a:rPr>
              <a:t>-1.7 pts</a:t>
            </a:r>
            <a:endParaRPr lang="en-US" sz="3000" dirty="0"/>
          </a:p>
        </p:txBody>
      </p:sp>
      <p:sp>
        <p:nvSpPr>
          <p:cNvPr id="13" name="Text 10"/>
          <p:cNvSpPr txBox="1"/>
          <p:nvPr/>
        </p:nvSpPr>
        <p:spPr>
          <a:xfrm>
            <a:off x="868680" y="5532120"/>
            <a:ext cx="2953512" cy="411480"/>
          </a:xfrm>
          <a:prstGeom prst="rect">
            <a:avLst/>
          </a:prstGeom>
          <a:noFill/>
          <a:ln/>
        </p:spPr>
        <p:txBody>
          <a:bodyPr wrap="square" lIns="0" tIns="0" rIns="0" bIns="0" rtlCol="0" anchor="t"/>
          <a:lstStyle/>
          <a:p>
            <a:pPr algn="ctr" indent="0" marL="0">
              <a:buNone/>
            </a:pPr>
            <a:r>
              <a:rPr lang="en-US" sz="1200" dirty="0">
                <a:solidFill>
                  <a:srgbClr val="64748B"/>
                </a:solidFill>
                <a:latin typeface="Calibri" pitchFamily="34" charset="0"/>
                <a:ea typeface="Calibri" pitchFamily="34" charset="-122"/>
                <a:cs typeface="Calibri" pitchFamily="34" charset="-120"/>
              </a:rPr>
              <a:t>profit margin since FY22</a:t>
            </a:r>
            <a:endParaRPr lang="en-US" sz="1200" dirty="0"/>
          </a:p>
        </p:txBody>
      </p:sp>
      <p:sp>
        <p:nvSpPr>
          <p:cNvPr id="14" name="Shape 11"/>
          <p:cNvSpPr/>
          <p:nvPr/>
        </p:nvSpPr>
        <p:spPr>
          <a:xfrm>
            <a:off x="4297680" y="1371600"/>
            <a:ext cx="3593592" cy="4846320"/>
          </a:xfrm>
          <a:prstGeom prst="roundRect">
            <a:avLst>
              <a:gd name="adj" fmla="val 2036"/>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15" name="Shape 12"/>
          <p:cNvSpPr/>
          <p:nvPr/>
        </p:nvSpPr>
        <p:spPr>
          <a:xfrm>
            <a:off x="4572000" y="1645920"/>
            <a:ext cx="685800" cy="685800"/>
          </a:xfrm>
          <a:prstGeom prst="ellipse">
            <a:avLst/>
          </a:prstGeom>
          <a:solidFill>
            <a:srgbClr val="DC2626"/>
          </a:solidFill>
          <a:ln w="6350">
            <a:solidFill>
              <a:srgbClr val="DC2626"/>
            </a:solidFill>
            <a:prstDash val="solid"/>
          </a:ln>
        </p:spPr>
      </p:sp>
      <p:pic>
        <p:nvPicPr>
          <p:cNvPr id="16" name="Image 1" descr="preencoded.png">    </p:cNvPr>
          <p:cNvPicPr>
            <a:picLocks noChangeAspect="1"/>
          </p:cNvPicPr>
          <p:nvPr/>
        </p:nvPicPr>
        <p:blipFill>
          <a:blip r:embed="rId2"/>
          <a:stretch>
            <a:fillRect/>
          </a:stretch>
        </p:blipFill>
        <p:spPr>
          <a:xfrm>
            <a:off x="4750308" y="1824228"/>
            <a:ext cx="329184" cy="329184"/>
          </a:xfrm>
          <a:prstGeom prst="rect">
            <a:avLst/>
          </a:prstGeom>
        </p:spPr>
      </p:pic>
      <p:sp>
        <p:nvSpPr>
          <p:cNvPr id="17" name="Text 13"/>
          <p:cNvSpPr txBox="1"/>
          <p:nvPr/>
        </p:nvSpPr>
        <p:spPr>
          <a:xfrm>
            <a:off x="5394960" y="1645920"/>
            <a:ext cx="2313432" cy="685800"/>
          </a:xfrm>
          <a:prstGeom prst="rect">
            <a:avLst/>
          </a:prstGeom>
          <a:noFill/>
          <a:ln/>
        </p:spPr>
        <p:txBody>
          <a:bodyPr wrap="square" lIns="0" tIns="0" rIns="0" bIns="0" rtlCol="0" anchor="ctr"/>
          <a:lstStyle/>
          <a:p>
            <a:pPr indent="0" marL="0">
              <a:buNone/>
            </a:pPr>
            <a:r>
              <a:rPr lang="en-US" sz="1700" b="1" spc="100" kern="0" dirty="0">
                <a:solidFill>
                  <a:srgbClr val="0B1F33"/>
                </a:solidFill>
                <a:latin typeface="Calibri" pitchFamily="34" charset="0"/>
                <a:ea typeface="Calibri" pitchFamily="34" charset="-122"/>
                <a:cs typeface="Calibri" pitchFamily="34" charset="-120"/>
              </a:rPr>
              <a:t>WHY IT HAPPENED</a:t>
            </a:r>
            <a:endParaRPr lang="en-US" sz="1700" dirty="0"/>
          </a:p>
        </p:txBody>
      </p:sp>
      <p:sp>
        <p:nvSpPr>
          <p:cNvPr id="18" name="Text 14"/>
          <p:cNvSpPr txBox="1"/>
          <p:nvPr/>
        </p:nvSpPr>
        <p:spPr>
          <a:xfrm>
            <a:off x="4572000" y="2606040"/>
            <a:ext cx="3044952" cy="21031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F2937"/>
                </a:solidFill>
                <a:latin typeface="Calibri" pitchFamily="34" charset="0"/>
                <a:ea typeface="Calibri" pitchFamily="34" charset="-122"/>
                <a:cs typeface="Calibri" pitchFamily="34" charset="-120"/>
              </a:rPr>
              <a:t>30%+ discounts lose money on 84% of orders</a:t>
            </a:r>
            <a:endParaRPr lang="en-US" sz="1600" dirty="0"/>
          </a:p>
          <a:p>
            <a:pPr marL="342900" indent="-342900">
              <a:spcAft>
                <a:spcPts val="1000"/>
              </a:spcAft>
              <a:buSzPct val="100000"/>
              <a:buChar char="•"/>
            </a:pPr>
            <a:r>
              <a:rPr lang="en-US" sz="1600" dirty="0">
                <a:solidFill>
                  <a:srgbClr val="1F2937"/>
                </a:solidFill>
                <a:latin typeface="Calibri" pitchFamily="34" charset="0"/>
                <a:ea typeface="Calibri" pitchFamily="34" charset="-122"/>
                <a:cs typeface="Calibri" pitchFamily="34" charset="-120"/>
              </a:rPr>
              <a:t>Furniture in Central and South: margin 2.2% in FY25</a:t>
            </a:r>
            <a:endParaRPr lang="en-US" sz="1600" dirty="0"/>
          </a:p>
          <a:p>
            <a:pPr marL="342900" indent="-342900">
              <a:spcAft>
                <a:spcPts val="1000"/>
              </a:spcAft>
              <a:buSzPct val="100000"/>
              <a:buChar char="•"/>
            </a:pPr>
            <a:r>
              <a:rPr lang="en-US" sz="1600" dirty="0">
                <a:solidFill>
                  <a:srgbClr val="1F2937"/>
                </a:solidFill>
                <a:latin typeface="Calibri" pitchFamily="34" charset="0"/>
                <a:ea typeface="Calibri" pitchFamily="34" charset="-122"/>
                <a:cs typeface="Calibri" pitchFamily="34" charset="-120"/>
              </a:rPr>
              <a:t>Delivery SLA missed in Central and South</a:t>
            </a:r>
            <a:endParaRPr lang="en-US" sz="1600" dirty="0"/>
          </a:p>
        </p:txBody>
      </p:sp>
      <p:sp>
        <p:nvSpPr>
          <p:cNvPr id="19" name="Shape 15"/>
          <p:cNvSpPr/>
          <p:nvPr/>
        </p:nvSpPr>
        <p:spPr>
          <a:xfrm>
            <a:off x="4526280" y="4892040"/>
            <a:ext cx="3136392" cy="1097280"/>
          </a:xfrm>
          <a:prstGeom prst="roundRect">
            <a:avLst>
              <a:gd name="adj" fmla="val 6667"/>
            </a:avLst>
          </a:prstGeom>
          <a:solidFill>
            <a:srgbClr val="F3F6F9"/>
          </a:solidFill>
          <a:ln w="12700">
            <a:solidFill>
              <a:srgbClr val="F3F6F9"/>
            </a:solidFill>
            <a:prstDash val="solid"/>
          </a:ln>
        </p:spPr>
      </p:sp>
      <p:sp>
        <p:nvSpPr>
          <p:cNvPr id="20" name="Text 16"/>
          <p:cNvSpPr txBox="1"/>
          <p:nvPr/>
        </p:nvSpPr>
        <p:spPr>
          <a:xfrm>
            <a:off x="4526280" y="4956048"/>
            <a:ext cx="3136392" cy="594360"/>
          </a:xfrm>
          <a:prstGeom prst="rect">
            <a:avLst/>
          </a:prstGeom>
          <a:noFill/>
          <a:ln/>
        </p:spPr>
        <p:txBody>
          <a:bodyPr wrap="square" lIns="0" tIns="0" rIns="0" bIns="0" rtlCol="0" anchor="ctr"/>
          <a:lstStyle/>
          <a:p>
            <a:pPr algn="ctr" indent="0" marL="0">
              <a:buNone/>
            </a:pPr>
            <a:r>
              <a:rPr lang="en-US" sz="3000" b="1" dirty="0">
                <a:solidFill>
                  <a:srgbClr val="DC2626"/>
                </a:solidFill>
                <a:latin typeface="Cambria" pitchFamily="34" charset="0"/>
                <a:ea typeface="Cambria" pitchFamily="34" charset="-122"/>
                <a:cs typeface="Cambria" pitchFamily="34" charset="-120"/>
              </a:rPr>
              <a:t>84%</a:t>
            </a:r>
            <a:endParaRPr lang="en-US" sz="3000" dirty="0"/>
          </a:p>
        </p:txBody>
      </p:sp>
      <p:sp>
        <p:nvSpPr>
          <p:cNvPr id="21" name="Text 17"/>
          <p:cNvSpPr txBox="1"/>
          <p:nvPr/>
        </p:nvSpPr>
        <p:spPr>
          <a:xfrm>
            <a:off x="4617720" y="5532120"/>
            <a:ext cx="2953512" cy="411480"/>
          </a:xfrm>
          <a:prstGeom prst="rect">
            <a:avLst/>
          </a:prstGeom>
          <a:noFill/>
          <a:ln/>
        </p:spPr>
        <p:txBody>
          <a:bodyPr wrap="square" lIns="0" tIns="0" rIns="0" bIns="0" rtlCol="0" anchor="t"/>
          <a:lstStyle/>
          <a:p>
            <a:pPr algn="ctr" indent="0" marL="0">
              <a:buNone/>
            </a:pPr>
            <a:r>
              <a:rPr lang="en-US" sz="1200" dirty="0">
                <a:solidFill>
                  <a:srgbClr val="64748B"/>
                </a:solidFill>
                <a:latin typeface="Calibri" pitchFamily="34" charset="0"/>
                <a:ea typeface="Calibri" pitchFamily="34" charset="-122"/>
                <a:cs typeface="Calibri" pitchFamily="34" charset="-120"/>
              </a:rPr>
              <a:t>of 30%+ discount orders lose money</a:t>
            </a:r>
            <a:endParaRPr lang="en-US" sz="1200" dirty="0"/>
          </a:p>
        </p:txBody>
      </p:sp>
      <p:sp>
        <p:nvSpPr>
          <p:cNvPr id="22" name="Shape 18"/>
          <p:cNvSpPr/>
          <p:nvPr/>
        </p:nvSpPr>
        <p:spPr>
          <a:xfrm>
            <a:off x="8046720" y="1371600"/>
            <a:ext cx="3593592" cy="4846320"/>
          </a:xfrm>
          <a:prstGeom prst="roundRect">
            <a:avLst>
              <a:gd name="adj" fmla="val 2036"/>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23" name="Shape 19"/>
          <p:cNvSpPr/>
          <p:nvPr/>
        </p:nvSpPr>
        <p:spPr>
          <a:xfrm>
            <a:off x="8321040" y="1645920"/>
            <a:ext cx="685800" cy="685800"/>
          </a:xfrm>
          <a:prstGeom prst="ellipse">
            <a:avLst/>
          </a:prstGeom>
          <a:solidFill>
            <a:srgbClr val="F59E0B"/>
          </a:solidFill>
          <a:ln w="6350">
            <a:solidFill>
              <a:srgbClr val="F59E0B"/>
            </a:solidFill>
            <a:prstDash val="solid"/>
          </a:ln>
        </p:spPr>
      </p:sp>
      <p:pic>
        <p:nvPicPr>
          <p:cNvPr id="24" name="Image 2" descr="preencoded.png">    </p:cNvPr>
          <p:cNvPicPr>
            <a:picLocks noChangeAspect="1"/>
          </p:cNvPicPr>
          <p:nvPr/>
        </p:nvPicPr>
        <p:blipFill>
          <a:blip r:embed="rId3"/>
          <a:stretch>
            <a:fillRect/>
          </a:stretch>
        </p:blipFill>
        <p:spPr>
          <a:xfrm>
            <a:off x="8499348" y="1824228"/>
            <a:ext cx="329184" cy="329184"/>
          </a:xfrm>
          <a:prstGeom prst="rect">
            <a:avLst/>
          </a:prstGeom>
        </p:spPr>
      </p:pic>
      <p:sp>
        <p:nvSpPr>
          <p:cNvPr id="25" name="Text 20"/>
          <p:cNvSpPr txBox="1"/>
          <p:nvPr/>
        </p:nvSpPr>
        <p:spPr>
          <a:xfrm>
            <a:off x="9144000" y="1645920"/>
            <a:ext cx="2313432" cy="685800"/>
          </a:xfrm>
          <a:prstGeom prst="rect">
            <a:avLst/>
          </a:prstGeom>
          <a:noFill/>
          <a:ln/>
        </p:spPr>
        <p:txBody>
          <a:bodyPr wrap="square" lIns="0" tIns="0" rIns="0" bIns="0" rtlCol="0" anchor="ctr"/>
          <a:lstStyle/>
          <a:p>
            <a:pPr indent="0" marL="0">
              <a:buNone/>
            </a:pPr>
            <a:r>
              <a:rPr lang="en-US" sz="1700" b="1" spc="100" kern="0" dirty="0">
                <a:solidFill>
                  <a:srgbClr val="0B1F33"/>
                </a:solidFill>
                <a:latin typeface="Calibri" pitchFamily="34" charset="0"/>
                <a:ea typeface="Calibri" pitchFamily="34" charset="-122"/>
                <a:cs typeface="Calibri" pitchFamily="34" charset="-120"/>
              </a:rPr>
              <a:t>WHAT TO DO</a:t>
            </a:r>
            <a:endParaRPr lang="en-US" sz="1700" dirty="0"/>
          </a:p>
        </p:txBody>
      </p:sp>
      <p:sp>
        <p:nvSpPr>
          <p:cNvPr id="26" name="Text 21"/>
          <p:cNvSpPr txBox="1"/>
          <p:nvPr/>
        </p:nvSpPr>
        <p:spPr>
          <a:xfrm>
            <a:off x="8321040" y="2606040"/>
            <a:ext cx="3044952" cy="21031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F2937"/>
                </a:solidFill>
                <a:latin typeface="Calibri" pitchFamily="34" charset="0"/>
                <a:ea typeface="Calibri" pitchFamily="34" charset="-122"/>
                <a:cs typeface="Calibri" pitchFamily="34" charset="-120"/>
              </a:rPr>
              <a:t>Cap discounts at 20%</a:t>
            </a:r>
            <a:endParaRPr lang="en-US" sz="1600" dirty="0"/>
          </a:p>
          <a:p>
            <a:pPr marL="342900" indent="-342900">
              <a:spcAft>
                <a:spcPts val="1000"/>
              </a:spcAft>
              <a:buSzPct val="100000"/>
              <a:buChar char="•"/>
            </a:pPr>
            <a:r>
              <a:rPr lang="en-US" sz="1600" dirty="0">
                <a:solidFill>
                  <a:srgbClr val="1F2937"/>
                </a:solidFill>
                <a:latin typeface="Calibri" pitchFamily="34" charset="0"/>
                <a:ea typeface="Calibri" pitchFamily="34" charset="-122"/>
                <a:cs typeface="Calibri" pitchFamily="34" charset="-120"/>
              </a:rPr>
              <a:t>Reprice and renegotiate Furniture costs</a:t>
            </a:r>
            <a:endParaRPr lang="en-US" sz="1600" dirty="0"/>
          </a:p>
          <a:p>
            <a:pPr marL="342900" indent="-342900">
              <a:spcAft>
                <a:spcPts val="1000"/>
              </a:spcAft>
              <a:buSzPct val="100000"/>
              <a:buChar char="•"/>
            </a:pPr>
            <a:r>
              <a:rPr lang="en-US" sz="1600" dirty="0">
                <a:solidFill>
                  <a:srgbClr val="1F2937"/>
                </a:solidFill>
                <a:latin typeface="Calibri" pitchFamily="34" charset="0"/>
                <a:ea typeface="Calibri" pitchFamily="34" charset="-122"/>
                <a:cs typeface="Calibri" pitchFamily="34" charset="-120"/>
              </a:rPr>
              <a:t>Fix regional fulfilment</a:t>
            </a:r>
            <a:endParaRPr lang="en-US" sz="1600" dirty="0"/>
          </a:p>
          <a:p>
            <a:pPr marL="342900" indent="-342900">
              <a:spcAft>
                <a:spcPts val="1000"/>
              </a:spcAft>
              <a:buSzPct val="100000"/>
              <a:buChar char="•"/>
            </a:pPr>
            <a:r>
              <a:rPr lang="en-US" sz="1600" dirty="0">
                <a:solidFill>
                  <a:srgbClr val="1F2937"/>
                </a:solidFill>
                <a:latin typeface="Calibri" pitchFamily="34" charset="0"/>
                <a:ea typeface="Calibri" pitchFamily="34" charset="-122"/>
                <a:cs typeface="Calibri" pitchFamily="34" charset="-120"/>
              </a:rPr>
              <a:t>Track with dashboard alerts</a:t>
            </a:r>
            <a:endParaRPr lang="en-US" sz="1600" dirty="0"/>
          </a:p>
        </p:txBody>
      </p:sp>
      <p:sp>
        <p:nvSpPr>
          <p:cNvPr id="27" name="Shape 22"/>
          <p:cNvSpPr/>
          <p:nvPr/>
        </p:nvSpPr>
        <p:spPr>
          <a:xfrm>
            <a:off x="8275320" y="4892040"/>
            <a:ext cx="3136392" cy="1097280"/>
          </a:xfrm>
          <a:prstGeom prst="roundRect">
            <a:avLst>
              <a:gd name="adj" fmla="val 6667"/>
            </a:avLst>
          </a:prstGeom>
          <a:solidFill>
            <a:srgbClr val="F3F6F9"/>
          </a:solidFill>
          <a:ln w="12700">
            <a:solidFill>
              <a:srgbClr val="F3F6F9"/>
            </a:solidFill>
            <a:prstDash val="solid"/>
          </a:ln>
        </p:spPr>
      </p:sp>
      <p:sp>
        <p:nvSpPr>
          <p:cNvPr id="28" name="Text 23"/>
          <p:cNvSpPr txBox="1"/>
          <p:nvPr/>
        </p:nvSpPr>
        <p:spPr>
          <a:xfrm>
            <a:off x="8275320" y="4956048"/>
            <a:ext cx="3136392" cy="594360"/>
          </a:xfrm>
          <a:prstGeom prst="rect">
            <a:avLst/>
          </a:prstGeom>
          <a:noFill/>
          <a:ln/>
        </p:spPr>
        <p:txBody>
          <a:bodyPr wrap="square" lIns="0" tIns="0" rIns="0" bIns="0" rtlCol="0" anchor="ctr"/>
          <a:lstStyle/>
          <a:p>
            <a:pPr algn="ctr" indent="0" marL="0">
              <a:buNone/>
            </a:pPr>
            <a:r>
              <a:rPr lang="en-US" sz="3000" b="1" dirty="0">
                <a:solidFill>
                  <a:srgbClr val="B45309"/>
                </a:solidFill>
                <a:latin typeface="Cambria" pitchFamily="34" charset="0"/>
                <a:ea typeface="Cambria" pitchFamily="34" charset="-122"/>
                <a:cs typeface="Cambria" pitchFamily="34" charset="-120"/>
              </a:rPr>
              <a:t>+$7.6K</a:t>
            </a:r>
            <a:endParaRPr lang="en-US" sz="3000" dirty="0"/>
          </a:p>
        </p:txBody>
      </p:sp>
      <p:sp>
        <p:nvSpPr>
          <p:cNvPr id="29" name="Text 24"/>
          <p:cNvSpPr txBox="1"/>
          <p:nvPr/>
        </p:nvSpPr>
        <p:spPr>
          <a:xfrm>
            <a:off x="8366760" y="5532120"/>
            <a:ext cx="2953512" cy="411480"/>
          </a:xfrm>
          <a:prstGeom prst="rect">
            <a:avLst/>
          </a:prstGeom>
          <a:noFill/>
          <a:ln/>
        </p:spPr>
        <p:txBody>
          <a:bodyPr wrap="square" lIns="0" tIns="0" rIns="0" bIns="0" rtlCol="0" anchor="t"/>
          <a:lstStyle/>
          <a:p>
            <a:pPr algn="ctr" indent="0" marL="0">
              <a:buNone/>
            </a:pPr>
            <a:r>
              <a:rPr lang="en-US" sz="1200" dirty="0">
                <a:solidFill>
                  <a:srgbClr val="64748B"/>
                </a:solidFill>
                <a:latin typeface="Calibri" pitchFamily="34" charset="0"/>
                <a:ea typeface="Calibri" pitchFamily="34" charset="-122"/>
                <a:cs typeface="Calibri" pitchFamily="34" charset="-120"/>
              </a:rPr>
              <a:t>annual profit from a 20% discount cap</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6F9"/>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28600"/>
          </a:xfrm>
          <a:prstGeom prst="rect">
            <a:avLst/>
          </a:prstGeom>
          <a:noFill/>
          <a:ln/>
        </p:spPr>
        <p:txBody>
          <a:bodyPr wrap="square" lIns="0" tIns="0" rIns="0" bIns="0" rtlCol="0" anchor="t"/>
          <a:lstStyle/>
          <a:p>
            <a:pPr indent="0" marL="0">
              <a:buNone/>
            </a:pPr>
            <a:r>
              <a:rPr lang="en-US" sz="1100" b="1" spc="300" kern="0" dirty="0">
                <a:solidFill>
                  <a:srgbClr val="0E7C86"/>
                </a:solidFill>
                <a:latin typeface="Calibri" pitchFamily="34" charset="0"/>
                <a:ea typeface="Calibri" pitchFamily="34" charset="-122"/>
                <a:cs typeface="Calibri" pitchFamily="34" charset="-120"/>
              </a:rPr>
              <a:t>7  RECOMMENDATIONS</a:t>
            </a:r>
            <a:endParaRPr lang="en-US" sz="1100" dirty="0"/>
          </a:p>
        </p:txBody>
      </p:sp>
      <p:sp>
        <p:nvSpPr>
          <p:cNvPr id="3" name="Text 1"/>
          <p:cNvSpPr txBox="1"/>
          <p:nvPr/>
        </p:nvSpPr>
        <p:spPr>
          <a:xfrm>
            <a:off x="548640" y="530352"/>
            <a:ext cx="11064240" cy="54864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Four actions to protect profit</a:t>
            </a:r>
            <a:endParaRPr lang="en-US" sz="2800" dirty="0"/>
          </a:p>
        </p:txBody>
      </p:sp>
      <p:sp>
        <p:nvSpPr>
          <p:cNvPr id="4" name="Text 2"/>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Executive Business Intelligence Dashboard</a:t>
            </a:r>
            <a:endParaRPr lang="en-US" sz="1000" dirty="0"/>
          </a:p>
        </p:txBody>
      </p:sp>
      <p:sp>
        <p:nvSpPr>
          <p:cNvPr id="5" name="Text 3"/>
          <p:cNvSpPr txBox="1"/>
          <p:nvPr/>
        </p:nvSpPr>
        <p:spPr>
          <a:xfrm>
            <a:off x="11091672" y="6510528"/>
            <a:ext cx="548640" cy="228600"/>
          </a:xfrm>
          <a:prstGeom prst="rect">
            <a:avLst/>
          </a:prstGeom>
          <a:noFill/>
          <a:ln/>
        </p:spPr>
        <p:txBody>
          <a:bodyPr wrap="square" lIns="0" tIns="0" rIns="0" bIns="0" rtlCol="0" anchor="t"/>
          <a:lstStyle/>
          <a:p>
            <a:pPr algn="r" indent="0" marL="0">
              <a:buNone/>
            </a:pPr>
            <a:r>
              <a:rPr lang="en-US" sz="1000" dirty="0">
                <a:solidFill>
                  <a:srgbClr val="64748B"/>
                </a:solidFill>
                <a:latin typeface="Calibri" pitchFamily="34" charset="0"/>
                <a:ea typeface="Calibri" pitchFamily="34" charset="-122"/>
                <a:cs typeface="Calibri" pitchFamily="34" charset="-120"/>
              </a:rPr>
              <a:t>14</a:t>
            </a:r>
            <a:endParaRPr lang="en-US" sz="1000" dirty="0"/>
          </a:p>
        </p:txBody>
      </p:sp>
      <p:sp>
        <p:nvSpPr>
          <p:cNvPr id="6" name="Text 4"/>
          <p:cNvSpPr txBox="1"/>
          <p:nvPr/>
        </p:nvSpPr>
        <p:spPr>
          <a:xfrm>
            <a:off x="1417320" y="1298448"/>
            <a:ext cx="2743200" cy="228600"/>
          </a:xfrm>
          <a:prstGeom prst="rect">
            <a:avLst/>
          </a:prstGeom>
          <a:noFill/>
          <a:ln/>
        </p:spPr>
        <p:txBody>
          <a:bodyPr wrap="square" lIns="0" tIns="0" rIns="0" bIns="0" rtlCol="0" anchor="t"/>
          <a:lstStyle/>
          <a:p>
            <a:pPr indent="0" marL="0">
              <a:buNone/>
            </a:pPr>
            <a:r>
              <a:rPr lang="en-US" sz="1000" b="1" spc="200" kern="0" dirty="0">
                <a:solidFill>
                  <a:srgbClr val="64748B"/>
                </a:solidFill>
                <a:latin typeface="Calibri" pitchFamily="34" charset="0"/>
                <a:ea typeface="Calibri" pitchFamily="34" charset="-122"/>
                <a:cs typeface="Calibri" pitchFamily="34" charset="-120"/>
              </a:rPr>
              <a:t>ACTION</a:t>
            </a:r>
            <a:endParaRPr lang="en-US" sz="1000" dirty="0"/>
          </a:p>
        </p:txBody>
      </p:sp>
      <p:sp>
        <p:nvSpPr>
          <p:cNvPr id="7" name="Text 5"/>
          <p:cNvSpPr txBox="1"/>
          <p:nvPr/>
        </p:nvSpPr>
        <p:spPr>
          <a:xfrm>
            <a:off x="6537960" y="1298448"/>
            <a:ext cx="1463040" cy="228600"/>
          </a:xfrm>
          <a:prstGeom prst="rect">
            <a:avLst/>
          </a:prstGeom>
          <a:noFill/>
          <a:ln/>
        </p:spPr>
        <p:txBody>
          <a:bodyPr wrap="square" lIns="0" tIns="0" rIns="0" bIns="0" rtlCol="0" anchor="t"/>
          <a:lstStyle/>
          <a:p>
            <a:pPr indent="0" marL="0">
              <a:buNone/>
            </a:pPr>
            <a:r>
              <a:rPr lang="en-US" sz="1000" b="1" spc="200" kern="0" dirty="0">
                <a:solidFill>
                  <a:srgbClr val="64748B"/>
                </a:solidFill>
                <a:latin typeface="Calibri" pitchFamily="34" charset="0"/>
                <a:ea typeface="Calibri" pitchFamily="34" charset="-122"/>
                <a:cs typeface="Calibri" pitchFamily="34" charset="-120"/>
              </a:rPr>
              <a:t>OWNER</a:t>
            </a:r>
            <a:endParaRPr lang="en-US" sz="1000" dirty="0"/>
          </a:p>
        </p:txBody>
      </p:sp>
      <p:sp>
        <p:nvSpPr>
          <p:cNvPr id="8" name="Text 6"/>
          <p:cNvSpPr txBox="1"/>
          <p:nvPr/>
        </p:nvSpPr>
        <p:spPr>
          <a:xfrm>
            <a:off x="8183880" y="1298448"/>
            <a:ext cx="2286000" cy="228600"/>
          </a:xfrm>
          <a:prstGeom prst="rect">
            <a:avLst/>
          </a:prstGeom>
          <a:noFill/>
          <a:ln/>
        </p:spPr>
        <p:txBody>
          <a:bodyPr wrap="square" lIns="0" tIns="0" rIns="0" bIns="0" rtlCol="0" anchor="t"/>
          <a:lstStyle/>
          <a:p>
            <a:pPr indent="0" marL="0">
              <a:buNone/>
            </a:pPr>
            <a:r>
              <a:rPr lang="en-US" sz="1000" b="1" spc="200" kern="0" dirty="0">
                <a:solidFill>
                  <a:srgbClr val="64748B"/>
                </a:solidFill>
                <a:latin typeface="Calibri" pitchFamily="34" charset="0"/>
                <a:ea typeface="Calibri" pitchFamily="34" charset="-122"/>
                <a:cs typeface="Calibri" pitchFamily="34" charset="-120"/>
              </a:rPr>
              <a:t>EXPECTED IMPACT</a:t>
            </a:r>
            <a:endParaRPr lang="en-US" sz="1000" dirty="0"/>
          </a:p>
        </p:txBody>
      </p:sp>
      <p:sp>
        <p:nvSpPr>
          <p:cNvPr id="9" name="Text 7"/>
          <p:cNvSpPr txBox="1"/>
          <p:nvPr/>
        </p:nvSpPr>
        <p:spPr>
          <a:xfrm>
            <a:off x="10515600" y="1298448"/>
            <a:ext cx="1097280" cy="228600"/>
          </a:xfrm>
          <a:prstGeom prst="rect">
            <a:avLst/>
          </a:prstGeom>
          <a:noFill/>
          <a:ln/>
        </p:spPr>
        <p:txBody>
          <a:bodyPr wrap="square" lIns="0" tIns="0" rIns="0" bIns="0" rtlCol="0" anchor="t"/>
          <a:lstStyle/>
          <a:p>
            <a:pPr indent="0" marL="0">
              <a:buNone/>
            </a:pPr>
            <a:r>
              <a:rPr lang="en-US" sz="1000" b="1" spc="200" kern="0" dirty="0">
                <a:solidFill>
                  <a:srgbClr val="64748B"/>
                </a:solidFill>
                <a:latin typeface="Calibri" pitchFamily="34" charset="0"/>
                <a:ea typeface="Calibri" pitchFamily="34" charset="-122"/>
                <a:cs typeface="Calibri" pitchFamily="34" charset="-120"/>
              </a:rPr>
              <a:t>TIMELINE</a:t>
            </a:r>
            <a:endParaRPr lang="en-US" sz="1000" dirty="0"/>
          </a:p>
        </p:txBody>
      </p:sp>
      <p:sp>
        <p:nvSpPr>
          <p:cNvPr id="10" name="Shape 8"/>
          <p:cNvSpPr/>
          <p:nvPr/>
        </p:nvSpPr>
        <p:spPr>
          <a:xfrm>
            <a:off x="548640" y="1600200"/>
            <a:ext cx="11091672" cy="1024128"/>
          </a:xfrm>
          <a:prstGeom prst="roundRect">
            <a:avLst>
              <a:gd name="adj" fmla="val 7143"/>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11" name="Shape 9"/>
          <p:cNvSpPr/>
          <p:nvPr/>
        </p:nvSpPr>
        <p:spPr>
          <a:xfrm>
            <a:off x="731520" y="1837944"/>
            <a:ext cx="548640" cy="548640"/>
          </a:xfrm>
          <a:prstGeom prst="ellipse">
            <a:avLst/>
          </a:prstGeom>
          <a:solidFill>
            <a:srgbClr val="0B1F33"/>
          </a:solidFill>
          <a:ln w="12700">
            <a:solidFill>
              <a:srgbClr val="0B1F33"/>
            </a:solidFill>
            <a:prstDash val="solid"/>
          </a:ln>
        </p:spPr>
      </p:sp>
      <p:sp>
        <p:nvSpPr>
          <p:cNvPr id="12" name="Text 10"/>
          <p:cNvSpPr txBox="1"/>
          <p:nvPr/>
        </p:nvSpPr>
        <p:spPr>
          <a:xfrm>
            <a:off x="731520" y="1837944"/>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13" name="Text 11"/>
          <p:cNvSpPr txBox="1"/>
          <p:nvPr/>
        </p:nvSpPr>
        <p:spPr>
          <a:xfrm>
            <a:off x="1417320" y="1719072"/>
            <a:ext cx="4937760" cy="274320"/>
          </a:xfrm>
          <a:prstGeom prst="rect">
            <a:avLst/>
          </a:prstGeom>
          <a:noFill/>
          <a:ln/>
        </p:spPr>
        <p:txBody>
          <a:bodyPr wrap="square" lIns="0" tIns="0" rIns="0" bIns="0" rtlCol="0" anchor="t"/>
          <a:lstStyle/>
          <a:p>
            <a:pPr indent="0" marL="0">
              <a:buNone/>
            </a:pPr>
            <a:r>
              <a:rPr lang="en-US" sz="1500" b="1" dirty="0">
                <a:solidFill>
                  <a:srgbClr val="0B1F33"/>
                </a:solidFill>
                <a:latin typeface="Calibri" pitchFamily="34" charset="0"/>
                <a:ea typeface="Calibri" pitchFamily="34" charset="-122"/>
                <a:cs typeface="Calibri" pitchFamily="34" charset="-120"/>
              </a:rPr>
              <a:t>Cap discounts at 20%</a:t>
            </a:r>
            <a:endParaRPr lang="en-US" sz="1500" dirty="0"/>
          </a:p>
        </p:txBody>
      </p:sp>
      <p:sp>
        <p:nvSpPr>
          <p:cNvPr id="14" name="Text 12"/>
          <p:cNvSpPr txBox="1"/>
          <p:nvPr/>
        </p:nvSpPr>
        <p:spPr>
          <a:xfrm>
            <a:off x="1417320" y="2029968"/>
            <a:ext cx="4983480" cy="548640"/>
          </a:xfrm>
          <a:prstGeom prst="rect">
            <a:avLst/>
          </a:prstGeom>
          <a:noFill/>
          <a:ln/>
        </p:spPr>
        <p:txBody>
          <a:bodyPr wrap="square" lIns="0" tIns="0" rIns="0" bIns="0" rtlCol="0" anchor="t"/>
          <a:lstStyle/>
          <a:p>
            <a:pPr indent="0" marL="0">
              <a:buNone/>
            </a:pPr>
            <a:r>
              <a:rPr lang="en-US" sz="1150" dirty="0">
                <a:solidFill>
                  <a:srgbClr val="64748B"/>
                </a:solidFill>
                <a:latin typeface="Calibri" pitchFamily="34" charset="0"/>
                <a:ea typeface="Calibri" pitchFamily="34" charset="-122"/>
                <a:cs typeface="Calibri" pitchFamily="34" charset="-120"/>
              </a:rPr>
              <a:t>Require director approval above 20%. Discounts of 30%+ lose money on 84% of orders.</a:t>
            </a:r>
            <a:endParaRPr lang="en-US" sz="1150" dirty="0"/>
          </a:p>
        </p:txBody>
      </p:sp>
      <p:sp>
        <p:nvSpPr>
          <p:cNvPr id="15" name="Text 13"/>
          <p:cNvSpPr txBox="1"/>
          <p:nvPr/>
        </p:nvSpPr>
        <p:spPr>
          <a:xfrm>
            <a:off x="6537960" y="1600200"/>
            <a:ext cx="1554480" cy="1024128"/>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Sales + Finance</a:t>
            </a:r>
            <a:endParaRPr lang="en-US" sz="1300" dirty="0"/>
          </a:p>
        </p:txBody>
      </p:sp>
      <p:sp>
        <p:nvSpPr>
          <p:cNvPr id="16" name="Text 14"/>
          <p:cNvSpPr txBox="1"/>
          <p:nvPr/>
        </p:nvSpPr>
        <p:spPr>
          <a:xfrm>
            <a:off x="8183880" y="1600200"/>
            <a:ext cx="2194560" cy="1024128"/>
          </a:xfrm>
          <a:prstGeom prst="rect">
            <a:avLst/>
          </a:prstGeom>
          <a:noFill/>
          <a:ln/>
        </p:spPr>
        <p:txBody>
          <a:bodyPr wrap="square" lIns="0" tIns="0" rIns="0" bIns="0" rtlCol="0" anchor="ctr"/>
          <a:lstStyle/>
          <a:p>
            <a:pPr indent="0" marL="0">
              <a:buNone/>
            </a:pPr>
            <a:r>
              <a:rPr lang="en-US" sz="1300" b="1" dirty="0">
                <a:solidFill>
                  <a:srgbClr val="0E7C86"/>
                </a:solidFill>
                <a:latin typeface="Calibri" pitchFamily="34" charset="0"/>
                <a:ea typeface="Calibri" pitchFamily="34" charset="-122"/>
                <a:cs typeface="Calibri" pitchFamily="34" charset="-120"/>
              </a:rPr>
              <a:t>Margin 11.3% → 12.7%</a:t>
            </a:r>
            <a:endParaRPr lang="en-US" sz="1300" dirty="0"/>
          </a:p>
        </p:txBody>
      </p:sp>
      <p:sp>
        <p:nvSpPr>
          <p:cNvPr id="17" name="Text 15"/>
          <p:cNvSpPr txBox="1"/>
          <p:nvPr/>
        </p:nvSpPr>
        <p:spPr>
          <a:xfrm>
            <a:off x="10515600" y="1600200"/>
            <a:ext cx="1051560" cy="1024128"/>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0–30 days</a:t>
            </a:r>
            <a:endParaRPr lang="en-US" sz="1300" dirty="0"/>
          </a:p>
        </p:txBody>
      </p:sp>
      <p:sp>
        <p:nvSpPr>
          <p:cNvPr id="18" name="Shape 16"/>
          <p:cNvSpPr/>
          <p:nvPr/>
        </p:nvSpPr>
        <p:spPr>
          <a:xfrm>
            <a:off x="548640" y="2761488"/>
            <a:ext cx="11091672" cy="1024128"/>
          </a:xfrm>
          <a:prstGeom prst="roundRect">
            <a:avLst>
              <a:gd name="adj" fmla="val 7143"/>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19" name="Shape 17"/>
          <p:cNvSpPr/>
          <p:nvPr/>
        </p:nvSpPr>
        <p:spPr>
          <a:xfrm>
            <a:off x="731520" y="2999232"/>
            <a:ext cx="548640" cy="548640"/>
          </a:xfrm>
          <a:prstGeom prst="ellipse">
            <a:avLst/>
          </a:prstGeom>
          <a:solidFill>
            <a:srgbClr val="0B1F33"/>
          </a:solidFill>
          <a:ln w="12700">
            <a:solidFill>
              <a:srgbClr val="0B1F33"/>
            </a:solidFill>
            <a:prstDash val="solid"/>
          </a:ln>
        </p:spPr>
      </p:sp>
      <p:sp>
        <p:nvSpPr>
          <p:cNvPr id="20" name="Text 18"/>
          <p:cNvSpPr txBox="1"/>
          <p:nvPr/>
        </p:nvSpPr>
        <p:spPr>
          <a:xfrm>
            <a:off x="731520" y="2999232"/>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21" name="Text 19"/>
          <p:cNvSpPr txBox="1"/>
          <p:nvPr/>
        </p:nvSpPr>
        <p:spPr>
          <a:xfrm>
            <a:off x="1417320" y="2880360"/>
            <a:ext cx="4937760" cy="274320"/>
          </a:xfrm>
          <a:prstGeom prst="rect">
            <a:avLst/>
          </a:prstGeom>
          <a:noFill/>
          <a:ln/>
        </p:spPr>
        <p:txBody>
          <a:bodyPr wrap="square" lIns="0" tIns="0" rIns="0" bIns="0" rtlCol="0" anchor="t"/>
          <a:lstStyle/>
          <a:p>
            <a:pPr indent="0" marL="0">
              <a:buNone/>
            </a:pPr>
            <a:r>
              <a:rPr lang="en-US" sz="1500" b="1" dirty="0">
                <a:solidFill>
                  <a:srgbClr val="0B1F33"/>
                </a:solidFill>
                <a:latin typeface="Calibri" pitchFamily="34" charset="0"/>
                <a:ea typeface="Calibri" pitchFamily="34" charset="-122"/>
                <a:cs typeface="Calibri" pitchFamily="34" charset="-120"/>
              </a:rPr>
              <a:t>Reprice Furniture in Central and South</a:t>
            </a:r>
            <a:endParaRPr lang="en-US" sz="1500" dirty="0"/>
          </a:p>
        </p:txBody>
      </p:sp>
      <p:sp>
        <p:nvSpPr>
          <p:cNvPr id="22" name="Text 20"/>
          <p:cNvSpPr txBox="1"/>
          <p:nvPr/>
        </p:nvSpPr>
        <p:spPr>
          <a:xfrm>
            <a:off x="1417320" y="3191256"/>
            <a:ext cx="4983480" cy="548640"/>
          </a:xfrm>
          <a:prstGeom prst="rect">
            <a:avLst/>
          </a:prstGeom>
          <a:noFill/>
          <a:ln/>
        </p:spPr>
        <p:txBody>
          <a:bodyPr wrap="square" lIns="0" tIns="0" rIns="0" bIns="0" rtlCol="0" anchor="t"/>
          <a:lstStyle/>
          <a:p>
            <a:pPr indent="0" marL="0">
              <a:buNone/>
            </a:pPr>
            <a:r>
              <a:rPr lang="en-US" sz="1150" dirty="0">
                <a:solidFill>
                  <a:srgbClr val="64748B"/>
                </a:solidFill>
                <a:latin typeface="Calibri" pitchFamily="34" charset="0"/>
                <a:ea typeface="Calibri" pitchFamily="34" charset="-122"/>
                <a:cs typeface="Calibri" pitchFamily="34" charset="-120"/>
              </a:rPr>
              <a:t>Review list prices, bundle low-margin items and renegotiate supplier cost.</a:t>
            </a:r>
            <a:endParaRPr lang="en-US" sz="1150" dirty="0"/>
          </a:p>
        </p:txBody>
      </p:sp>
      <p:sp>
        <p:nvSpPr>
          <p:cNvPr id="23" name="Text 21"/>
          <p:cNvSpPr txBox="1"/>
          <p:nvPr/>
        </p:nvSpPr>
        <p:spPr>
          <a:xfrm>
            <a:off x="6537960" y="2761488"/>
            <a:ext cx="1554480" cy="1024128"/>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Category team</a:t>
            </a:r>
            <a:endParaRPr lang="en-US" sz="1300" dirty="0"/>
          </a:p>
        </p:txBody>
      </p:sp>
      <p:sp>
        <p:nvSpPr>
          <p:cNvPr id="24" name="Text 22"/>
          <p:cNvSpPr txBox="1"/>
          <p:nvPr/>
        </p:nvSpPr>
        <p:spPr>
          <a:xfrm>
            <a:off x="8183880" y="2761488"/>
            <a:ext cx="2194560" cy="1024128"/>
          </a:xfrm>
          <a:prstGeom prst="rect">
            <a:avLst/>
          </a:prstGeom>
          <a:noFill/>
          <a:ln/>
        </p:spPr>
        <p:txBody>
          <a:bodyPr wrap="square" lIns="0" tIns="0" rIns="0" bIns="0" rtlCol="0" anchor="ctr"/>
          <a:lstStyle/>
          <a:p>
            <a:pPr indent="0" marL="0">
              <a:buNone/>
            </a:pPr>
            <a:r>
              <a:rPr lang="en-US" sz="1300" b="1" dirty="0">
                <a:solidFill>
                  <a:srgbClr val="0E7C86"/>
                </a:solidFill>
                <a:latin typeface="Calibri" pitchFamily="34" charset="0"/>
                <a:ea typeface="Calibri" pitchFamily="34" charset="-122"/>
                <a:cs typeface="Calibri" pitchFamily="34" charset="-120"/>
              </a:rPr>
              <a:t>Furniture margin 2.2% → 8%+</a:t>
            </a:r>
            <a:endParaRPr lang="en-US" sz="1300" dirty="0"/>
          </a:p>
        </p:txBody>
      </p:sp>
      <p:sp>
        <p:nvSpPr>
          <p:cNvPr id="25" name="Text 23"/>
          <p:cNvSpPr txBox="1"/>
          <p:nvPr/>
        </p:nvSpPr>
        <p:spPr>
          <a:xfrm>
            <a:off x="10515600" y="2761488"/>
            <a:ext cx="1051560" cy="1024128"/>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1–3 months</a:t>
            </a:r>
            <a:endParaRPr lang="en-US" sz="1300" dirty="0"/>
          </a:p>
        </p:txBody>
      </p:sp>
      <p:sp>
        <p:nvSpPr>
          <p:cNvPr id="26" name="Shape 24"/>
          <p:cNvSpPr/>
          <p:nvPr/>
        </p:nvSpPr>
        <p:spPr>
          <a:xfrm>
            <a:off x="548640" y="3922776"/>
            <a:ext cx="11091672" cy="1024128"/>
          </a:xfrm>
          <a:prstGeom prst="roundRect">
            <a:avLst>
              <a:gd name="adj" fmla="val 7143"/>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27" name="Shape 25"/>
          <p:cNvSpPr/>
          <p:nvPr/>
        </p:nvSpPr>
        <p:spPr>
          <a:xfrm>
            <a:off x="731520" y="4160520"/>
            <a:ext cx="548640" cy="548640"/>
          </a:xfrm>
          <a:prstGeom prst="ellipse">
            <a:avLst/>
          </a:prstGeom>
          <a:solidFill>
            <a:srgbClr val="0B1F33"/>
          </a:solidFill>
          <a:ln w="12700">
            <a:solidFill>
              <a:srgbClr val="0B1F33"/>
            </a:solidFill>
            <a:prstDash val="solid"/>
          </a:ln>
        </p:spPr>
      </p:sp>
      <p:sp>
        <p:nvSpPr>
          <p:cNvPr id="28" name="Text 26"/>
          <p:cNvSpPr txBox="1"/>
          <p:nvPr/>
        </p:nvSpPr>
        <p:spPr>
          <a:xfrm>
            <a:off x="731520" y="41605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9" name="Text 27"/>
          <p:cNvSpPr txBox="1"/>
          <p:nvPr/>
        </p:nvSpPr>
        <p:spPr>
          <a:xfrm>
            <a:off x="1417320" y="4041648"/>
            <a:ext cx="4937760" cy="274320"/>
          </a:xfrm>
          <a:prstGeom prst="rect">
            <a:avLst/>
          </a:prstGeom>
          <a:noFill/>
          <a:ln/>
        </p:spPr>
        <p:txBody>
          <a:bodyPr wrap="square" lIns="0" tIns="0" rIns="0" bIns="0" rtlCol="0" anchor="t"/>
          <a:lstStyle/>
          <a:p>
            <a:pPr indent="0" marL="0">
              <a:buNone/>
            </a:pPr>
            <a:r>
              <a:rPr lang="en-US" sz="1500" b="1" dirty="0">
                <a:solidFill>
                  <a:srgbClr val="0B1F33"/>
                </a:solidFill>
                <a:latin typeface="Calibri" pitchFamily="34" charset="0"/>
                <a:ea typeface="Calibri" pitchFamily="34" charset="-122"/>
                <a:cs typeface="Calibri" pitchFamily="34" charset="-120"/>
              </a:rPr>
              <a:t>Fix fulfilment in Central and South</a:t>
            </a:r>
            <a:endParaRPr lang="en-US" sz="1500" dirty="0"/>
          </a:p>
        </p:txBody>
      </p:sp>
      <p:sp>
        <p:nvSpPr>
          <p:cNvPr id="30" name="Text 28"/>
          <p:cNvSpPr txBox="1"/>
          <p:nvPr/>
        </p:nvSpPr>
        <p:spPr>
          <a:xfrm>
            <a:off x="1417320" y="4352544"/>
            <a:ext cx="4983480" cy="548640"/>
          </a:xfrm>
          <a:prstGeom prst="rect">
            <a:avLst/>
          </a:prstGeom>
          <a:noFill/>
          <a:ln/>
        </p:spPr>
        <p:txBody>
          <a:bodyPr wrap="square" lIns="0" tIns="0" rIns="0" bIns="0" rtlCol="0" anchor="t"/>
          <a:lstStyle/>
          <a:p>
            <a:pPr indent="0" marL="0">
              <a:buNone/>
            </a:pPr>
            <a:r>
              <a:rPr lang="en-US" sz="1150" dirty="0">
                <a:solidFill>
                  <a:srgbClr val="64748B"/>
                </a:solidFill>
                <a:latin typeface="Calibri" pitchFamily="34" charset="0"/>
                <a:ea typeface="Calibri" pitchFamily="34" charset="-122"/>
                <a:cs typeface="Calibri" pitchFamily="34" charset="-120"/>
              </a:rPr>
              <a:t>Add a regional stock point and set carrier SLAs to hit 5-day shipping.</a:t>
            </a:r>
            <a:endParaRPr lang="en-US" sz="1150" dirty="0"/>
          </a:p>
        </p:txBody>
      </p:sp>
      <p:sp>
        <p:nvSpPr>
          <p:cNvPr id="31" name="Text 29"/>
          <p:cNvSpPr txBox="1"/>
          <p:nvPr/>
        </p:nvSpPr>
        <p:spPr>
          <a:xfrm>
            <a:off x="6537960" y="3922776"/>
            <a:ext cx="1554480" cy="1024128"/>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Operations</a:t>
            </a:r>
            <a:endParaRPr lang="en-US" sz="1300" dirty="0"/>
          </a:p>
        </p:txBody>
      </p:sp>
      <p:sp>
        <p:nvSpPr>
          <p:cNvPr id="32" name="Text 30"/>
          <p:cNvSpPr txBox="1"/>
          <p:nvPr/>
        </p:nvSpPr>
        <p:spPr>
          <a:xfrm>
            <a:off x="8183880" y="3922776"/>
            <a:ext cx="2194560" cy="1024128"/>
          </a:xfrm>
          <a:prstGeom prst="rect">
            <a:avLst/>
          </a:prstGeom>
          <a:noFill/>
          <a:ln/>
        </p:spPr>
        <p:txBody>
          <a:bodyPr wrap="square" lIns="0" tIns="0" rIns="0" bIns="0" rtlCol="0" anchor="ctr"/>
          <a:lstStyle/>
          <a:p>
            <a:pPr indent="0" marL="0">
              <a:buNone/>
            </a:pPr>
            <a:r>
              <a:rPr lang="en-US" sz="1300" b="1" dirty="0">
                <a:solidFill>
                  <a:srgbClr val="0E7C86"/>
                </a:solidFill>
                <a:latin typeface="Calibri" pitchFamily="34" charset="0"/>
                <a:ea typeface="Calibri" pitchFamily="34" charset="-122"/>
                <a:cs typeface="Calibri" pitchFamily="34" charset="-120"/>
              </a:rPr>
              <a:t>On-time 52% / 60% → 80%+</a:t>
            </a:r>
            <a:endParaRPr lang="en-US" sz="1300" dirty="0"/>
          </a:p>
        </p:txBody>
      </p:sp>
      <p:sp>
        <p:nvSpPr>
          <p:cNvPr id="33" name="Text 31"/>
          <p:cNvSpPr txBox="1"/>
          <p:nvPr/>
        </p:nvSpPr>
        <p:spPr>
          <a:xfrm>
            <a:off x="10515600" y="3922776"/>
            <a:ext cx="1051560" cy="1024128"/>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3–6 months</a:t>
            </a:r>
            <a:endParaRPr lang="en-US" sz="1300" dirty="0"/>
          </a:p>
        </p:txBody>
      </p:sp>
      <p:sp>
        <p:nvSpPr>
          <p:cNvPr id="34" name="Shape 32"/>
          <p:cNvSpPr/>
          <p:nvPr/>
        </p:nvSpPr>
        <p:spPr>
          <a:xfrm>
            <a:off x="548640" y="5084064"/>
            <a:ext cx="11091672" cy="1024128"/>
          </a:xfrm>
          <a:prstGeom prst="roundRect">
            <a:avLst>
              <a:gd name="adj" fmla="val 7143"/>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35" name="Shape 33"/>
          <p:cNvSpPr/>
          <p:nvPr/>
        </p:nvSpPr>
        <p:spPr>
          <a:xfrm>
            <a:off x="731520" y="5321808"/>
            <a:ext cx="548640" cy="548640"/>
          </a:xfrm>
          <a:prstGeom prst="ellipse">
            <a:avLst/>
          </a:prstGeom>
          <a:solidFill>
            <a:srgbClr val="0B1F33"/>
          </a:solidFill>
          <a:ln w="12700">
            <a:solidFill>
              <a:srgbClr val="0B1F33"/>
            </a:solidFill>
            <a:prstDash val="solid"/>
          </a:ln>
        </p:spPr>
      </p:sp>
      <p:sp>
        <p:nvSpPr>
          <p:cNvPr id="36" name="Text 34"/>
          <p:cNvSpPr txBox="1"/>
          <p:nvPr/>
        </p:nvSpPr>
        <p:spPr>
          <a:xfrm>
            <a:off x="731520" y="532180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37" name="Text 35"/>
          <p:cNvSpPr txBox="1"/>
          <p:nvPr/>
        </p:nvSpPr>
        <p:spPr>
          <a:xfrm>
            <a:off x="1417320" y="5202936"/>
            <a:ext cx="4937760" cy="274320"/>
          </a:xfrm>
          <a:prstGeom prst="rect">
            <a:avLst/>
          </a:prstGeom>
          <a:noFill/>
          <a:ln/>
        </p:spPr>
        <p:txBody>
          <a:bodyPr wrap="square" lIns="0" tIns="0" rIns="0" bIns="0" rtlCol="0" anchor="t"/>
          <a:lstStyle/>
          <a:p>
            <a:pPr indent="0" marL="0">
              <a:buNone/>
            </a:pPr>
            <a:r>
              <a:rPr lang="en-US" sz="1500" b="1" dirty="0">
                <a:solidFill>
                  <a:srgbClr val="0B1F33"/>
                </a:solidFill>
                <a:latin typeface="Calibri" pitchFamily="34" charset="0"/>
                <a:ea typeface="Calibri" pitchFamily="34" charset="-122"/>
                <a:cs typeface="Calibri" pitchFamily="34" charset="-120"/>
              </a:rPr>
              <a:t>Set up dashboard alerts</a:t>
            </a:r>
            <a:endParaRPr lang="en-US" sz="1500" dirty="0"/>
          </a:p>
        </p:txBody>
      </p:sp>
      <p:sp>
        <p:nvSpPr>
          <p:cNvPr id="38" name="Text 36"/>
          <p:cNvSpPr txBox="1"/>
          <p:nvPr/>
        </p:nvSpPr>
        <p:spPr>
          <a:xfrm>
            <a:off x="1417320" y="5513832"/>
            <a:ext cx="4983480" cy="548640"/>
          </a:xfrm>
          <a:prstGeom prst="rect">
            <a:avLst/>
          </a:prstGeom>
          <a:noFill/>
          <a:ln/>
        </p:spPr>
        <p:txBody>
          <a:bodyPr wrap="square" lIns="0" tIns="0" rIns="0" bIns="0" rtlCol="0" anchor="t"/>
          <a:lstStyle/>
          <a:p>
            <a:pPr indent="0" marL="0">
              <a:buNone/>
            </a:pPr>
            <a:r>
              <a:rPr lang="en-US" sz="1150" dirty="0">
                <a:solidFill>
                  <a:srgbClr val="64748B"/>
                </a:solidFill>
                <a:latin typeface="Calibri" pitchFamily="34" charset="0"/>
                <a:ea typeface="Calibri" pitchFamily="34" charset="-122"/>
                <a:cs typeface="Calibri" pitchFamily="34" charset="-120"/>
              </a:rPr>
              <a:t>Flag margin below 10%, discount above 20% and loss-making orders above 12%.</a:t>
            </a:r>
            <a:endParaRPr lang="en-US" sz="1150" dirty="0"/>
          </a:p>
        </p:txBody>
      </p:sp>
      <p:sp>
        <p:nvSpPr>
          <p:cNvPr id="39" name="Text 37"/>
          <p:cNvSpPr txBox="1"/>
          <p:nvPr/>
        </p:nvSpPr>
        <p:spPr>
          <a:xfrm>
            <a:off x="6537960" y="5084064"/>
            <a:ext cx="1554480" cy="1024128"/>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BI team</a:t>
            </a:r>
            <a:endParaRPr lang="en-US" sz="1300" dirty="0"/>
          </a:p>
        </p:txBody>
      </p:sp>
      <p:sp>
        <p:nvSpPr>
          <p:cNvPr id="40" name="Text 38"/>
          <p:cNvSpPr txBox="1"/>
          <p:nvPr/>
        </p:nvSpPr>
        <p:spPr>
          <a:xfrm>
            <a:off x="8183880" y="5084064"/>
            <a:ext cx="2194560" cy="1024128"/>
          </a:xfrm>
          <a:prstGeom prst="rect">
            <a:avLst/>
          </a:prstGeom>
          <a:noFill/>
          <a:ln/>
        </p:spPr>
        <p:txBody>
          <a:bodyPr wrap="square" lIns="0" tIns="0" rIns="0" bIns="0" rtlCol="0" anchor="ctr"/>
          <a:lstStyle/>
          <a:p>
            <a:pPr indent="0" marL="0">
              <a:buNone/>
            </a:pPr>
            <a:r>
              <a:rPr lang="en-US" sz="1300" b="1" dirty="0">
                <a:solidFill>
                  <a:srgbClr val="0E7C86"/>
                </a:solidFill>
                <a:latin typeface="Calibri" pitchFamily="34" charset="0"/>
                <a:ea typeface="Calibri" pitchFamily="34" charset="-122"/>
                <a:cs typeface="Calibri" pitchFamily="34" charset="-120"/>
              </a:rPr>
              <a:t>Early warning on every KPI</a:t>
            </a:r>
            <a:endParaRPr lang="en-US" sz="1300" dirty="0"/>
          </a:p>
        </p:txBody>
      </p:sp>
      <p:sp>
        <p:nvSpPr>
          <p:cNvPr id="41" name="Text 39"/>
          <p:cNvSpPr txBox="1"/>
          <p:nvPr/>
        </p:nvSpPr>
        <p:spPr>
          <a:xfrm>
            <a:off x="10515600" y="5084064"/>
            <a:ext cx="1051560" cy="1024128"/>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Ongoing</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6F9"/>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28600"/>
          </a:xfrm>
          <a:prstGeom prst="rect">
            <a:avLst/>
          </a:prstGeom>
          <a:noFill/>
          <a:ln/>
        </p:spPr>
        <p:txBody>
          <a:bodyPr wrap="square" lIns="0" tIns="0" rIns="0" bIns="0" rtlCol="0" anchor="t"/>
          <a:lstStyle/>
          <a:p>
            <a:pPr indent="0" marL="0">
              <a:buNone/>
            </a:pPr>
            <a:r>
              <a:rPr lang="en-US" sz="1100" b="1" spc="300" kern="0" dirty="0">
                <a:solidFill>
                  <a:srgbClr val="0E7C86"/>
                </a:solidFill>
                <a:latin typeface="Calibri" pitchFamily="34" charset="0"/>
                <a:ea typeface="Calibri" pitchFamily="34" charset="-122"/>
                <a:cs typeface="Calibri" pitchFamily="34" charset="-120"/>
              </a:rPr>
              <a:t>7  RECOMMENDATIONS</a:t>
            </a:r>
            <a:endParaRPr lang="en-US" sz="1100" dirty="0"/>
          </a:p>
        </p:txBody>
      </p:sp>
      <p:sp>
        <p:nvSpPr>
          <p:cNvPr id="3" name="Text 1"/>
          <p:cNvSpPr txBox="1"/>
          <p:nvPr/>
        </p:nvSpPr>
        <p:spPr>
          <a:xfrm>
            <a:off x="548640" y="530352"/>
            <a:ext cx="11064240" cy="54864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Business impact: a 20% discount cap lifts profit</a:t>
            </a:r>
            <a:endParaRPr lang="en-US" sz="2800" dirty="0"/>
          </a:p>
        </p:txBody>
      </p:sp>
      <p:sp>
        <p:nvSpPr>
          <p:cNvPr id="4" name="Text 2"/>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Executive Business Intelligence Dashboard</a:t>
            </a:r>
            <a:endParaRPr lang="en-US" sz="1000" dirty="0"/>
          </a:p>
        </p:txBody>
      </p:sp>
      <p:sp>
        <p:nvSpPr>
          <p:cNvPr id="5" name="Text 3"/>
          <p:cNvSpPr txBox="1"/>
          <p:nvPr/>
        </p:nvSpPr>
        <p:spPr>
          <a:xfrm>
            <a:off x="11091672" y="6510528"/>
            <a:ext cx="548640" cy="228600"/>
          </a:xfrm>
          <a:prstGeom prst="rect">
            <a:avLst/>
          </a:prstGeom>
          <a:noFill/>
          <a:ln/>
        </p:spPr>
        <p:txBody>
          <a:bodyPr wrap="square" lIns="0" tIns="0" rIns="0" bIns="0" rtlCol="0" anchor="t"/>
          <a:lstStyle/>
          <a:p>
            <a:pPr algn="r" indent="0" marL="0">
              <a:buNone/>
            </a:pPr>
            <a:r>
              <a:rPr lang="en-US" sz="1000" dirty="0">
                <a:solidFill>
                  <a:srgbClr val="64748B"/>
                </a:solidFill>
                <a:latin typeface="Calibri" pitchFamily="34" charset="0"/>
                <a:ea typeface="Calibri" pitchFamily="34" charset="-122"/>
                <a:cs typeface="Calibri" pitchFamily="34" charset="-120"/>
              </a:rPr>
              <a:t>15</a:t>
            </a:r>
            <a:endParaRPr lang="en-US" sz="1000" dirty="0"/>
          </a:p>
        </p:txBody>
      </p:sp>
      <p:sp>
        <p:nvSpPr>
          <p:cNvPr id="6" name="Shape 4"/>
          <p:cNvSpPr/>
          <p:nvPr/>
        </p:nvSpPr>
        <p:spPr>
          <a:xfrm>
            <a:off x="548640" y="1371600"/>
            <a:ext cx="6035040" cy="4846320"/>
          </a:xfrm>
          <a:prstGeom prst="roundRect">
            <a:avLst>
              <a:gd name="adj" fmla="val 1509"/>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7" name="Text 5"/>
          <p:cNvSpPr txBox="1"/>
          <p:nvPr/>
        </p:nvSpPr>
        <p:spPr>
          <a:xfrm>
            <a:off x="822960" y="1554480"/>
            <a:ext cx="5486400" cy="274320"/>
          </a:xfrm>
          <a:prstGeom prst="rect">
            <a:avLst/>
          </a:prstGeom>
          <a:noFill/>
          <a:ln/>
        </p:spPr>
        <p:txBody>
          <a:bodyPr wrap="square" lIns="0" tIns="0" rIns="0" bIns="0" rtlCol="0" anchor="t"/>
          <a:lstStyle/>
          <a:p>
            <a:pPr indent="0" marL="0">
              <a:buNone/>
            </a:pPr>
            <a:r>
              <a:rPr lang="en-US" sz="1500" b="1" dirty="0">
                <a:solidFill>
                  <a:srgbClr val="0B1F33"/>
                </a:solidFill>
                <a:latin typeface="Calibri" pitchFamily="34" charset="0"/>
                <a:ea typeface="Calibri" pitchFamily="34" charset="-122"/>
                <a:cs typeface="Calibri" pitchFamily="34" charset="-120"/>
              </a:rPr>
              <a:t>FY25 profit ($K): actual vs. scenario</a:t>
            </a:r>
            <a:endParaRPr lang="en-US" sz="1500" dirty="0"/>
          </a:p>
        </p:txBody>
      </p:sp>
      <p:graphicFrame>
        <p:nvGraphicFramePr>
          <p:cNvPr id="8" name="Chart 0" descr=""/>
          <p:cNvGraphicFramePr/>
          <p:nvPr/>
        </p:nvGraphicFramePr>
        <p:xfrm>
          <a:off x="731520" y="1920240"/>
          <a:ext cx="5669280" cy="411480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6858000" y="1371600"/>
            <a:ext cx="4782312" cy="1051560"/>
          </a:xfrm>
          <a:prstGeom prst="roundRect">
            <a:avLst>
              <a:gd name="adj" fmla="val 6957"/>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10" name="Text 7"/>
          <p:cNvSpPr txBox="1"/>
          <p:nvPr/>
        </p:nvSpPr>
        <p:spPr>
          <a:xfrm>
            <a:off x="7086600" y="1463040"/>
            <a:ext cx="4389120" cy="502920"/>
          </a:xfrm>
          <a:prstGeom prst="rect">
            <a:avLst/>
          </a:prstGeom>
          <a:noFill/>
          <a:ln/>
        </p:spPr>
        <p:txBody>
          <a:bodyPr wrap="square" lIns="0" tIns="0" rIns="0" bIns="0" rtlCol="0" anchor="t"/>
          <a:lstStyle/>
          <a:p>
            <a:pPr indent="0" marL="0">
              <a:buNone/>
            </a:pPr>
            <a:r>
              <a:rPr lang="en-US" sz="2600" b="1" dirty="0">
                <a:solidFill>
                  <a:srgbClr val="16A34A"/>
                </a:solidFill>
                <a:latin typeface="Cambria" pitchFamily="34" charset="0"/>
                <a:ea typeface="Cambria" pitchFamily="34" charset="-122"/>
                <a:cs typeface="Cambria" pitchFamily="34" charset="-120"/>
              </a:rPr>
              <a:t>+$7.6K</a:t>
            </a:r>
            <a:endParaRPr lang="en-US" sz="2600" dirty="0"/>
          </a:p>
        </p:txBody>
      </p:sp>
      <p:sp>
        <p:nvSpPr>
          <p:cNvPr id="11" name="Text 8"/>
          <p:cNvSpPr txBox="1"/>
          <p:nvPr/>
        </p:nvSpPr>
        <p:spPr>
          <a:xfrm>
            <a:off x="7086600" y="1993392"/>
            <a:ext cx="4389120" cy="36576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Extra annual profit (+12.7%)</a:t>
            </a:r>
            <a:endParaRPr lang="en-US" sz="1250" dirty="0"/>
          </a:p>
        </p:txBody>
      </p:sp>
      <p:sp>
        <p:nvSpPr>
          <p:cNvPr id="12" name="Shape 9"/>
          <p:cNvSpPr/>
          <p:nvPr/>
        </p:nvSpPr>
        <p:spPr>
          <a:xfrm>
            <a:off x="6858000" y="2560320"/>
            <a:ext cx="4782312" cy="1051560"/>
          </a:xfrm>
          <a:prstGeom prst="roundRect">
            <a:avLst>
              <a:gd name="adj" fmla="val 6957"/>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13" name="Text 10"/>
          <p:cNvSpPr txBox="1"/>
          <p:nvPr/>
        </p:nvSpPr>
        <p:spPr>
          <a:xfrm>
            <a:off x="7086600" y="2651760"/>
            <a:ext cx="4389120" cy="502920"/>
          </a:xfrm>
          <a:prstGeom prst="rect">
            <a:avLst/>
          </a:prstGeom>
          <a:noFill/>
          <a:ln/>
        </p:spPr>
        <p:txBody>
          <a:bodyPr wrap="square" lIns="0" tIns="0" rIns="0" bIns="0" rtlCol="0" anchor="t"/>
          <a:lstStyle/>
          <a:p>
            <a:pPr indent="0" marL="0">
              <a:buNone/>
            </a:pPr>
            <a:r>
              <a:rPr lang="en-US" sz="2600" b="1" dirty="0">
                <a:solidFill>
                  <a:srgbClr val="0E7C86"/>
                </a:solidFill>
                <a:latin typeface="Cambria" pitchFamily="34" charset="0"/>
                <a:ea typeface="Cambria" pitchFamily="34" charset="-122"/>
                <a:cs typeface="Cambria" pitchFamily="34" charset="-120"/>
              </a:rPr>
              <a:t>11.3% → 12.7%</a:t>
            </a:r>
            <a:endParaRPr lang="en-US" sz="2600" dirty="0"/>
          </a:p>
        </p:txBody>
      </p:sp>
      <p:sp>
        <p:nvSpPr>
          <p:cNvPr id="14" name="Text 11"/>
          <p:cNvSpPr txBox="1"/>
          <p:nvPr/>
        </p:nvSpPr>
        <p:spPr>
          <a:xfrm>
            <a:off x="7086600" y="3182112"/>
            <a:ext cx="4389120" cy="36576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Profit margin, back toward the 13% target</a:t>
            </a:r>
            <a:endParaRPr lang="en-US" sz="1250" dirty="0"/>
          </a:p>
        </p:txBody>
      </p:sp>
      <p:sp>
        <p:nvSpPr>
          <p:cNvPr id="15" name="Shape 12"/>
          <p:cNvSpPr/>
          <p:nvPr/>
        </p:nvSpPr>
        <p:spPr>
          <a:xfrm>
            <a:off x="6858000" y="3749040"/>
            <a:ext cx="4782312" cy="1051560"/>
          </a:xfrm>
          <a:prstGeom prst="roundRect">
            <a:avLst>
              <a:gd name="adj" fmla="val 6957"/>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16" name="Text 13"/>
          <p:cNvSpPr txBox="1"/>
          <p:nvPr/>
        </p:nvSpPr>
        <p:spPr>
          <a:xfrm>
            <a:off x="7086600" y="3840480"/>
            <a:ext cx="4389120" cy="502920"/>
          </a:xfrm>
          <a:prstGeom prst="rect">
            <a:avLst/>
          </a:prstGeom>
          <a:noFill/>
          <a:ln/>
        </p:spPr>
        <p:txBody>
          <a:bodyPr wrap="square" lIns="0" tIns="0" rIns="0" bIns="0" rtlCol="0" anchor="t"/>
          <a:lstStyle/>
          <a:p>
            <a:pPr indent="0" marL="0">
              <a:buNone/>
            </a:pPr>
            <a:r>
              <a:rPr lang="en-US" sz="2600" b="1" dirty="0">
                <a:solidFill>
                  <a:srgbClr val="0B1F33"/>
                </a:solidFill>
                <a:latin typeface="Cambria" pitchFamily="34" charset="0"/>
                <a:ea typeface="Cambria" pitchFamily="34" charset="-122"/>
                <a:cs typeface="Cambria" pitchFamily="34" charset="-120"/>
              </a:rPr>
              <a:t>$526.5K → $528.4K</a:t>
            </a:r>
            <a:endParaRPr lang="en-US" sz="2600" dirty="0"/>
          </a:p>
        </p:txBody>
      </p:sp>
      <p:sp>
        <p:nvSpPr>
          <p:cNvPr id="17" name="Text 14"/>
          <p:cNvSpPr txBox="1"/>
          <p:nvPr/>
        </p:nvSpPr>
        <p:spPr>
          <a:xfrm>
            <a:off x="7086600" y="4370832"/>
            <a:ext cx="4389120" cy="36576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Revenue stays flat, so growth is protected</a:t>
            </a:r>
            <a:endParaRPr lang="en-US" sz="1250" dirty="0"/>
          </a:p>
        </p:txBody>
      </p:sp>
      <p:sp>
        <p:nvSpPr>
          <p:cNvPr id="18" name="Shape 15"/>
          <p:cNvSpPr/>
          <p:nvPr/>
        </p:nvSpPr>
        <p:spPr>
          <a:xfrm>
            <a:off x="6858000" y="4937760"/>
            <a:ext cx="4782312" cy="1280160"/>
          </a:xfrm>
          <a:prstGeom prst="roundRect">
            <a:avLst>
              <a:gd name="adj" fmla="val 5714"/>
            </a:avLst>
          </a:prstGeom>
          <a:solidFill>
            <a:srgbClr val="D6EEF0"/>
          </a:solidFill>
          <a:ln w="12700">
            <a:solidFill>
              <a:srgbClr val="D6EEF0"/>
            </a:solidFill>
            <a:prstDash val="solid"/>
          </a:ln>
          <a:effectLst>
            <a:outerShdw sx="100000" sy="100000" kx="0" ky="0" algn="bl" rotWithShape="0" blurRad="101600" dist="25400" dir="5400000">
              <a:srgbClr val="000000">
                <a:alpha val="10000"/>
              </a:srgbClr>
            </a:outerShdw>
          </a:effectLst>
        </p:spPr>
      </p:sp>
      <p:sp>
        <p:nvSpPr>
          <p:cNvPr id="19" name="Text 16"/>
          <p:cNvSpPr txBox="1"/>
          <p:nvPr/>
        </p:nvSpPr>
        <p:spPr>
          <a:xfrm>
            <a:off x="7086600" y="5029200"/>
            <a:ext cx="4297680" cy="274320"/>
          </a:xfrm>
          <a:prstGeom prst="rect">
            <a:avLst/>
          </a:prstGeom>
          <a:noFill/>
          <a:ln/>
        </p:spPr>
        <p:txBody>
          <a:bodyPr wrap="square" lIns="0" tIns="0" rIns="0" bIns="0" rtlCol="0" anchor="t"/>
          <a:lstStyle/>
          <a:p>
            <a:pPr indent="0" marL="0">
              <a:buNone/>
            </a:pPr>
            <a:r>
              <a:rPr lang="en-US" sz="1300" b="1" dirty="0">
                <a:solidFill>
                  <a:srgbClr val="0B1F33"/>
                </a:solidFill>
                <a:latin typeface="Calibri" pitchFamily="34" charset="0"/>
                <a:ea typeface="Calibri" pitchFamily="34" charset="-122"/>
                <a:cs typeface="Calibri" pitchFamily="34" charset="-120"/>
              </a:rPr>
              <a:t>Assumptions</a:t>
            </a:r>
            <a:endParaRPr lang="en-US" sz="1300" dirty="0"/>
          </a:p>
        </p:txBody>
      </p:sp>
      <p:sp>
        <p:nvSpPr>
          <p:cNvPr id="20" name="Text 17"/>
          <p:cNvSpPr txBox="1"/>
          <p:nvPr/>
        </p:nvSpPr>
        <p:spPr>
          <a:xfrm>
            <a:off x="7086600" y="5321808"/>
            <a:ext cx="4343400" cy="86868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FY25 orders above 20% discount are re-priced at 20%. 15% of those orders are lost to lower discounts. Margin effect: 0.75 pts per 1 pt of discount, from the data.</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6F9"/>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28600"/>
          </a:xfrm>
          <a:prstGeom prst="rect">
            <a:avLst/>
          </a:prstGeom>
          <a:noFill/>
          <a:ln/>
        </p:spPr>
        <p:txBody>
          <a:bodyPr wrap="square" lIns="0" tIns="0" rIns="0" bIns="0" rtlCol="0" anchor="t"/>
          <a:lstStyle/>
          <a:p>
            <a:pPr indent="0" marL="0">
              <a:buNone/>
            </a:pPr>
            <a:r>
              <a:rPr lang="en-US" sz="1100" b="1" spc="300" kern="0" dirty="0">
                <a:solidFill>
                  <a:srgbClr val="0E7C86"/>
                </a:solidFill>
                <a:latin typeface="Calibri" pitchFamily="34" charset="0"/>
                <a:ea typeface="Calibri" pitchFamily="34" charset="-122"/>
                <a:cs typeface="Calibri" pitchFamily="34" charset="-120"/>
              </a:rPr>
              <a:t>8  CONCLUSION</a:t>
            </a:r>
            <a:endParaRPr lang="en-US" sz="1100" dirty="0"/>
          </a:p>
        </p:txBody>
      </p:sp>
      <p:sp>
        <p:nvSpPr>
          <p:cNvPr id="3" name="Text 1"/>
          <p:cNvSpPr txBox="1"/>
          <p:nvPr/>
        </p:nvSpPr>
        <p:spPr>
          <a:xfrm>
            <a:off x="548640" y="530352"/>
            <a:ext cx="11064240" cy="54864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Key takeaways and what I learned</a:t>
            </a:r>
            <a:endParaRPr lang="en-US" sz="2800" dirty="0"/>
          </a:p>
        </p:txBody>
      </p:sp>
      <p:sp>
        <p:nvSpPr>
          <p:cNvPr id="4" name="Text 2"/>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Executive Business Intelligence Dashboard</a:t>
            </a:r>
            <a:endParaRPr lang="en-US" sz="1000" dirty="0"/>
          </a:p>
        </p:txBody>
      </p:sp>
      <p:sp>
        <p:nvSpPr>
          <p:cNvPr id="5" name="Text 3"/>
          <p:cNvSpPr txBox="1"/>
          <p:nvPr/>
        </p:nvSpPr>
        <p:spPr>
          <a:xfrm>
            <a:off x="11091672" y="6510528"/>
            <a:ext cx="548640" cy="228600"/>
          </a:xfrm>
          <a:prstGeom prst="rect">
            <a:avLst/>
          </a:prstGeom>
          <a:noFill/>
          <a:ln/>
        </p:spPr>
        <p:txBody>
          <a:bodyPr wrap="square" lIns="0" tIns="0" rIns="0" bIns="0" rtlCol="0" anchor="t"/>
          <a:lstStyle/>
          <a:p>
            <a:pPr algn="r" indent="0" marL="0">
              <a:buNone/>
            </a:pPr>
            <a:r>
              <a:rPr lang="en-US" sz="1000" dirty="0">
                <a:solidFill>
                  <a:srgbClr val="64748B"/>
                </a:solidFill>
                <a:latin typeface="Calibri" pitchFamily="34" charset="0"/>
                <a:ea typeface="Calibri" pitchFamily="34" charset="-122"/>
                <a:cs typeface="Calibri" pitchFamily="34" charset="-120"/>
              </a:rPr>
              <a:t>16</a:t>
            </a:r>
            <a:endParaRPr lang="en-US" sz="1000" dirty="0"/>
          </a:p>
        </p:txBody>
      </p:sp>
      <p:sp>
        <p:nvSpPr>
          <p:cNvPr id="6" name="Shape 4"/>
          <p:cNvSpPr/>
          <p:nvPr/>
        </p:nvSpPr>
        <p:spPr>
          <a:xfrm>
            <a:off x="548640" y="1371600"/>
            <a:ext cx="6309360" cy="4846320"/>
          </a:xfrm>
          <a:prstGeom prst="roundRect">
            <a:avLst>
              <a:gd name="adj" fmla="val 1509"/>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7" name="Text 5"/>
          <p:cNvSpPr txBox="1"/>
          <p:nvPr/>
        </p:nvSpPr>
        <p:spPr>
          <a:xfrm>
            <a:off x="822960" y="1554480"/>
            <a:ext cx="5486400" cy="365760"/>
          </a:xfrm>
          <a:prstGeom prst="rect">
            <a:avLst/>
          </a:prstGeom>
          <a:noFill/>
          <a:ln/>
        </p:spPr>
        <p:txBody>
          <a:bodyPr wrap="square" lIns="0" tIns="0" rIns="0" bIns="0" rtlCol="0" anchor="t"/>
          <a:lstStyle/>
          <a:p>
            <a:pPr indent="0" marL="0">
              <a:buNone/>
            </a:pPr>
            <a:r>
              <a:rPr lang="en-US" sz="2000" b="1" dirty="0">
                <a:solidFill>
                  <a:srgbClr val="0B1F33"/>
                </a:solidFill>
                <a:latin typeface="Calibri" pitchFamily="34" charset="0"/>
                <a:ea typeface="Calibri" pitchFamily="34" charset="-122"/>
                <a:cs typeface="Calibri" pitchFamily="34" charset="-120"/>
              </a:rPr>
              <a:t>Key takeaways</a:t>
            </a:r>
            <a:endParaRPr lang="en-US" sz="2000" dirty="0"/>
          </a:p>
        </p:txBody>
      </p:sp>
      <p:sp>
        <p:nvSpPr>
          <p:cNvPr id="8" name="Shape 6"/>
          <p:cNvSpPr/>
          <p:nvPr/>
        </p:nvSpPr>
        <p:spPr>
          <a:xfrm>
            <a:off x="822960" y="2267712"/>
            <a:ext cx="457200" cy="457200"/>
          </a:xfrm>
          <a:prstGeom prst="ellipse">
            <a:avLst/>
          </a:prstGeom>
          <a:solidFill>
            <a:srgbClr val="0E7C86"/>
          </a:solidFill>
          <a:ln w="6350">
            <a:solidFill>
              <a:srgbClr val="0E7C86"/>
            </a:solidFill>
            <a:prstDash val="solid"/>
          </a:ln>
        </p:spPr>
      </p:sp>
      <p:pic>
        <p:nvPicPr>
          <p:cNvPr id="9" name="Image 0" descr="preencoded.png">    </p:cNvPr>
          <p:cNvPicPr>
            <a:picLocks noChangeAspect="1"/>
          </p:cNvPicPr>
          <p:nvPr/>
        </p:nvPicPr>
        <p:blipFill>
          <a:blip r:embed="rId1"/>
          <a:stretch>
            <a:fillRect/>
          </a:stretch>
        </p:blipFill>
        <p:spPr>
          <a:xfrm>
            <a:off x="941832" y="2386584"/>
            <a:ext cx="219456" cy="219456"/>
          </a:xfrm>
          <a:prstGeom prst="rect">
            <a:avLst/>
          </a:prstGeom>
        </p:spPr>
      </p:pic>
      <p:sp>
        <p:nvSpPr>
          <p:cNvPr id="10" name="Text 7"/>
          <p:cNvSpPr txBox="1"/>
          <p:nvPr/>
        </p:nvSpPr>
        <p:spPr>
          <a:xfrm>
            <a:off x="1463040" y="2103120"/>
            <a:ext cx="5120640" cy="77724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Growth is strong, but margin has fallen 1.7 points since FY22.</a:t>
            </a:r>
            <a:endParaRPr lang="en-US" sz="1500" dirty="0"/>
          </a:p>
        </p:txBody>
      </p:sp>
      <p:sp>
        <p:nvSpPr>
          <p:cNvPr id="11" name="Shape 8"/>
          <p:cNvSpPr/>
          <p:nvPr/>
        </p:nvSpPr>
        <p:spPr>
          <a:xfrm>
            <a:off x="822960" y="3273552"/>
            <a:ext cx="457200" cy="457200"/>
          </a:xfrm>
          <a:prstGeom prst="ellipse">
            <a:avLst/>
          </a:prstGeom>
          <a:solidFill>
            <a:srgbClr val="0E7C86"/>
          </a:solidFill>
          <a:ln w="6350">
            <a:solidFill>
              <a:srgbClr val="0E7C86"/>
            </a:solidFill>
            <a:prstDash val="solid"/>
          </a:ln>
        </p:spPr>
      </p:sp>
      <p:pic>
        <p:nvPicPr>
          <p:cNvPr id="12" name="Image 1" descr="preencoded.png">    </p:cNvPr>
          <p:cNvPicPr>
            <a:picLocks noChangeAspect="1"/>
          </p:cNvPicPr>
          <p:nvPr/>
        </p:nvPicPr>
        <p:blipFill>
          <a:blip r:embed="rId2"/>
          <a:stretch>
            <a:fillRect/>
          </a:stretch>
        </p:blipFill>
        <p:spPr>
          <a:xfrm>
            <a:off x="941832" y="3392424"/>
            <a:ext cx="219456" cy="219456"/>
          </a:xfrm>
          <a:prstGeom prst="rect">
            <a:avLst/>
          </a:prstGeom>
        </p:spPr>
      </p:pic>
      <p:sp>
        <p:nvSpPr>
          <p:cNvPr id="13" name="Text 9"/>
          <p:cNvSpPr txBox="1"/>
          <p:nvPr/>
        </p:nvSpPr>
        <p:spPr>
          <a:xfrm>
            <a:off x="1463040" y="3108960"/>
            <a:ext cx="5120640" cy="77724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Discounts above 20% are the main driver of lost profit.</a:t>
            </a:r>
            <a:endParaRPr lang="en-US" sz="1500" dirty="0"/>
          </a:p>
        </p:txBody>
      </p:sp>
      <p:sp>
        <p:nvSpPr>
          <p:cNvPr id="14" name="Shape 10"/>
          <p:cNvSpPr/>
          <p:nvPr/>
        </p:nvSpPr>
        <p:spPr>
          <a:xfrm>
            <a:off x="822960" y="4279392"/>
            <a:ext cx="457200" cy="457200"/>
          </a:xfrm>
          <a:prstGeom prst="ellipse">
            <a:avLst/>
          </a:prstGeom>
          <a:solidFill>
            <a:srgbClr val="0E7C86"/>
          </a:solidFill>
          <a:ln w="6350">
            <a:solidFill>
              <a:srgbClr val="0E7C86"/>
            </a:solidFill>
            <a:prstDash val="solid"/>
          </a:ln>
        </p:spPr>
      </p:sp>
      <p:pic>
        <p:nvPicPr>
          <p:cNvPr id="15" name="Image 2" descr="preencoded.png">    </p:cNvPr>
          <p:cNvPicPr>
            <a:picLocks noChangeAspect="1"/>
          </p:cNvPicPr>
          <p:nvPr/>
        </p:nvPicPr>
        <p:blipFill>
          <a:blip r:embed="rId3"/>
          <a:stretch>
            <a:fillRect/>
          </a:stretch>
        </p:blipFill>
        <p:spPr>
          <a:xfrm>
            <a:off x="941832" y="4398264"/>
            <a:ext cx="219456" cy="219456"/>
          </a:xfrm>
          <a:prstGeom prst="rect">
            <a:avLst/>
          </a:prstGeom>
        </p:spPr>
      </p:pic>
      <p:sp>
        <p:nvSpPr>
          <p:cNvPr id="16" name="Text 11"/>
          <p:cNvSpPr txBox="1"/>
          <p:nvPr/>
        </p:nvSpPr>
        <p:spPr>
          <a:xfrm>
            <a:off x="1463040" y="4114800"/>
            <a:ext cx="5120640" cy="77724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Furniture in Central and South and slow delivery are the hotspots.</a:t>
            </a:r>
            <a:endParaRPr lang="en-US" sz="1500" dirty="0"/>
          </a:p>
        </p:txBody>
      </p:sp>
      <p:sp>
        <p:nvSpPr>
          <p:cNvPr id="17" name="Shape 12"/>
          <p:cNvSpPr/>
          <p:nvPr/>
        </p:nvSpPr>
        <p:spPr>
          <a:xfrm>
            <a:off x="822960" y="5285232"/>
            <a:ext cx="457200" cy="457200"/>
          </a:xfrm>
          <a:prstGeom prst="ellipse">
            <a:avLst/>
          </a:prstGeom>
          <a:solidFill>
            <a:srgbClr val="F59E0B"/>
          </a:solidFill>
          <a:ln w="6350">
            <a:solidFill>
              <a:srgbClr val="F59E0B"/>
            </a:solidFill>
            <a:prstDash val="solid"/>
          </a:ln>
        </p:spPr>
      </p:sp>
      <p:pic>
        <p:nvPicPr>
          <p:cNvPr id="18" name="Image 3" descr="preencoded.png">    </p:cNvPr>
          <p:cNvPicPr>
            <a:picLocks noChangeAspect="1"/>
          </p:cNvPicPr>
          <p:nvPr/>
        </p:nvPicPr>
        <p:blipFill>
          <a:blip r:embed="rId4"/>
          <a:stretch>
            <a:fillRect/>
          </a:stretch>
        </p:blipFill>
        <p:spPr>
          <a:xfrm>
            <a:off x="941832" y="5404104"/>
            <a:ext cx="219456" cy="219456"/>
          </a:xfrm>
          <a:prstGeom prst="rect">
            <a:avLst/>
          </a:prstGeom>
        </p:spPr>
      </p:pic>
      <p:sp>
        <p:nvSpPr>
          <p:cNvPr id="19" name="Text 13"/>
          <p:cNvSpPr txBox="1"/>
          <p:nvPr/>
        </p:nvSpPr>
        <p:spPr>
          <a:xfrm>
            <a:off x="1463040" y="5120640"/>
            <a:ext cx="5120640" cy="77724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Capping discounts could add about $7.6K profit a year.</a:t>
            </a:r>
            <a:endParaRPr lang="en-US" sz="1500" dirty="0"/>
          </a:p>
        </p:txBody>
      </p:sp>
      <p:sp>
        <p:nvSpPr>
          <p:cNvPr id="20" name="Shape 14"/>
          <p:cNvSpPr/>
          <p:nvPr/>
        </p:nvSpPr>
        <p:spPr>
          <a:xfrm>
            <a:off x="7132320" y="1371600"/>
            <a:ext cx="4507992" cy="2377440"/>
          </a:xfrm>
          <a:prstGeom prst="roundRect">
            <a:avLst>
              <a:gd name="adj" fmla="val 3077"/>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21" name="Text 15"/>
          <p:cNvSpPr txBox="1"/>
          <p:nvPr/>
        </p:nvSpPr>
        <p:spPr>
          <a:xfrm>
            <a:off x="7360920" y="1536192"/>
            <a:ext cx="4023360" cy="320040"/>
          </a:xfrm>
          <a:prstGeom prst="rect">
            <a:avLst/>
          </a:prstGeom>
          <a:noFill/>
          <a:ln/>
        </p:spPr>
        <p:txBody>
          <a:bodyPr wrap="square" lIns="0" tIns="0" rIns="0" bIns="0" rtlCol="0" anchor="t"/>
          <a:lstStyle/>
          <a:p>
            <a:pPr indent="0" marL="0">
              <a:buNone/>
            </a:pPr>
            <a:r>
              <a:rPr lang="en-US" sz="1700" b="1" dirty="0">
                <a:solidFill>
                  <a:srgbClr val="0B1F33"/>
                </a:solidFill>
                <a:latin typeface="Calibri" pitchFamily="34" charset="0"/>
                <a:ea typeface="Calibri" pitchFamily="34" charset="-122"/>
                <a:cs typeface="Calibri" pitchFamily="34" charset="-120"/>
              </a:rPr>
              <a:t>Skills gained</a:t>
            </a:r>
            <a:endParaRPr lang="en-US" sz="1700" dirty="0"/>
          </a:p>
        </p:txBody>
      </p:sp>
      <p:sp>
        <p:nvSpPr>
          <p:cNvPr id="22" name="Text 16"/>
          <p:cNvSpPr txBox="1"/>
          <p:nvPr/>
        </p:nvSpPr>
        <p:spPr>
          <a:xfrm>
            <a:off x="7360920" y="1965960"/>
            <a:ext cx="4114800" cy="16459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Data modelling and DAX</a:t>
            </a:r>
            <a:endParaRPr lang="en-US" sz="1350" dirty="0"/>
          </a:p>
          <a:p>
            <a:pPr marL="342900" indent="-3429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KPI design and thresholds</a:t>
            </a:r>
            <a:endParaRPr lang="en-US" sz="1350" dirty="0"/>
          </a:p>
          <a:p>
            <a:pPr marL="342900" indent="-3429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Dashboard layout and storytelling</a:t>
            </a:r>
            <a:endParaRPr lang="en-US" sz="1350" dirty="0"/>
          </a:p>
          <a:p>
            <a:pPr marL="342900" indent="-3429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Turning insights into recommendations</a:t>
            </a:r>
            <a:endParaRPr lang="en-US" sz="1350" dirty="0"/>
          </a:p>
        </p:txBody>
      </p:sp>
      <p:sp>
        <p:nvSpPr>
          <p:cNvPr id="23" name="Shape 17"/>
          <p:cNvSpPr/>
          <p:nvPr/>
        </p:nvSpPr>
        <p:spPr>
          <a:xfrm>
            <a:off x="7132320" y="3931920"/>
            <a:ext cx="4507992" cy="2286000"/>
          </a:xfrm>
          <a:prstGeom prst="roundRect">
            <a:avLst>
              <a:gd name="adj" fmla="val 3200"/>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24" name="Text 18"/>
          <p:cNvSpPr txBox="1"/>
          <p:nvPr/>
        </p:nvSpPr>
        <p:spPr>
          <a:xfrm>
            <a:off x="7360920" y="4096512"/>
            <a:ext cx="4023360" cy="320040"/>
          </a:xfrm>
          <a:prstGeom prst="rect">
            <a:avLst/>
          </a:prstGeom>
          <a:noFill/>
          <a:ln/>
        </p:spPr>
        <p:txBody>
          <a:bodyPr wrap="square" lIns="0" tIns="0" rIns="0" bIns="0" rtlCol="0" anchor="t"/>
          <a:lstStyle/>
          <a:p>
            <a:pPr indent="0" marL="0">
              <a:buNone/>
            </a:pPr>
            <a:r>
              <a:rPr lang="en-US" sz="1700" b="1" dirty="0">
                <a:solidFill>
                  <a:srgbClr val="0B1F33"/>
                </a:solidFill>
                <a:latin typeface="Calibri" pitchFamily="34" charset="0"/>
                <a:ea typeface="Calibri" pitchFamily="34" charset="-122"/>
                <a:cs typeface="Calibri" pitchFamily="34" charset="-120"/>
              </a:rPr>
              <a:t>Next steps</a:t>
            </a:r>
            <a:endParaRPr lang="en-US" sz="1700" dirty="0"/>
          </a:p>
        </p:txBody>
      </p:sp>
      <p:sp>
        <p:nvSpPr>
          <p:cNvPr id="25" name="Text 19"/>
          <p:cNvSpPr txBox="1"/>
          <p:nvPr/>
        </p:nvSpPr>
        <p:spPr>
          <a:xfrm>
            <a:off x="7360920" y="4526280"/>
            <a:ext cx="4114800" cy="14630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Add a sales forecast page</a:t>
            </a:r>
            <a:endParaRPr lang="en-US" sz="1350" dirty="0"/>
          </a:p>
          <a:p>
            <a:pPr marL="342900" indent="-3429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Add drill-through to order level</a:t>
            </a:r>
            <a:endParaRPr lang="en-US" sz="1350" dirty="0"/>
          </a:p>
          <a:p>
            <a:pPr marL="342900" indent="-3429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Add a discount what-if parameter</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F6F9"/>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28600"/>
          </a:xfrm>
          <a:prstGeom prst="rect">
            <a:avLst/>
          </a:prstGeom>
          <a:noFill/>
          <a:ln/>
        </p:spPr>
        <p:txBody>
          <a:bodyPr wrap="square" lIns="0" tIns="0" rIns="0" bIns="0" rtlCol="0" anchor="t"/>
          <a:lstStyle/>
          <a:p>
            <a:pPr indent="0" marL="0">
              <a:buNone/>
            </a:pPr>
            <a:r>
              <a:rPr lang="en-US" sz="1100" b="1" spc="300" kern="0" dirty="0">
                <a:solidFill>
                  <a:srgbClr val="0E7C86"/>
                </a:solidFill>
                <a:latin typeface="Calibri" pitchFamily="34" charset="0"/>
                <a:ea typeface="Calibri" pitchFamily="34" charset="-122"/>
                <a:cs typeface="Calibri" pitchFamily="34" charset="-120"/>
              </a:rPr>
              <a:t>APPENDIX</a:t>
            </a:r>
            <a:endParaRPr lang="en-US" sz="1100" dirty="0"/>
          </a:p>
        </p:txBody>
      </p:sp>
      <p:sp>
        <p:nvSpPr>
          <p:cNvPr id="3" name="Text 1"/>
          <p:cNvSpPr txBox="1"/>
          <p:nvPr/>
        </p:nvSpPr>
        <p:spPr>
          <a:xfrm>
            <a:off x="548640" y="530352"/>
            <a:ext cx="11064240" cy="54864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Project deliverables and submission checklist</a:t>
            </a:r>
            <a:endParaRPr lang="en-US" sz="2800" dirty="0"/>
          </a:p>
        </p:txBody>
      </p:sp>
      <p:sp>
        <p:nvSpPr>
          <p:cNvPr id="4" name="Text 2"/>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Executive Business Intelligence Dashboard</a:t>
            </a:r>
            <a:endParaRPr lang="en-US" sz="1000" dirty="0"/>
          </a:p>
        </p:txBody>
      </p:sp>
      <p:sp>
        <p:nvSpPr>
          <p:cNvPr id="5" name="Text 3"/>
          <p:cNvSpPr txBox="1"/>
          <p:nvPr/>
        </p:nvSpPr>
        <p:spPr>
          <a:xfrm>
            <a:off x="11091672" y="6510528"/>
            <a:ext cx="548640" cy="228600"/>
          </a:xfrm>
          <a:prstGeom prst="rect">
            <a:avLst/>
          </a:prstGeom>
          <a:noFill/>
          <a:ln/>
        </p:spPr>
        <p:txBody>
          <a:bodyPr wrap="square" lIns="0" tIns="0" rIns="0" bIns="0" rtlCol="0" anchor="t"/>
          <a:lstStyle/>
          <a:p>
            <a:pPr algn="r" indent="0" marL="0">
              <a:buNone/>
            </a:pPr>
            <a:r>
              <a:rPr lang="en-US" sz="1000" dirty="0">
                <a:solidFill>
                  <a:srgbClr val="64748B"/>
                </a:solidFill>
                <a:latin typeface="Calibri" pitchFamily="34" charset="0"/>
                <a:ea typeface="Calibri" pitchFamily="34" charset="-122"/>
                <a:cs typeface="Calibri" pitchFamily="34" charset="-120"/>
              </a:rPr>
              <a:t>17</a:t>
            </a:r>
            <a:endParaRPr lang="en-US" sz="1000" dirty="0"/>
          </a:p>
        </p:txBody>
      </p:sp>
      <p:sp>
        <p:nvSpPr>
          <p:cNvPr id="6" name="Shape 4"/>
          <p:cNvSpPr/>
          <p:nvPr/>
        </p:nvSpPr>
        <p:spPr>
          <a:xfrm>
            <a:off x="548640" y="1371600"/>
            <a:ext cx="3593592" cy="4846320"/>
          </a:xfrm>
          <a:prstGeom prst="roundRect">
            <a:avLst>
              <a:gd name="adj" fmla="val 2036"/>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7" name="Shape 5"/>
          <p:cNvSpPr/>
          <p:nvPr/>
        </p:nvSpPr>
        <p:spPr>
          <a:xfrm>
            <a:off x="822960" y="1645920"/>
            <a:ext cx="685800" cy="685800"/>
          </a:xfrm>
          <a:prstGeom prst="ellipse">
            <a:avLst/>
          </a:prstGeom>
          <a:solidFill>
            <a:srgbClr val="0B1F33"/>
          </a:solidFill>
          <a:ln w="6350">
            <a:solidFill>
              <a:srgbClr val="0B1F33"/>
            </a:solidFill>
            <a:prstDash val="solid"/>
          </a:ln>
        </p:spPr>
      </p:sp>
      <p:pic>
        <p:nvPicPr>
          <p:cNvPr id="8" name="Image 0" descr="preencoded.png">    </p:cNvPr>
          <p:cNvPicPr>
            <a:picLocks noChangeAspect="1"/>
          </p:cNvPicPr>
          <p:nvPr/>
        </p:nvPicPr>
        <p:blipFill>
          <a:blip r:embed="rId1"/>
          <a:stretch>
            <a:fillRect/>
          </a:stretch>
        </p:blipFill>
        <p:spPr>
          <a:xfrm>
            <a:off x="1001268" y="1824228"/>
            <a:ext cx="329184" cy="329184"/>
          </a:xfrm>
          <a:prstGeom prst="rect">
            <a:avLst/>
          </a:prstGeom>
        </p:spPr>
      </p:pic>
      <p:sp>
        <p:nvSpPr>
          <p:cNvPr id="9" name="Text 6"/>
          <p:cNvSpPr txBox="1"/>
          <p:nvPr/>
        </p:nvSpPr>
        <p:spPr>
          <a:xfrm>
            <a:off x="1645920" y="1645920"/>
            <a:ext cx="2313432" cy="685800"/>
          </a:xfrm>
          <a:prstGeom prst="rect">
            <a:avLst/>
          </a:prstGeom>
          <a:noFill/>
          <a:ln/>
        </p:spPr>
        <p:txBody>
          <a:bodyPr wrap="square" lIns="0" tIns="0" rIns="0" bIns="0" rtlCol="0" anchor="ctr"/>
          <a:lstStyle/>
          <a:p>
            <a:pPr indent="0" marL="0">
              <a:buNone/>
            </a:pPr>
            <a:r>
              <a:rPr lang="en-US" sz="1800" b="1" dirty="0">
                <a:solidFill>
                  <a:srgbClr val="0B1F33"/>
                </a:solidFill>
                <a:latin typeface="Calibri" pitchFamily="34" charset="0"/>
                <a:ea typeface="Calibri" pitchFamily="34" charset="-122"/>
                <a:cs typeface="Calibri" pitchFamily="34" charset="-120"/>
              </a:rPr>
              <a:t>GitHub repository</a:t>
            </a:r>
            <a:endParaRPr lang="en-US" sz="1800" dirty="0"/>
          </a:p>
        </p:txBody>
      </p:sp>
      <p:sp>
        <p:nvSpPr>
          <p:cNvPr id="10" name="Text 7"/>
          <p:cNvSpPr txBox="1"/>
          <p:nvPr/>
        </p:nvSpPr>
        <p:spPr>
          <a:xfrm>
            <a:off x="822960" y="2697480"/>
            <a:ext cx="3044952" cy="329184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1F2937"/>
                </a:solidFill>
                <a:latin typeface="Calibri" pitchFamily="34" charset="0"/>
                <a:ea typeface="Calibri" pitchFamily="34" charset="-122"/>
                <a:cs typeface="Calibri" pitchFamily="34" charset="-120"/>
              </a:rPr>
              <a:t>README with problem, KPIs and insights</a:t>
            </a:r>
            <a:endParaRPr lang="en-US" sz="1400" dirty="0"/>
          </a:p>
          <a:p>
            <a:pPr marL="342900" indent="-342900">
              <a:spcAft>
                <a:spcPts val="1000"/>
              </a:spcAft>
              <a:buSzPct val="100000"/>
              <a:buChar char="•"/>
            </a:pPr>
            <a:r>
              <a:rPr lang="en-US" sz="1400" dirty="0">
                <a:solidFill>
                  <a:srgbClr val="1F2937"/>
                </a:solidFill>
                <a:latin typeface="Calibri" pitchFamily="34" charset="0"/>
                <a:ea typeface="Calibri" pitchFamily="34" charset="-122"/>
                <a:cs typeface="Calibri" pitchFamily="34" charset="-120"/>
              </a:rPr>
              <a:t>Dataset (CSV) and data dictionary</a:t>
            </a:r>
            <a:endParaRPr lang="en-US" sz="1400" dirty="0"/>
          </a:p>
          <a:p>
            <a:pPr marL="342900" indent="-342900">
              <a:spcAft>
                <a:spcPts val="1000"/>
              </a:spcAft>
              <a:buSzPct val="100000"/>
              <a:buChar char="•"/>
            </a:pPr>
            <a:r>
              <a:rPr lang="en-US" sz="1400" dirty="0">
                <a:solidFill>
                  <a:srgbClr val="1F2937"/>
                </a:solidFill>
                <a:latin typeface="Calibri" pitchFamily="34" charset="0"/>
                <a:ea typeface="Calibri" pitchFamily="34" charset="-122"/>
                <a:cs typeface="Calibri" pitchFamily="34" charset="-120"/>
              </a:rPr>
              <a:t>Power BI (.pbix) or Tableau file</a:t>
            </a:r>
            <a:endParaRPr lang="en-US" sz="1400" dirty="0"/>
          </a:p>
          <a:p>
            <a:pPr marL="342900" indent="-342900">
              <a:spcAft>
                <a:spcPts val="1000"/>
              </a:spcAft>
              <a:buSzPct val="100000"/>
              <a:buChar char="•"/>
            </a:pPr>
            <a:r>
              <a:rPr lang="en-US" sz="1400" dirty="0">
                <a:solidFill>
                  <a:srgbClr val="1F2937"/>
                </a:solidFill>
                <a:latin typeface="Calibri" pitchFamily="34" charset="0"/>
                <a:ea typeface="Calibri" pitchFamily="34" charset="-122"/>
                <a:cs typeface="Calibri" pitchFamily="34" charset="-120"/>
              </a:rPr>
              <a:t>Dashboard screenshots</a:t>
            </a:r>
            <a:endParaRPr lang="en-US" sz="1400" dirty="0"/>
          </a:p>
          <a:p>
            <a:pPr marL="342900" indent="-342900">
              <a:spcAft>
                <a:spcPts val="1000"/>
              </a:spcAft>
              <a:buSzPct val="100000"/>
              <a:buChar char="•"/>
            </a:pPr>
            <a:r>
              <a:rPr lang="en-US" sz="1400" dirty="0">
                <a:solidFill>
                  <a:srgbClr val="1F2937"/>
                </a:solidFill>
                <a:latin typeface="Calibri" pitchFamily="34" charset="0"/>
                <a:ea typeface="Calibri" pitchFamily="34" charset="-122"/>
                <a:cs typeface="Calibri" pitchFamily="34" charset="-120"/>
              </a:rPr>
              <a:t>This presentation (PPT / PDF)</a:t>
            </a:r>
            <a:endParaRPr lang="en-US" sz="1400" dirty="0"/>
          </a:p>
        </p:txBody>
      </p:sp>
      <p:sp>
        <p:nvSpPr>
          <p:cNvPr id="11" name="Shape 8"/>
          <p:cNvSpPr/>
          <p:nvPr/>
        </p:nvSpPr>
        <p:spPr>
          <a:xfrm>
            <a:off x="4297680" y="1371600"/>
            <a:ext cx="3593592" cy="4846320"/>
          </a:xfrm>
          <a:prstGeom prst="roundRect">
            <a:avLst>
              <a:gd name="adj" fmla="val 2036"/>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12" name="Shape 9"/>
          <p:cNvSpPr/>
          <p:nvPr/>
        </p:nvSpPr>
        <p:spPr>
          <a:xfrm>
            <a:off x="4572000" y="1645920"/>
            <a:ext cx="685800" cy="685800"/>
          </a:xfrm>
          <a:prstGeom prst="ellipse">
            <a:avLst/>
          </a:prstGeom>
          <a:solidFill>
            <a:srgbClr val="0E7C86"/>
          </a:solidFill>
          <a:ln w="6350">
            <a:solidFill>
              <a:srgbClr val="0E7C86"/>
            </a:solidFill>
            <a:prstDash val="solid"/>
          </a:ln>
        </p:spPr>
      </p:sp>
      <p:pic>
        <p:nvPicPr>
          <p:cNvPr id="13" name="Image 1" descr="preencoded.png">    </p:cNvPr>
          <p:cNvPicPr>
            <a:picLocks noChangeAspect="1"/>
          </p:cNvPicPr>
          <p:nvPr/>
        </p:nvPicPr>
        <p:blipFill>
          <a:blip r:embed="rId2"/>
          <a:stretch>
            <a:fillRect/>
          </a:stretch>
        </p:blipFill>
        <p:spPr>
          <a:xfrm>
            <a:off x="4750308" y="1824228"/>
            <a:ext cx="329184" cy="329184"/>
          </a:xfrm>
          <a:prstGeom prst="rect">
            <a:avLst/>
          </a:prstGeom>
        </p:spPr>
      </p:pic>
      <p:sp>
        <p:nvSpPr>
          <p:cNvPr id="14" name="Text 10"/>
          <p:cNvSpPr txBox="1"/>
          <p:nvPr/>
        </p:nvSpPr>
        <p:spPr>
          <a:xfrm>
            <a:off x="5394960" y="1645920"/>
            <a:ext cx="2313432" cy="685800"/>
          </a:xfrm>
          <a:prstGeom prst="rect">
            <a:avLst/>
          </a:prstGeom>
          <a:noFill/>
          <a:ln/>
        </p:spPr>
        <p:txBody>
          <a:bodyPr wrap="square" lIns="0" tIns="0" rIns="0" bIns="0" rtlCol="0" anchor="ctr"/>
          <a:lstStyle/>
          <a:p>
            <a:pPr indent="0" marL="0">
              <a:buNone/>
            </a:pPr>
            <a:r>
              <a:rPr lang="en-US" sz="1800" b="1" dirty="0">
                <a:solidFill>
                  <a:srgbClr val="0B1F33"/>
                </a:solidFill>
                <a:latin typeface="Calibri" pitchFamily="34" charset="0"/>
                <a:ea typeface="Calibri" pitchFamily="34" charset="-122"/>
                <a:cs typeface="Calibri" pitchFamily="34" charset="-120"/>
              </a:rPr>
              <a:t>Walkthrough video</a:t>
            </a:r>
            <a:endParaRPr lang="en-US" sz="1800" dirty="0"/>
          </a:p>
        </p:txBody>
      </p:sp>
      <p:sp>
        <p:nvSpPr>
          <p:cNvPr id="15" name="Text 11"/>
          <p:cNvSpPr txBox="1"/>
          <p:nvPr/>
        </p:nvSpPr>
        <p:spPr>
          <a:xfrm>
            <a:off x="4572000" y="2697480"/>
            <a:ext cx="3044952" cy="329184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1F2937"/>
                </a:solidFill>
                <a:latin typeface="Calibri" pitchFamily="34" charset="0"/>
                <a:ea typeface="Calibri" pitchFamily="34" charset="-122"/>
                <a:cs typeface="Calibri" pitchFamily="34" charset="-120"/>
              </a:rPr>
              <a:t>Business problem (20 sec)</a:t>
            </a:r>
            <a:endParaRPr lang="en-US" sz="1400" dirty="0"/>
          </a:p>
          <a:p>
            <a:pPr marL="342900" indent="-342900">
              <a:spcAft>
                <a:spcPts val="1000"/>
              </a:spcAft>
              <a:buSzPct val="100000"/>
              <a:buChar char="•"/>
            </a:pPr>
            <a:r>
              <a:rPr lang="en-US" sz="1400" dirty="0">
                <a:solidFill>
                  <a:srgbClr val="1F2937"/>
                </a:solidFill>
                <a:latin typeface="Calibri" pitchFamily="34" charset="0"/>
                <a:ea typeface="Calibri" pitchFamily="34" charset="-122"/>
                <a:cs typeface="Calibri" pitchFamily="34" charset="-120"/>
              </a:rPr>
              <a:t>Dashboard overview and layout (30 sec)</a:t>
            </a:r>
            <a:endParaRPr lang="en-US" sz="1400" dirty="0"/>
          </a:p>
          <a:p>
            <a:pPr marL="342900" indent="-342900">
              <a:spcAft>
                <a:spcPts val="1000"/>
              </a:spcAft>
              <a:buSzPct val="100000"/>
              <a:buChar char="•"/>
            </a:pPr>
            <a:r>
              <a:rPr lang="en-US" sz="1400" dirty="0">
                <a:solidFill>
                  <a:srgbClr val="1F2937"/>
                </a:solidFill>
                <a:latin typeface="Calibri" pitchFamily="34" charset="0"/>
                <a:ea typeface="Calibri" pitchFamily="34" charset="-122"/>
                <a:cs typeface="Calibri" pitchFamily="34" charset="-120"/>
              </a:rPr>
              <a:t>KPIs and key insights (60 sec)</a:t>
            </a:r>
            <a:endParaRPr lang="en-US" sz="1400" dirty="0"/>
          </a:p>
          <a:p>
            <a:pPr marL="342900" indent="-342900">
              <a:spcAft>
                <a:spcPts val="1000"/>
              </a:spcAft>
              <a:buSzPct val="100000"/>
              <a:buChar char="•"/>
            </a:pPr>
            <a:r>
              <a:rPr lang="en-US" sz="1400" dirty="0">
                <a:solidFill>
                  <a:srgbClr val="1F2937"/>
                </a:solidFill>
                <a:latin typeface="Calibri" pitchFamily="34" charset="0"/>
                <a:ea typeface="Calibri" pitchFamily="34" charset="-122"/>
                <a:cs typeface="Calibri" pitchFamily="34" charset="-120"/>
              </a:rPr>
              <a:t>Recommendations and impact (30 sec)</a:t>
            </a:r>
            <a:endParaRPr lang="en-US" sz="1400" dirty="0"/>
          </a:p>
          <a:p>
            <a:pPr marL="342900" indent="-342900">
              <a:spcAft>
                <a:spcPts val="1000"/>
              </a:spcAft>
              <a:buSzPct val="100000"/>
              <a:buChar char="•"/>
            </a:pPr>
            <a:r>
              <a:rPr lang="en-US" sz="1400" dirty="0">
                <a:solidFill>
                  <a:srgbClr val="1F2937"/>
                </a:solidFill>
                <a:latin typeface="Calibri" pitchFamily="34" charset="0"/>
                <a:ea typeface="Calibri" pitchFamily="34" charset="-122"/>
                <a:cs typeface="Calibri" pitchFamily="34" charset="-120"/>
              </a:rPr>
              <a:t>Post the video on LinkedIn</a:t>
            </a:r>
            <a:endParaRPr lang="en-US" sz="1400" dirty="0"/>
          </a:p>
        </p:txBody>
      </p:sp>
      <p:sp>
        <p:nvSpPr>
          <p:cNvPr id="16" name="Shape 12"/>
          <p:cNvSpPr/>
          <p:nvPr/>
        </p:nvSpPr>
        <p:spPr>
          <a:xfrm>
            <a:off x="8046720" y="1371600"/>
            <a:ext cx="3593592" cy="4846320"/>
          </a:xfrm>
          <a:prstGeom prst="roundRect">
            <a:avLst>
              <a:gd name="adj" fmla="val 2036"/>
            </a:avLst>
          </a:prstGeom>
          <a:solidFill>
            <a:srgbClr val="FFFFFF"/>
          </a:solidFill>
          <a:ln w="9525">
            <a:solidFill>
              <a:srgbClr val="D9E1E8"/>
            </a:solidFill>
            <a:prstDash val="solid"/>
          </a:ln>
          <a:effectLst>
            <a:outerShdw sx="100000" sy="100000" kx="0" ky="0" algn="bl" rotWithShape="0" blurRad="101600" dist="25400" dir="5400000">
              <a:srgbClr val="000000">
                <a:alpha val="10000"/>
              </a:srgbClr>
            </a:outerShdw>
          </a:effectLst>
        </p:spPr>
      </p:sp>
      <p:sp>
        <p:nvSpPr>
          <p:cNvPr id="17" name="Shape 13"/>
          <p:cNvSpPr/>
          <p:nvPr/>
        </p:nvSpPr>
        <p:spPr>
          <a:xfrm>
            <a:off x="8321040" y="1645920"/>
            <a:ext cx="685800" cy="685800"/>
          </a:xfrm>
          <a:prstGeom prst="ellipse">
            <a:avLst/>
          </a:prstGeom>
          <a:solidFill>
            <a:srgbClr val="0E7C86"/>
          </a:solidFill>
          <a:ln w="6350">
            <a:solidFill>
              <a:srgbClr val="0E7C86"/>
            </a:solidFill>
            <a:prstDash val="solid"/>
          </a:ln>
        </p:spPr>
      </p:sp>
      <p:pic>
        <p:nvPicPr>
          <p:cNvPr id="18" name="Image 2" descr="preencoded.png">    </p:cNvPr>
          <p:cNvPicPr>
            <a:picLocks noChangeAspect="1"/>
          </p:cNvPicPr>
          <p:nvPr/>
        </p:nvPicPr>
        <p:blipFill>
          <a:blip r:embed="rId3"/>
          <a:stretch>
            <a:fillRect/>
          </a:stretch>
        </p:blipFill>
        <p:spPr>
          <a:xfrm>
            <a:off x="8499348" y="1824228"/>
            <a:ext cx="329184" cy="329184"/>
          </a:xfrm>
          <a:prstGeom prst="rect">
            <a:avLst/>
          </a:prstGeom>
        </p:spPr>
      </p:pic>
      <p:sp>
        <p:nvSpPr>
          <p:cNvPr id="19" name="Text 14"/>
          <p:cNvSpPr txBox="1"/>
          <p:nvPr/>
        </p:nvSpPr>
        <p:spPr>
          <a:xfrm>
            <a:off x="9144000" y="1645920"/>
            <a:ext cx="2313432" cy="685800"/>
          </a:xfrm>
          <a:prstGeom prst="rect">
            <a:avLst/>
          </a:prstGeom>
          <a:noFill/>
          <a:ln/>
        </p:spPr>
        <p:txBody>
          <a:bodyPr wrap="square" lIns="0" tIns="0" rIns="0" bIns="0" rtlCol="0" anchor="ctr"/>
          <a:lstStyle/>
          <a:p>
            <a:pPr indent="0" marL="0">
              <a:buNone/>
            </a:pPr>
            <a:r>
              <a:rPr lang="en-US" sz="1800" b="1" dirty="0">
                <a:solidFill>
                  <a:srgbClr val="0B1F33"/>
                </a:solidFill>
                <a:latin typeface="Calibri" pitchFamily="34" charset="0"/>
                <a:ea typeface="Calibri" pitchFamily="34" charset="-122"/>
                <a:cs typeface="Calibri" pitchFamily="34" charset="-120"/>
              </a:rPr>
              <a:t>LinkedIn project post</a:t>
            </a:r>
            <a:endParaRPr lang="en-US" sz="1800" dirty="0"/>
          </a:p>
        </p:txBody>
      </p:sp>
      <p:sp>
        <p:nvSpPr>
          <p:cNvPr id="20" name="Text 15"/>
          <p:cNvSpPr txBox="1"/>
          <p:nvPr/>
        </p:nvSpPr>
        <p:spPr>
          <a:xfrm>
            <a:off x="8321040" y="2697480"/>
            <a:ext cx="3044952" cy="329184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1F2937"/>
                </a:solidFill>
                <a:latin typeface="Calibri" pitchFamily="34" charset="0"/>
                <a:ea typeface="Calibri" pitchFamily="34" charset="-122"/>
                <a:cs typeface="Calibri" pitchFamily="34" charset="-120"/>
              </a:rPr>
              <a:t>One-line business problem</a:t>
            </a:r>
            <a:endParaRPr lang="en-US" sz="1400" dirty="0"/>
          </a:p>
          <a:p>
            <a:pPr marL="342900" indent="-342900">
              <a:spcAft>
                <a:spcPts val="1000"/>
              </a:spcAft>
              <a:buSzPct val="100000"/>
              <a:buChar char="•"/>
            </a:pPr>
            <a:r>
              <a:rPr lang="en-US" sz="1400" dirty="0">
                <a:solidFill>
                  <a:srgbClr val="1F2937"/>
                </a:solidFill>
                <a:latin typeface="Calibri" pitchFamily="34" charset="0"/>
                <a:ea typeface="Calibri" pitchFamily="34" charset="-122"/>
                <a:cs typeface="Calibri" pitchFamily="34" charset="-120"/>
              </a:rPr>
              <a:t>2–3 headline insights with numbers</a:t>
            </a:r>
            <a:endParaRPr lang="en-US" sz="1400" dirty="0"/>
          </a:p>
          <a:p>
            <a:pPr marL="342900" indent="-342900">
              <a:spcAft>
                <a:spcPts val="1000"/>
              </a:spcAft>
              <a:buSzPct val="100000"/>
              <a:buChar char="•"/>
            </a:pPr>
            <a:r>
              <a:rPr lang="en-US" sz="1400" dirty="0">
                <a:solidFill>
                  <a:srgbClr val="1F2937"/>
                </a:solidFill>
                <a:latin typeface="Calibri" pitchFamily="34" charset="0"/>
                <a:ea typeface="Calibri" pitchFamily="34" charset="-122"/>
                <a:cs typeface="Calibri" pitchFamily="34" charset="-120"/>
              </a:rPr>
              <a:t>Dashboard screenshot or video</a:t>
            </a:r>
            <a:endParaRPr lang="en-US" sz="1400" dirty="0"/>
          </a:p>
          <a:p>
            <a:pPr marL="342900" indent="-342900">
              <a:spcAft>
                <a:spcPts val="1000"/>
              </a:spcAft>
              <a:buSzPct val="100000"/>
              <a:buChar char="•"/>
            </a:pPr>
            <a:r>
              <a:rPr lang="en-US" sz="1400" dirty="0">
                <a:solidFill>
                  <a:srgbClr val="1F2937"/>
                </a:solidFill>
                <a:latin typeface="Calibri" pitchFamily="34" charset="0"/>
                <a:ea typeface="Calibri" pitchFamily="34" charset="-122"/>
                <a:cs typeface="Calibri" pitchFamily="34" charset="-120"/>
              </a:rPr>
              <a:t>Tools used and GitHub link</a:t>
            </a:r>
            <a:endParaRPr lang="en-US" sz="1400" dirty="0"/>
          </a:p>
          <a:p>
            <a:pPr marL="342900" indent="-342900">
              <a:spcAft>
                <a:spcPts val="1000"/>
              </a:spcAft>
              <a:buSzPct val="100000"/>
              <a:buChar char="•"/>
            </a:pPr>
            <a:r>
              <a:rPr lang="en-US" sz="1400" dirty="0">
                <a:solidFill>
                  <a:srgbClr val="1F2937"/>
                </a:solidFill>
                <a:latin typeface="Calibri" pitchFamily="34" charset="0"/>
                <a:ea typeface="Calibri" pitchFamily="34" charset="-122"/>
                <a:cs typeface="Calibri" pitchFamily="34" charset="-120"/>
              </a:rPr>
              <a:t>Submit through the official form</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F33"/>
        </a:solidFill>
      </p:bgPr>
    </p:bg>
    <p:spTree>
      <p:nvGrpSpPr>
        <p:cNvPr id="1" name=""/>
        <p:cNvGrpSpPr/>
        <p:nvPr/>
      </p:nvGrpSpPr>
      <p:grpSpPr>
        <a:xfrm>
          <a:off x="0" y="0"/>
          <a:ext cx="0" cy="0"/>
          <a:chOff x="0" y="0"/>
          <a:chExt cx="0" cy="0"/>
        </a:xfrm>
      </p:grpSpPr>
      <p:sp>
        <p:nvSpPr>
          <p:cNvPr id="2" name="Text 0"/>
          <p:cNvSpPr txBox="1"/>
          <p:nvPr/>
        </p:nvSpPr>
        <p:spPr>
          <a:xfrm>
            <a:off x="731520" y="2194560"/>
            <a:ext cx="10058400" cy="1097280"/>
          </a:xfrm>
          <a:prstGeom prst="rect">
            <a:avLst/>
          </a:prstGeom>
          <a:noFill/>
          <a:ln/>
        </p:spPr>
        <p:txBody>
          <a:bodyPr wrap="square" lIns="0" tIns="0" rIns="0" bIns="0" rtlCol="0" anchor="t"/>
          <a:lstStyle/>
          <a:p>
            <a:pPr indent="0" marL="0">
              <a:buNone/>
            </a:pPr>
            <a:r>
              <a:rPr lang="en-US" sz="6000" b="1" dirty="0">
                <a:solidFill>
                  <a:srgbClr val="FFFFFF"/>
                </a:solidFill>
                <a:latin typeface="Cambria" pitchFamily="34" charset="0"/>
                <a:ea typeface="Cambria" pitchFamily="34" charset="-122"/>
                <a:cs typeface="Cambria" pitchFamily="34" charset="-120"/>
              </a:rPr>
              <a:t>Thank you</a:t>
            </a:r>
            <a:endParaRPr lang="en-US" sz="6000" dirty="0"/>
          </a:p>
        </p:txBody>
      </p:sp>
      <p:sp>
        <p:nvSpPr>
          <p:cNvPr id="3" name="Text 1"/>
          <p:cNvSpPr txBox="1"/>
          <p:nvPr/>
        </p:nvSpPr>
        <p:spPr>
          <a:xfrm>
            <a:off x="731520" y="3383280"/>
            <a:ext cx="7315200" cy="457200"/>
          </a:xfrm>
          <a:prstGeom prst="rect">
            <a:avLst/>
          </a:prstGeom>
          <a:noFill/>
          <a:ln/>
        </p:spPr>
        <p:txBody>
          <a:bodyPr wrap="square" lIns="0" tIns="0" rIns="0" bIns="0" rtlCol="0" anchor="t"/>
          <a:lstStyle/>
          <a:p>
            <a:pPr indent="0" marL="0">
              <a:buNone/>
            </a:pPr>
            <a:r>
              <a:rPr lang="en-US" sz="2200" dirty="0">
                <a:solidFill>
                  <a:srgbClr val="F59E0B"/>
                </a:solidFill>
                <a:latin typeface="Calibri" pitchFamily="34" charset="0"/>
                <a:ea typeface="Calibri" pitchFamily="34" charset="-122"/>
                <a:cs typeface="Calibri" pitchFamily="34" charset="-120"/>
              </a:rPr>
              <a:t>Questions and discussion</a:t>
            </a:r>
            <a:endParaRPr lang="en-US" sz="2200" dirty="0"/>
          </a:p>
        </p:txBody>
      </p:sp>
      <p:sp>
        <p:nvSpPr>
          <p:cNvPr id="4" name="Text 2"/>
          <p:cNvSpPr txBox="1"/>
          <p:nvPr/>
        </p:nvSpPr>
        <p:spPr>
          <a:xfrm>
            <a:off x="731520" y="5852160"/>
            <a:ext cx="10058400" cy="365760"/>
          </a:xfrm>
          <a:prstGeom prst="rect">
            <a:avLst/>
          </a:prstGeom>
          <a:noFill/>
          <a:ln/>
        </p:spPr>
        <p:txBody>
          <a:bodyPr wrap="square" lIns="0" tIns="0" rIns="0" bIns="0" rtlCol="0" anchor="t"/>
          <a:lstStyle/>
          <a:p>
            <a:pPr indent="0" marL="0">
              <a:buNone/>
            </a:pPr>
            <a:r>
              <a:rPr lang="en-US" sz="1400" dirty="0">
                <a:solidFill>
                  <a:srgbClr val="9FB3C8"/>
                </a:solidFill>
                <a:latin typeface="Calibri" pitchFamily="34" charset="0"/>
                <a:ea typeface="Calibri" pitchFamily="34" charset="-122"/>
                <a:cs typeface="Calibri" pitchFamily="34" charset="-120"/>
              </a:rPr>
              <a:t>Executive Business Intelligence Dashboard  |  Data Analytics Internship Project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Executive Business Intelligence Dashboard</dc:title>
  <dc:subject>PptxGenJS Presentation</dc:subject>
  <dc:creator>Data Analytics Intern</dc:creator>
  <cp:lastModifiedBy>Data Analytics Intern</cp:lastModifiedBy>
  <cp:revision>1</cp:revision>
  <dcterms:created xsi:type="dcterms:W3CDTF">2026-09-19T08:19:14Z</dcterms:created>
  <dcterms:modified xsi:type="dcterms:W3CDTF">2026-09-19T08:19:14Z</dcterms:modified>
</cp:coreProperties>
</file>